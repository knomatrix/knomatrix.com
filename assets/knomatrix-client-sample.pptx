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234ea444847c1" /><Relationship Type="http://schemas.openxmlformats.org/officeDocument/2006/relationships/extended-properties" Target="/docProps/app.xml" Id="R0f485065d6d344db" /><Relationship Type="http://schemas.openxmlformats.org/officeDocument/2006/relationships/officeDocument" Target="/ppt/presentation.xml" Id="R75aa1631dcbc41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a8ab549584cfb"/>
  </p:sldMasterIdLst>
  <p:notesMasterIdLst>
    <p:notesMasterId xmlns:r="http://schemas.openxmlformats.org/officeDocument/2006/relationships" r:id="R62a370cbc8774990"/>
  </p:notesMasterIdLst>
  <p:sldIdLst>
    <p:sldId xmlns:r="http://schemas.openxmlformats.org/officeDocument/2006/relationships" id="256" r:id="R0db0601160e84142"/>
    <p:sldId xmlns:r="http://schemas.openxmlformats.org/officeDocument/2006/relationships" id="257" r:id="R88ed8a17cfba404e"/>
    <p:sldId xmlns:r="http://schemas.openxmlformats.org/officeDocument/2006/relationships" id="258" r:id="R6fc1533bf0bc40e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05af6da2b64d54" /><Relationship Type="http://schemas.openxmlformats.org/officeDocument/2006/relationships/slideMaster" Target="/ppt/slideMasters/slideMaster1.xml" Id="Rf7ba8ab549584cfb" /><Relationship Type="http://schemas.openxmlformats.org/officeDocument/2006/relationships/notesMaster" Target="/ppt/notesMasters/notesMaster1.xml" Id="R62a370cbc8774990" /><Relationship Type="http://schemas.openxmlformats.org/officeDocument/2006/relationships/presProps" Target="/ppt/presProps.xml" Id="R3914176458dc4fa7" /><Relationship Type="http://schemas.openxmlformats.org/officeDocument/2006/relationships/tableStyles" Target="/ppt/tableStyles.xml" Id="Rd7bf1f66ebb54d4c" /><Relationship Type="http://schemas.openxmlformats.org/officeDocument/2006/relationships/slide" Target="/ppt/slides/slide1.xml" Id="R0db0601160e84142" /><Relationship Type="http://schemas.openxmlformats.org/officeDocument/2006/relationships/slide" Target="/ppt/slides/slide2.xml" Id="R88ed8a17cfba404e" /><Relationship Type="http://schemas.openxmlformats.org/officeDocument/2006/relationships/slide" Target="/ppt/slides/slide3.xml" Id="R6fc1533bf0bc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9125a227d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7dbffbfc6d479c" /><Relationship Type="http://schemas.openxmlformats.org/officeDocument/2006/relationships/notesMaster" Target="/ppt/notesMasters/notesMaster1.xml" Id="R192b82865be3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63f7773e444dac" /><Relationship Type="http://schemas.openxmlformats.org/officeDocument/2006/relationships/notesMaster" Target="/ppt/notesMasters/notesMaster1.xml" Id="R1c7f256eba06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3ebf2f8f6497f" /><Relationship Type="http://schemas.openxmlformats.org/officeDocument/2006/relationships/notesMaster" Target="/ppt/notesMasters/notesMaster1.xml" Id="R59c3cef7ec3749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KnoMatrix client demonstration. All numerical operator and competitor examples are synthetic, not client results or actual provider extracts. Source design and analytical scope: user-supplied gaming sample, digital strength PDF, four reference slides, pasted conversation and brag.mp4.   Method references where relevant: https://developers.google.com/meridian/docs/basics/meridian-introduction and https://web.dev/articles/vitals. Scope includes consulting analyses beyond the features visibly demonstrated in the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KnoMatrix client demonstration. All numerical operator and competitor examples are synthetic, not client results or actual provider extracts. Source design and analytical scope: user-supplied gaming sample, digital strength PDF, four reference slides, pasted conversation and brag.mp4.   Method references where relevant: https://developers.google.com/meridian/docs/basics/meridian-introduction and https://web.dev/articles/vitals. Scope includes consulting analyses beyond the features visibly demonstrated in the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KnoMatrix client demonstration. All numerical operator and competitor examples are synthetic, not client results or actual provider extracts. Source design and analytical scope: user-supplied gaming sample, digital strength PDF, four reference slides, pasted conversation and brag.mp4.   Method references where relevant: https://developers.google.com/meridian/docs/basics/meridian-introduction and https://web.dev/articles/vitals. Scope includes consulting analyses beyond the features visibly demonstrated in the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261771e7449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db3b2488749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a03498d3445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cf4281d0b4d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0ddbcc51c42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2bc72848c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A871E4-8D87-418C-BEEB-6DF6F75280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AE6FF-F0F0-4A20-8110-DCE713F383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0D8489-1870-49B3-AE0F-AD67523580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141D96-8DC0-4AB4-85EA-5F01317DC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7D4A08-57B2-4C84-8ABC-EE4B786257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8F73AE-A39E-4E5A-9789-FC6999577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79CA5B-D473-4E52-883F-3EFD315F2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7D5229-74FF-43F1-B2CA-084DFFA975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AA5099-766F-48F9-8230-CB4D84480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A59859-FD43-4846-B6F5-BB1FE46A3A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a2fa1307a4f88" /><Relationship Type="http://schemas.openxmlformats.org/officeDocument/2006/relationships/slideLayout" Target="/ppt/slideLayouts/slideLayout1.xml" Id="Rbef02506bed14fb9" /><Relationship Type="http://schemas.openxmlformats.org/officeDocument/2006/relationships/slideLayout" Target="/ppt/slideLayouts/slideLayout2.xml" Id="R95de8d1c03b245e3" /><Relationship Type="http://schemas.openxmlformats.org/officeDocument/2006/relationships/slideLayout" Target="/ppt/slideLayouts/slideLayout3.xml" Id="Rbe9b541497114714" /><Relationship Type="http://schemas.openxmlformats.org/officeDocument/2006/relationships/slideLayout" Target="/ppt/slideLayouts/slideLayout4.xml" Id="R4fd53347ffd345ca" /><Relationship Type="http://schemas.openxmlformats.org/officeDocument/2006/relationships/slideLayout" Target="/ppt/slideLayouts/slideLayout5.xml" Id="R2eb1d53458d44490" /><Relationship Type="http://schemas.openxmlformats.org/officeDocument/2006/relationships/slideLayout" Target="/ppt/slideLayouts/slideLayout6.xml" Id="R4762c534178c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02506bed14fb9"/>
    <p:sldLayoutId xmlns:r="http://schemas.openxmlformats.org/officeDocument/2006/relationships" id="2147483650" r:id="R95de8d1c03b245e3"/>
    <p:sldLayoutId xmlns:r="http://schemas.openxmlformats.org/officeDocument/2006/relationships" id="2147483651" r:id="Rbe9b541497114714"/>
    <p:sldLayoutId xmlns:r="http://schemas.openxmlformats.org/officeDocument/2006/relationships" id="2147483652" r:id="R4fd53347ffd345ca"/>
    <p:sldLayoutId xmlns:r="http://schemas.openxmlformats.org/officeDocument/2006/relationships" id="2147483653" r:id="R2eb1d53458d44490"/>
    <p:sldLayoutId xmlns:r="http://schemas.openxmlformats.org/officeDocument/2006/relationships" id="2147483654" r:id="R4762c534178c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44d5bbb604436" /><Relationship Type="http://schemas.openxmlformats.org/officeDocument/2006/relationships/chart" Target="/ppt/slides/charts/chart1.xml" Id="R56134caed0b14eca" /><Relationship Type="http://schemas.openxmlformats.org/officeDocument/2006/relationships/notesSlide" Target="/ppt/notesSlides/notesSlide1.xml" Id="R6b4a4c3819a6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c6e1fc1c9493d" /><Relationship Type="http://schemas.openxmlformats.org/officeDocument/2006/relationships/chart" Target="/ppt/slides/charts/chart2.xml" Id="R2265fb9ff5124d95" /><Relationship Type="http://schemas.openxmlformats.org/officeDocument/2006/relationships/notesSlide" Target="/ppt/notesSlides/notesSlide2.xml" Id="R87e513f81e75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8f60689394987" /><Relationship Type="http://schemas.openxmlformats.org/officeDocument/2006/relationships/notesSlide" Target="/ppt/notesSlides/notesSlide3.xml" Id="Redf150a9461e4a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4283A"/>
                </a:solidFill>
                <a:latin typeface="Aptos"/>
                <a:ea typeface="Aptos"/>
                <a:cs typeface="Aptos"/>
              </a:rPr>
              <a:t>Illustrative average and marginal NGR return per $1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4283A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Average ROAS</c:v>
          </c:tx>
          <c:spPr>
            <a:solidFill xmlns:a="http://schemas.openxmlformats.org/drawingml/2006/main">
              <a:srgbClr val="008B68"/>
            </a:solidFill>
            <a:ln xmlns:a="http://schemas.openxmlformats.org/drawingml/2006/main" w="0">
              <a:solidFill>
                <a:srgbClr val="008B68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Search</c:v>
                </c:pt>
                <c:pt idx="1">
                  <c:v>Paid social</c:v>
                </c:pt>
                <c:pt idx="2">
                  <c:v>Video</c:v>
                </c:pt>
                <c:pt idx="3">
                  <c:v>Regional</c:v>
                </c:pt>
                <c:pt idx="4">
                  <c:v>Creators</c:v>
                </c:pt>
                <c:pt idx="5">
                  <c:v>Affiliates</c:v>
                </c:pt>
              </c:strCache>
            </c:strRef>
          </c:cat>
          <c:val>
            <c:numRef>
              <c:f>'Chart Data'!$B$2:$B$7</c:f>
              <c:numCache>
                <c:formatCode>0.0"×"</c:formatCode>
                <c:ptCount val="6"/>
                <c:pt idx="0">
                  <c:v>2.6</c:v>
                </c:pt>
                <c:pt idx="1">
                  <c:v>1.2</c:v>
                </c:pt>
                <c:pt idx="2">
                  <c:v>2</c:v>
                </c:pt>
                <c:pt idx="3">
                  <c:v>2.4</c:v>
                </c:pt>
                <c:pt idx="4">
                  <c:v>2.4</c:v>
                </c:pt>
                <c:pt idx="5">
                  <c:v>1.2</c:v>
                </c:pt>
              </c:numCache>
            </c:numRef>
          </c:val>
        </c:ser>
        <c:ser>
          <c:idx val="1"/>
          <c:order val="1"/>
          <c:tx>
            <c:v>Marginal ROAS</c:v>
          </c:tx>
          <c:spPr>
            <a:solidFill xmlns:a="http://schemas.openxmlformats.org/drawingml/2006/main">
              <a:srgbClr val="5B7FAB"/>
            </a:solidFill>
            <a:ln xmlns:a="http://schemas.openxmlformats.org/drawingml/2006/main" w="0">
              <a:solidFill>
                <a:srgbClr val="5B7FAB"/>
              </a:solidFill>
            </a:ln>
          </c:spPr>
          <c:invertIfNegative val="0"/>
          <c:cat>
            <c:strRef>
              <c:f>'Chart Data'!$C$2:$C$7</c:f>
              <c:strCache>
                <c:ptCount val="6"/>
                <c:pt idx="0">
                  <c:v>Search</c:v>
                </c:pt>
                <c:pt idx="1">
                  <c:v>Paid social</c:v>
                </c:pt>
                <c:pt idx="2">
                  <c:v>Video</c:v>
                </c:pt>
                <c:pt idx="3">
                  <c:v>Regional</c:v>
                </c:pt>
                <c:pt idx="4">
                  <c:v>Creators</c:v>
                </c:pt>
                <c:pt idx="5">
                  <c:v>Affiliates</c:v>
                </c:pt>
              </c:strCache>
            </c:strRef>
          </c:cat>
          <c:val>
            <c:numRef>
              <c:f>'Chart Data'!$D$2:$D$7</c:f>
              <c:numCache>
                <c:formatCode>0.0"×"</c:formatCode>
                <c:ptCount val="6"/>
                <c:pt idx="0">
                  <c:v>1.8</c:v>
                </c:pt>
                <c:pt idx="1">
                  <c:v>0.7</c:v>
                </c:pt>
                <c:pt idx="2">
                  <c:v>1.5</c:v>
                </c:pt>
                <c:pt idx="3">
                  <c:v>1.9</c:v>
                </c:pt>
                <c:pt idx="4">
                  <c:v>1.7</c:v>
                </c:pt>
                <c:pt idx="5">
                  <c:v>0.4</c:v>
                </c:pt>
              </c:numCache>
            </c:numRef>
          </c:val>
        </c:ser>
        <c:dLbls>
          <c:numFmt formatCode="0.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4283A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BE4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BE4E8"/>
              </a:solidFill>
            </a:ln>
          </c:spPr>
        </c:majorGridlines>
        <c:numFmt formatCode="0.0&quot;×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3A"/>
              </a:solidFill>
              <a:latin typeface="Aptos"/>
              <a:ea typeface="Aptos"/>
              <a:cs typeface="Aptos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4283A"/>
                </a:solidFill>
                <a:latin typeface="Aptos"/>
                <a:ea typeface="Aptos"/>
                <a:cs typeface="Aptos"/>
              </a:rPr>
              <a:t>Illustrative non-brand share of paid traffic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4283A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Non-brand share</c:v>
          </c:tx>
          <c:spPr>
            <a:solidFill xmlns:a="http://schemas.openxmlformats.org/drawingml/2006/main">
              <a:srgbClr val="008B68"/>
            </a:solidFill>
            <a:ln xmlns:a="http://schemas.openxmlformats.org/drawingml/2006/main" w="0">
              <a:solidFill>
                <a:srgbClr val="008B68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Nova</c:v>
                </c:pt>
                <c:pt idx="1">
                  <c:v>Peer A</c:v>
                </c:pt>
                <c:pt idx="2">
                  <c:v>Peer B</c:v>
                </c:pt>
                <c:pt idx="3">
                  <c:v>Peer C</c:v>
                </c:pt>
                <c:pt idx="4">
                  <c:v>Peer D</c:v>
                </c:pt>
              </c:strCache>
            </c:strRef>
          </c:cat>
          <c:val>
            <c:numRef>
              <c:f>'Chart Data'!$B$2:$B$6</c:f>
              <c:numCache>
                <c:formatCode>0"%"</c:formatCode>
                <c:ptCount val="5"/>
                <c:pt idx="0">
                  <c:v>28</c:v>
                </c:pt>
                <c:pt idx="1">
                  <c:v>52</c:v>
                </c:pt>
                <c:pt idx="2">
                  <c:v>45</c:v>
                </c:pt>
                <c:pt idx="3">
                  <c:v>60</c:v>
                </c:pt>
                <c:pt idx="4">
                  <c:v>40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4283A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BE4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BE4E8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5EBD9-AC02-4CF4-9701-C6D03701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81C0-8F60-4D6C-B9D9-338CF5BD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D8B0"/>
                </a:solidFill>
                <a:latin typeface="Aptos"/>
                <a:ea typeface="Aptos"/>
                <a:cs typeface="Aptos"/>
              </a:rPr>
              <a:t>KnoMatrix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C403D-D55E-42CD-8357-05C88CB2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"/>
            <a:ext cx="1123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5C6D7"/>
                </a:solidFill>
                <a:latin typeface="Aptos"/>
                <a:ea typeface="Aptos"/>
                <a:cs typeface="Aptos"/>
              </a:rPr>
              <a:t>CLIENT SAMPLE 01 / MARKETING EFFECTIVENESS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1CE78-65F5-4FCF-A8C9-B2D04319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$4m media plan should be judged by the value of its next dollar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932DF-F186-4EE0-A76B-9C6B759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343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EADF9-9CD8-40CE-A72B-61E5EEE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248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ILLUSTRATIVE SAMPLE • FICTIONAL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9FB92-55C2-44C3-84A6-AC32C49D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9248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Gaming &amp; iGaming  |  USD  |  Not client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88F72-C60D-422E-98E4-3621D6E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79248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4AD446D-3636-47F5-AAA6-6B0D674660FF}"/>
              </a:ext>
            </a:extLst>
          </p:cNvPr>
          <p:cNvGraphicFramePr/>
          <p:nvPr/>
        </p:nvGraphicFramePr>
        <p:xfrm>
          <a:off xmlns:a="http://schemas.openxmlformats.org/drawingml/2006/main" x="476250" y="2133600"/>
          <a:ext xmlns:a="http://schemas.openxmlformats.org/drawingml/2006/main" cx="1057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134caed0b14ec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13010-C8E6-47C4-B66C-2299B199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62700"/>
            <a:ext cx="1057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04CC0-E9D8-47F0-A88B-B4AB4BB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055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$20.00m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4AFF6-723A-41CC-B316-619CC5B0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7230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quarterly NGR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0F236-0CC4-4626-A496-0922ED81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055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$8.12m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3CB28-9F17-418D-A51C-D670988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72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model-attributed media NGR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ACC44-CAF0-413C-AEF0-29F87720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055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40.6%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C223D-AACC-41B7-9863-0A852DBE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9723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media share of NGR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3EC03-A475-4B64-AF7B-203FDB27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19300"/>
            <a:ext cx="32385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7932E-9A90-4C7B-B164-59C8E6E9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383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DECISION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324D4-D59B-4B39-9C9A-3DA5629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76225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Search and regional media have stronger local marginal returns than social and affiliates in this fictional case.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141B0-9CDC-4920-9A90-41D03F6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714875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KnoMatrix combines channel contribution, saturation and business drivers to turn measurement into a budget decision.</a:t>
            </a:r>
          </a:p>
        </p:txBody>
      </p:sp>
    </p:spTree>
    <p:extLst>
      <p:ext uri="{BB962C8B-B14F-4D97-AF65-F5344CB8AC3E}">
        <p14:creationId xmlns:p14="http://schemas.microsoft.com/office/powerpoint/2010/main" val="262935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B7E3E-04B2-4675-9A06-6E37750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F9E13-2FA1-4C33-A13F-D18A22E8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D8B0"/>
                </a:solidFill>
                <a:latin typeface="Aptos"/>
                <a:ea typeface="Aptos"/>
                <a:cs typeface="Aptos"/>
              </a:rPr>
              <a:t>KnoMatrix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5D641-14C9-44C0-B2D7-E460E6C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"/>
            <a:ext cx="1123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5C6D7"/>
                </a:solidFill>
                <a:latin typeface="Aptos"/>
                <a:ea typeface="Aptos"/>
                <a:cs typeface="Aptos"/>
              </a:rPr>
              <a:t>CLIENT SAMPLE 02 / COMPETITIVE GROWTH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7E2CA-1C9C-4D06-8535-7474472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 reach and mobile conversion reveal where to investigate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71B19-C8B6-4A43-9CDD-5B2365ED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343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CEBA5-D5BE-4213-9865-2B3C363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248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ILLUSTRATIVE SAMPLE • FICTIONAL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26EC-805C-413A-8B57-4F2ED01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9248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Gaming &amp; iGaming  |  USD  |  Not client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1B928-7E78-49AB-88FC-6A63287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79248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F843AFC-0D90-4585-9611-D4726D382E75}"/>
              </a:ext>
            </a:extLst>
          </p:cNvPr>
          <p:cNvGraphicFramePr/>
          <p:nvPr/>
        </p:nvGraphicFramePr>
        <p:xfrm>
          <a:off xmlns:a="http://schemas.openxmlformats.org/drawingml/2006/main" x="476250" y="2133600"/>
          <a:ext xmlns:a="http://schemas.openxmlformats.org/drawingml/2006/main" cx="10572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65fb9ff5124d95"/>
          </a:graphicData>
        </a:graphic>
      </p:graphicFrame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12EB3-3900-407E-9539-C7A2CB374AB0}"/>
              </a:ext>
            </a:extLst>
          </p:cNvPr>
          <p:cNvGraphicFramePr/>
          <p:nvPr/>
        </p:nvGraphicFramePr>
        <p:xfrm>
          <a:off xmlns:a="http://schemas.openxmlformats.org/drawingml/2006/main" x="476250" y="5238750"/>
          <a:ext xmlns:a="http://schemas.openxmlformats.org/drawingml/2006/main" cx="105727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714500"/>
                <a:gridCol w="1714500"/>
                <a:gridCol w="4000500"/>
              </a:tblGrid>
              <a:tr h="5119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Diagnostic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Nova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Peer A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Decision to test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Organic keywords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10,300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14,450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Close high-intent content gaps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Mobile LCP, p75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3.8s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2.2s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Test faster landing pages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Install → FTD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8.0%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Unknown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Use internal funnel data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1405E-5115-48BD-B757-92BB846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19300"/>
            <a:ext cx="32385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B178A-5758-4D5C-846F-7726548D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383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DECISION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D532B-08EC-4DA2-A337-63CF931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76225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Nova depends more on brand search and has a slower example mobile experience. These are testable gaps, not proof of lost revenue.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07554-5762-48A0-86CE-5389B98B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714875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Combine Semrush and Sensor Tower-style market context with first-party acquisition, conversion and customer-value data.</a:t>
            </a:r>
          </a:p>
        </p:txBody>
      </p:sp>
    </p:spTree>
    <p:extLst>
      <p:ext uri="{BB962C8B-B14F-4D97-AF65-F5344CB8AC3E}">
        <p14:creationId xmlns:p14="http://schemas.microsoft.com/office/powerpoint/2010/main" val="2136959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FFF9D-8EDB-4374-A1DB-8D4E05D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13016-D228-45EA-B61F-83E78318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3D8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D8B0"/>
                </a:solidFill>
                <a:latin typeface="Aptos"/>
                <a:ea typeface="Aptos"/>
                <a:cs typeface="Aptos"/>
              </a:rPr>
              <a:t>KnoMatrix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518D9-DCF3-4C4E-828A-1B91C190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"/>
            <a:ext cx="1123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5C6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5C6D7"/>
                </a:solidFill>
                <a:latin typeface="Aptos"/>
                <a:ea typeface="Aptos"/>
                <a:cs typeface="Aptos"/>
              </a:rPr>
              <a:t>CLIENT SAMPLE 03 / FUNDED ACTION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AC94F-32D8-4B31-A88B-0BEB762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Reallocate $0.50m, then test the economics before scaling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5BC5-DE08-4947-9CA3-D62FC618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34300"/>
            <a:ext cx="1428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4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5D228-2D64-4ADC-964F-8E59317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248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ILLUSTRATIVE SAMPLE • FICTIONAL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7FEA-EBBF-468D-8C26-B754011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9248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Gaming &amp; iGaming  |  USD  |  Not client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650E6-2833-443D-9C03-BCFF53C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79248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1812-2A7A-493C-A38A-4ED4B538F922}"/>
              </a:ext>
            </a:extLst>
          </p:cNvPr>
          <p:cNvGraphicFramePr/>
          <p:nvPr/>
        </p:nvGraphicFramePr>
        <p:xfrm>
          <a:off xmlns:a="http://schemas.openxmlformats.org/drawingml/2006/main" x="476250" y="213360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381250"/>
                <a:gridCol w="2381250"/>
                <a:gridCol w="2381250"/>
              </a:tblGrid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Channel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$m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Proposed $m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Change $m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T w="4763">
                      <a:solidFill>
                        <a:srgbClr val="DBE4E8"/>
                      </a:solidFill>
                      <a:prstDash val="solid"/>
                    </a:lnT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008B6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Search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1.20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1.50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0.30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Paid social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0.90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0.60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-0.30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Video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0.70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0.75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0.05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Regional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0.50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0.65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0.15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Creators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0.40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0.40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0.00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Affiliates</a:t>
                      </a:r>
                    </a:p>
                  </a:txBody>
                  <a:tcPr marL="95250" marR="76200" marT="9525" marB="9525">
                    <a:lnL w="4763">
                      <a:solidFill>
                        <a:srgbClr val="DBE4E8"/>
                      </a:solidFill>
                      <a:prstDash val="solid"/>
                    </a:lnL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0.30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0.10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83A"/>
                          </a:solidFill>
                          <a:latin typeface="Aptos"/>
                          <a:ea typeface="Aptos"/>
                          <a:cs typeface="Aptos"/>
                        </a:rPr>
                        <a:t>-0.20</a:t>
                      </a:r>
                    </a:p>
                  </a:txBody>
                  <a:tcPr marL="95250" marR="76200" marT="9525" marB="9525">
                    <a:lnR w="4763">
                      <a:solidFill>
                        <a:srgbClr val="DBE4E8"/>
                      </a:solidFill>
                      <a:prstDash val="solid"/>
                    </a:lnR>
                    <a:lnB w="4763">
                      <a:solidFill>
                        <a:srgbClr val="DBE4E8"/>
                      </a:solidFill>
                      <a:prstDash val="solid"/>
                    </a:lnB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6E8CC-8070-4031-8C79-133BF95C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43625"/>
            <a:ext cx="1057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F8801-A41F-4272-8390-CEC227D0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+$0.61m NGR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BAE9E-A99E-4FB2-9F5F-F95A607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05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+$0.40m 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C211A-A627-4A06-B578-33205B17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Local marginal scenario at the same $4m budget. Assumes 65% contribution margin; not a forecast guarantee.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A3B69-8724-4A67-85F6-4620B72E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19300"/>
            <a:ext cx="32385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71100-3CAA-4120-BE83-17CC0B1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383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B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B68"/>
                </a:solidFill>
                <a:latin typeface="Aptos"/>
                <a:ea typeface="Aptos"/>
                <a:cs typeface="Aptos"/>
              </a:rPr>
              <a:t>DECISION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2C763-921D-474F-AF90-0776868D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76225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Release the shift in stages. Validate the response with a controlled test, mature cohorts and finance reconciliation.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C7DBE-8565-47E7-9E2D-8ABF545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714875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8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83A"/>
                </a:solidFill>
                <a:latin typeface="Aptos"/>
                <a:ea typeface="Aptos"/>
                <a:cs typeface="Aptos"/>
              </a:rPr>
              <a:t>Start with one budget decision, weekly data and clear constraints. We provide the model review, market diagnostic and measurable action plan.</a:t>
            </a:r>
          </a:p>
        </p:txBody>
      </p:sp>
    </p:spTree>
    <p:extLst>
      <p:ext uri="{BB962C8B-B14F-4D97-AF65-F5344CB8AC3E}">
        <p14:creationId xmlns:p14="http://schemas.microsoft.com/office/powerpoint/2010/main" val="766297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2026-10-26T14:27:04.7120000Z</dcterms:created>
  <dcterms:modified xsi:type="dcterms:W3CDTF">2026-10-26T14:27:04.7120000Z</dcterms:modified>
</coreProperties>
</file>