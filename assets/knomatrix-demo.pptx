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6.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7.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8.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9.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10.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11.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12.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slides/charts/chart13.xml" ContentType="application/vnd.openxmlformats-officedocument.drawingml.chart+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slides/charts/chart14.xml" ContentType="application/vnd.openxmlformats-officedocument.drawingml.chart+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5740d1eebe4dfb" /><Relationship Type="http://schemas.openxmlformats.org/officeDocument/2006/relationships/extended-properties" Target="/docProps/app.xml" Id="R1dcf2c65d546490e" /><Relationship Type="http://schemas.openxmlformats.org/officeDocument/2006/relationships/officeDocument" Target="/ppt/presentation.xml" Id="R55a9d0f9db424c1f" /></Relationships>
</file>

<file path=ppt/presentation.xml><?xml version="1.0" encoding="utf-8"?>
<p:presentation xmlns:p="http://schemas.openxmlformats.org/presentationml/2006/main">
  <p:sldMasterIdLst>
    <p:sldMasterId xmlns:r="http://schemas.openxmlformats.org/officeDocument/2006/relationships" id="2147483648" r:id="R02a8b5ac51e743c6"/>
  </p:sldMasterIdLst>
  <p:notesMasterIdLst>
    <p:notesMasterId xmlns:r="http://schemas.openxmlformats.org/officeDocument/2006/relationships" r:id="Rf3f7885084234e2e"/>
  </p:notesMasterIdLst>
  <p:sldIdLst>
    <p:sldId xmlns:r="http://schemas.openxmlformats.org/officeDocument/2006/relationships" id="256" r:id="R62c8f105ca3a426e"/>
    <p:sldId xmlns:r="http://schemas.openxmlformats.org/officeDocument/2006/relationships" id="257" r:id="Rf69451356b4f4879"/>
    <p:sldId xmlns:r="http://schemas.openxmlformats.org/officeDocument/2006/relationships" id="258" r:id="Rd6ddefcce29d47f1"/>
    <p:sldId xmlns:r="http://schemas.openxmlformats.org/officeDocument/2006/relationships" id="259" r:id="R75f9245ec1f74492"/>
    <p:sldId xmlns:r="http://schemas.openxmlformats.org/officeDocument/2006/relationships" id="260" r:id="R9e864f86c7394461"/>
    <p:sldId xmlns:r="http://schemas.openxmlformats.org/officeDocument/2006/relationships" id="261" r:id="Rba107abd78084dc1"/>
    <p:sldId xmlns:r="http://schemas.openxmlformats.org/officeDocument/2006/relationships" id="262" r:id="R2e80facd941a4a88"/>
    <p:sldId xmlns:r="http://schemas.openxmlformats.org/officeDocument/2006/relationships" id="263" r:id="Rc383a1624e1c4dac"/>
    <p:sldId xmlns:r="http://schemas.openxmlformats.org/officeDocument/2006/relationships" id="264" r:id="Raaf85e6ba30c4fd6"/>
    <p:sldId xmlns:r="http://schemas.openxmlformats.org/officeDocument/2006/relationships" id="265" r:id="Rd87fcf3657be446d"/>
    <p:sldId xmlns:r="http://schemas.openxmlformats.org/officeDocument/2006/relationships" id="266" r:id="R1ac24baa5dc941c9"/>
    <p:sldId xmlns:r="http://schemas.openxmlformats.org/officeDocument/2006/relationships" id="267" r:id="Re59a784aa4754301"/>
    <p:sldId xmlns:r="http://schemas.openxmlformats.org/officeDocument/2006/relationships" id="268" r:id="Ra8b6b4a4302b4cf9"/>
    <p:sldId xmlns:r="http://schemas.openxmlformats.org/officeDocument/2006/relationships" id="269" r:id="R62ec0937f8cd42a5"/>
    <p:sldId xmlns:r="http://schemas.openxmlformats.org/officeDocument/2006/relationships" id="270" r:id="R2d911bf230354174"/>
    <p:sldId xmlns:r="http://schemas.openxmlformats.org/officeDocument/2006/relationships" id="271" r:id="R39f446f67da64b0a"/>
    <p:sldId xmlns:r="http://schemas.openxmlformats.org/officeDocument/2006/relationships" id="272" r:id="R2cdd8991663144c1"/>
    <p:sldId xmlns:r="http://schemas.openxmlformats.org/officeDocument/2006/relationships" id="273" r:id="R866c0dc9d02c40fa"/>
    <p:sldId xmlns:r="http://schemas.openxmlformats.org/officeDocument/2006/relationships" id="274" r:id="Rd899533e59f1426d"/>
    <p:sldId xmlns:r="http://schemas.openxmlformats.org/officeDocument/2006/relationships" id="275" r:id="Rcca01069086d45a4"/>
    <p:sldId xmlns:r="http://schemas.openxmlformats.org/officeDocument/2006/relationships" id="276" r:id="Rdc6a75df76984400"/>
    <p:sldId xmlns:r="http://schemas.openxmlformats.org/officeDocument/2006/relationships" id="277" r:id="R85e4052784c64141"/>
    <p:sldId xmlns:r="http://schemas.openxmlformats.org/officeDocument/2006/relationships" id="278" r:id="R80f1c545f48f4d34"/>
    <p:sldId xmlns:r="http://schemas.openxmlformats.org/officeDocument/2006/relationships" id="279" r:id="Rb0efe538a8584c89"/>
    <p:sldId xmlns:r="http://schemas.openxmlformats.org/officeDocument/2006/relationships" id="280" r:id="Rb05029b72979413c"/>
    <p:sldId xmlns:r="http://schemas.openxmlformats.org/officeDocument/2006/relationships" id="281" r:id="R7e39cf86aab44fcf"/>
    <p:sldId xmlns:r="http://schemas.openxmlformats.org/officeDocument/2006/relationships" id="282" r:id="R18dd4bba871d4491"/>
    <p:sldId xmlns:r="http://schemas.openxmlformats.org/officeDocument/2006/relationships" id="283" r:id="R44d3bc23c4d84254"/>
    <p:sldId xmlns:r="http://schemas.openxmlformats.org/officeDocument/2006/relationships" id="284" r:id="R77cd21b9b57f4dbf"/>
    <p:sldId xmlns:r="http://schemas.openxmlformats.org/officeDocument/2006/relationships" id="285" r:id="Rbee96184bbc849a5"/>
    <p:sldId xmlns:r="http://schemas.openxmlformats.org/officeDocument/2006/relationships" id="286" r:id="R42a78254ab5f4851"/>
    <p:sldId xmlns:r="http://schemas.openxmlformats.org/officeDocument/2006/relationships" id="287" r:id="Rd91e29a090134435"/>
    <p:sldId xmlns:r="http://schemas.openxmlformats.org/officeDocument/2006/relationships" id="288" r:id="Rdb706368790f4d26"/>
    <p:sldId xmlns:r="http://schemas.openxmlformats.org/officeDocument/2006/relationships" id="289" r:id="R5ce5b06c7e464776"/>
    <p:sldId xmlns:r="http://schemas.openxmlformats.org/officeDocument/2006/relationships" id="290" r:id="Rce75e26c77574d76"/>
    <p:sldId xmlns:r="http://schemas.openxmlformats.org/officeDocument/2006/relationships" id="291" r:id="Rfc23778513d34500"/>
    <p:sldId xmlns:r="http://schemas.openxmlformats.org/officeDocument/2006/relationships" id="292" r:id="Ra2578b9f871b414c"/>
    <p:sldId xmlns:r="http://schemas.openxmlformats.org/officeDocument/2006/relationships" id="293" r:id="R7a0fbb08057a4056"/>
    <p:sldId xmlns:r="http://schemas.openxmlformats.org/officeDocument/2006/relationships" id="294" r:id="R5d6e819b16ca4c0a"/>
    <p:sldId xmlns:r="http://schemas.openxmlformats.org/officeDocument/2006/relationships" id="295" r:id="R2ccb7d7232ae471f"/>
    <p:sldId xmlns:r="http://schemas.openxmlformats.org/officeDocument/2006/relationships" id="296" r:id="R9d19d96dcf74417b"/>
    <p:sldId xmlns:r="http://schemas.openxmlformats.org/officeDocument/2006/relationships" id="297" r:id="R6b7a885b42404ff8"/>
    <p:sldId xmlns:r="http://schemas.openxmlformats.org/officeDocument/2006/relationships" id="298" r:id="R3be872e9d388437f"/>
    <p:sldId xmlns:r="http://schemas.openxmlformats.org/officeDocument/2006/relationships" id="299" r:id="R7ba6cfb4c5df4dd3"/>
    <p:sldId xmlns:r="http://schemas.openxmlformats.org/officeDocument/2006/relationships" id="300" r:id="R22e72ac7ae0247fd"/>
    <p:sldId xmlns:r="http://schemas.openxmlformats.org/officeDocument/2006/relationships" id="301" r:id="R9a11fd0b71d049d9"/>
    <p:sldId xmlns:r="http://schemas.openxmlformats.org/officeDocument/2006/relationships" id="302" r:id="R5b54caabf81449d4"/>
    <p:sldId xmlns:r="http://schemas.openxmlformats.org/officeDocument/2006/relationships" id="303" r:id="R0b40357b6825434a"/>
    <p:sldId xmlns:r="http://schemas.openxmlformats.org/officeDocument/2006/relationships" id="304" r:id="R5eb6a716a31f48fb"/>
    <p:sldId xmlns:r="http://schemas.openxmlformats.org/officeDocument/2006/relationships" id="305" r:id="R453be0ca72fb40ae"/>
    <p:sldId xmlns:r="http://schemas.openxmlformats.org/officeDocument/2006/relationships" id="306" r:id="R8ffc3cf3a0f046ab"/>
    <p:sldId xmlns:r="http://schemas.openxmlformats.org/officeDocument/2006/relationships" id="307" r:id="R00c1c6415d0d411c"/>
    <p:sldId xmlns:r="http://schemas.openxmlformats.org/officeDocument/2006/relationships" id="308" r:id="R4d23908f0140493b"/>
    <p:sldId xmlns:r="http://schemas.openxmlformats.org/officeDocument/2006/relationships" id="309" r:id="Rf1b2544b9c8343f8"/>
    <p:sldId xmlns:r="http://schemas.openxmlformats.org/officeDocument/2006/relationships" id="310" r:id="Rb8a1e7ff582b49b8"/>
    <p:sldId xmlns:r="http://schemas.openxmlformats.org/officeDocument/2006/relationships" id="311" r:id="R15c3aa3a3b8f4b12"/>
    <p:sldId xmlns:r="http://schemas.openxmlformats.org/officeDocument/2006/relationships" id="312" r:id="R5becc2e137a84145"/>
    <p:sldId xmlns:r="http://schemas.openxmlformats.org/officeDocument/2006/relationships" id="313" r:id="R2b65e6f0fa114a7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de5b435dfa4cf6" /><Relationship Type="http://schemas.openxmlformats.org/officeDocument/2006/relationships/slideMaster" Target="/ppt/slideMasters/slideMaster1.xml" Id="R02a8b5ac51e743c6" /><Relationship Type="http://schemas.openxmlformats.org/officeDocument/2006/relationships/notesMaster" Target="/ppt/notesMasters/notesMaster1.xml" Id="Rf3f7885084234e2e" /><Relationship Type="http://schemas.openxmlformats.org/officeDocument/2006/relationships/presProps" Target="/ppt/presProps.xml" Id="Rf09fa009e94b417e" /><Relationship Type="http://schemas.openxmlformats.org/officeDocument/2006/relationships/tableStyles" Target="/ppt/tableStyles.xml" Id="R3717f230393d4a14" /><Relationship Type="http://schemas.openxmlformats.org/officeDocument/2006/relationships/slide" Target="/ppt/slides/slide1.xml" Id="R62c8f105ca3a426e" /><Relationship Type="http://schemas.openxmlformats.org/officeDocument/2006/relationships/slide" Target="/ppt/slides/slide2.xml" Id="Rf69451356b4f4879" /><Relationship Type="http://schemas.openxmlformats.org/officeDocument/2006/relationships/slide" Target="/ppt/slides/slide3.xml" Id="Rd6ddefcce29d47f1" /><Relationship Type="http://schemas.openxmlformats.org/officeDocument/2006/relationships/slide" Target="/ppt/slides/slide4.xml" Id="R75f9245ec1f74492" /><Relationship Type="http://schemas.openxmlformats.org/officeDocument/2006/relationships/slide" Target="/ppt/slides/slide5.xml" Id="R9e864f86c7394461" /><Relationship Type="http://schemas.openxmlformats.org/officeDocument/2006/relationships/slide" Target="/ppt/slides/slide6.xml" Id="Rba107abd78084dc1" /><Relationship Type="http://schemas.openxmlformats.org/officeDocument/2006/relationships/slide" Target="/ppt/slides/slide7.xml" Id="R2e80facd941a4a88" /><Relationship Type="http://schemas.openxmlformats.org/officeDocument/2006/relationships/slide" Target="/ppt/slides/slide8.xml" Id="Rc383a1624e1c4dac" /><Relationship Type="http://schemas.openxmlformats.org/officeDocument/2006/relationships/slide" Target="/ppt/slides/slide9.xml" Id="Raaf85e6ba30c4fd6" /><Relationship Type="http://schemas.openxmlformats.org/officeDocument/2006/relationships/slide" Target="/ppt/slides/slide10.xml" Id="Rd87fcf3657be446d" /><Relationship Type="http://schemas.openxmlformats.org/officeDocument/2006/relationships/slide" Target="/ppt/slides/slide11.xml" Id="R1ac24baa5dc941c9" /><Relationship Type="http://schemas.openxmlformats.org/officeDocument/2006/relationships/slide" Target="/ppt/slides/slide12.xml" Id="Re59a784aa4754301" /><Relationship Type="http://schemas.openxmlformats.org/officeDocument/2006/relationships/slide" Target="/ppt/slides/slide13.xml" Id="Ra8b6b4a4302b4cf9" /><Relationship Type="http://schemas.openxmlformats.org/officeDocument/2006/relationships/slide" Target="/ppt/slides/slide14.xml" Id="R62ec0937f8cd42a5" /><Relationship Type="http://schemas.openxmlformats.org/officeDocument/2006/relationships/slide" Target="/ppt/slides/slide15.xml" Id="R2d911bf230354174" /><Relationship Type="http://schemas.openxmlformats.org/officeDocument/2006/relationships/slide" Target="/ppt/slides/slide16.xml" Id="R39f446f67da64b0a" /><Relationship Type="http://schemas.openxmlformats.org/officeDocument/2006/relationships/slide" Target="/ppt/slides/slide17.xml" Id="R2cdd8991663144c1" /><Relationship Type="http://schemas.openxmlformats.org/officeDocument/2006/relationships/slide" Target="/ppt/slides/slide18.xml" Id="R866c0dc9d02c40fa" /><Relationship Type="http://schemas.openxmlformats.org/officeDocument/2006/relationships/slide" Target="/ppt/slides/slide19.xml" Id="Rd899533e59f1426d" /><Relationship Type="http://schemas.openxmlformats.org/officeDocument/2006/relationships/slide" Target="/ppt/slides/slide20.xml" Id="Rcca01069086d45a4" /><Relationship Type="http://schemas.openxmlformats.org/officeDocument/2006/relationships/slide" Target="/ppt/slides/slide21.xml" Id="Rdc6a75df76984400" /><Relationship Type="http://schemas.openxmlformats.org/officeDocument/2006/relationships/slide" Target="/ppt/slides/slide22.xml" Id="R85e4052784c64141" /><Relationship Type="http://schemas.openxmlformats.org/officeDocument/2006/relationships/slide" Target="/ppt/slides/slide23.xml" Id="R80f1c545f48f4d34" /><Relationship Type="http://schemas.openxmlformats.org/officeDocument/2006/relationships/slide" Target="/ppt/slides/slide24.xml" Id="Rb0efe538a8584c89" /><Relationship Type="http://schemas.openxmlformats.org/officeDocument/2006/relationships/slide" Target="/ppt/slides/slide25.xml" Id="Rb05029b72979413c" /><Relationship Type="http://schemas.openxmlformats.org/officeDocument/2006/relationships/slide" Target="/ppt/slides/slide26.xml" Id="R7e39cf86aab44fcf" /><Relationship Type="http://schemas.openxmlformats.org/officeDocument/2006/relationships/slide" Target="/ppt/slides/slide27.xml" Id="R18dd4bba871d4491" /><Relationship Type="http://schemas.openxmlformats.org/officeDocument/2006/relationships/slide" Target="/ppt/slides/slide28.xml" Id="R44d3bc23c4d84254" /><Relationship Type="http://schemas.openxmlformats.org/officeDocument/2006/relationships/slide" Target="/ppt/slides/slide29.xml" Id="R77cd21b9b57f4dbf" /><Relationship Type="http://schemas.openxmlformats.org/officeDocument/2006/relationships/slide" Target="/ppt/slides/slide30.xml" Id="Rbee96184bbc849a5" /><Relationship Type="http://schemas.openxmlformats.org/officeDocument/2006/relationships/slide" Target="/ppt/slides/slide31.xml" Id="R42a78254ab5f4851" /><Relationship Type="http://schemas.openxmlformats.org/officeDocument/2006/relationships/slide" Target="/ppt/slides/slide32.xml" Id="Rd91e29a090134435" /><Relationship Type="http://schemas.openxmlformats.org/officeDocument/2006/relationships/slide" Target="/ppt/slides/slide33.xml" Id="Rdb706368790f4d26" /><Relationship Type="http://schemas.openxmlformats.org/officeDocument/2006/relationships/slide" Target="/ppt/slides/slide34.xml" Id="R5ce5b06c7e464776" /><Relationship Type="http://schemas.openxmlformats.org/officeDocument/2006/relationships/slide" Target="/ppt/slides/slide35.xml" Id="Rce75e26c77574d76" /><Relationship Type="http://schemas.openxmlformats.org/officeDocument/2006/relationships/slide" Target="/ppt/slides/slide36.xml" Id="Rfc23778513d34500" /><Relationship Type="http://schemas.openxmlformats.org/officeDocument/2006/relationships/slide" Target="/ppt/slides/slide37.xml" Id="Ra2578b9f871b414c" /><Relationship Type="http://schemas.openxmlformats.org/officeDocument/2006/relationships/slide" Target="/ppt/slides/slide38.xml" Id="R7a0fbb08057a4056" /><Relationship Type="http://schemas.openxmlformats.org/officeDocument/2006/relationships/slide" Target="/ppt/slides/slide39.xml" Id="R5d6e819b16ca4c0a" /><Relationship Type="http://schemas.openxmlformats.org/officeDocument/2006/relationships/slide" Target="/ppt/slides/slide40.xml" Id="R2ccb7d7232ae471f" /><Relationship Type="http://schemas.openxmlformats.org/officeDocument/2006/relationships/slide" Target="/ppt/slides/slide41.xml" Id="R9d19d96dcf74417b" /><Relationship Type="http://schemas.openxmlformats.org/officeDocument/2006/relationships/slide" Target="/ppt/slides/slide42.xml" Id="R6b7a885b42404ff8" /><Relationship Type="http://schemas.openxmlformats.org/officeDocument/2006/relationships/slide" Target="/ppt/slides/slide43.xml" Id="R3be872e9d388437f" /><Relationship Type="http://schemas.openxmlformats.org/officeDocument/2006/relationships/slide" Target="/ppt/slides/slide44.xml" Id="R7ba6cfb4c5df4dd3" /><Relationship Type="http://schemas.openxmlformats.org/officeDocument/2006/relationships/slide" Target="/ppt/slides/slide45.xml" Id="R22e72ac7ae0247fd" /><Relationship Type="http://schemas.openxmlformats.org/officeDocument/2006/relationships/slide" Target="/ppt/slides/slide46.xml" Id="R9a11fd0b71d049d9" /><Relationship Type="http://schemas.openxmlformats.org/officeDocument/2006/relationships/slide" Target="/ppt/slides/slide47.xml" Id="R5b54caabf81449d4" /><Relationship Type="http://schemas.openxmlformats.org/officeDocument/2006/relationships/slide" Target="/ppt/slides/slide48.xml" Id="R0b40357b6825434a" /><Relationship Type="http://schemas.openxmlformats.org/officeDocument/2006/relationships/slide" Target="/ppt/slides/slide49.xml" Id="R5eb6a716a31f48fb" /><Relationship Type="http://schemas.openxmlformats.org/officeDocument/2006/relationships/slide" Target="/ppt/slides/slide50.xml" Id="R453be0ca72fb40ae" /><Relationship Type="http://schemas.openxmlformats.org/officeDocument/2006/relationships/slide" Target="/ppt/slides/slide51.xml" Id="R8ffc3cf3a0f046ab" /><Relationship Type="http://schemas.openxmlformats.org/officeDocument/2006/relationships/slide" Target="/ppt/slides/slide52.xml" Id="R00c1c6415d0d411c" /><Relationship Type="http://schemas.openxmlformats.org/officeDocument/2006/relationships/slide" Target="/ppt/slides/slide53.xml" Id="R4d23908f0140493b" /><Relationship Type="http://schemas.openxmlformats.org/officeDocument/2006/relationships/slide" Target="/ppt/slides/slide54.xml" Id="Rf1b2544b9c8343f8" /><Relationship Type="http://schemas.openxmlformats.org/officeDocument/2006/relationships/slide" Target="/ppt/slides/slide55.xml" Id="Rb8a1e7ff582b49b8" /><Relationship Type="http://schemas.openxmlformats.org/officeDocument/2006/relationships/slide" Target="/ppt/slides/slide56.xml" Id="R15c3aa3a3b8f4b12" /><Relationship Type="http://schemas.openxmlformats.org/officeDocument/2006/relationships/slide" Target="/ppt/slides/slide57.xml" Id="R5becc2e137a84145" /><Relationship Type="http://schemas.openxmlformats.org/officeDocument/2006/relationships/slide" Target="/ppt/slides/slide58.xml" Id="R2b65e6f0fa114a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8294fb5e704c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2c7e7391164428" /><Relationship Type="http://schemas.openxmlformats.org/officeDocument/2006/relationships/notesMaster" Target="/ppt/notesMasters/notesMaster1.xml" Id="R572efcd122b840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fb879ccbd542fc" /><Relationship Type="http://schemas.openxmlformats.org/officeDocument/2006/relationships/notesMaster" Target="/ppt/notesMasters/notesMaster1.xml" Id="Rb721a4081a534f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742cd5aa03442e" /><Relationship Type="http://schemas.openxmlformats.org/officeDocument/2006/relationships/notesMaster" Target="/ppt/notesMasters/notesMaster1.xml" Id="Rb33d687a3ef046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dc1bc9e8234556" /><Relationship Type="http://schemas.openxmlformats.org/officeDocument/2006/relationships/notesMaster" Target="/ppt/notesMasters/notesMaster1.xml" Id="R2cf19421f5684c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776419e15247b7" /><Relationship Type="http://schemas.openxmlformats.org/officeDocument/2006/relationships/notesMaster" Target="/ppt/notesMasters/notesMaster1.xml" Id="R752f623889984c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3a2539473c40c9" /><Relationship Type="http://schemas.openxmlformats.org/officeDocument/2006/relationships/notesMaster" Target="/ppt/notesMasters/notesMaster1.xml" Id="R4b7e9188f2184b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9252cc15e84855" /><Relationship Type="http://schemas.openxmlformats.org/officeDocument/2006/relationships/notesMaster" Target="/ppt/notesMasters/notesMaster1.xml" Id="R4a15f22f49994b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25c436f2fd48ae" /><Relationship Type="http://schemas.openxmlformats.org/officeDocument/2006/relationships/notesMaster" Target="/ppt/notesMasters/notesMaster1.xml" Id="Rb21f6272ca2747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db9ddc59114d7e" /><Relationship Type="http://schemas.openxmlformats.org/officeDocument/2006/relationships/notesMaster" Target="/ppt/notesMasters/notesMaster1.xml" Id="R817f5b34739840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b523a7172d4e7f" /><Relationship Type="http://schemas.openxmlformats.org/officeDocument/2006/relationships/notesMaster" Target="/ppt/notesMasters/notesMaster1.xml" Id="R26cebcc4ae0747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3a9b4f9b564ca5" /><Relationship Type="http://schemas.openxmlformats.org/officeDocument/2006/relationships/notesMaster" Target="/ppt/notesMasters/notesMaster1.xml" Id="Raefef2f9e5ec40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12c930af5340d3" /><Relationship Type="http://schemas.openxmlformats.org/officeDocument/2006/relationships/notesMaster" Target="/ppt/notesMasters/notesMaster1.xml" Id="R854ad840a7e649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e5531a1b9bf4e5f" /><Relationship Type="http://schemas.openxmlformats.org/officeDocument/2006/relationships/notesMaster" Target="/ppt/notesMasters/notesMaster1.xml" Id="Rd268329a2369457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17b125070b54bc1" /><Relationship Type="http://schemas.openxmlformats.org/officeDocument/2006/relationships/notesMaster" Target="/ppt/notesMasters/notesMaster1.xml" Id="R8e93fdaabeec46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210246fe34d44d1" /><Relationship Type="http://schemas.openxmlformats.org/officeDocument/2006/relationships/notesMaster" Target="/ppt/notesMasters/notesMaster1.xml" Id="R06359571acc94dc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5fae5c9d9384be2" /><Relationship Type="http://schemas.openxmlformats.org/officeDocument/2006/relationships/notesMaster" Target="/ppt/notesMasters/notesMaster1.xml" Id="Rc1c8de7eec6548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5be3dea7de943bf" /><Relationship Type="http://schemas.openxmlformats.org/officeDocument/2006/relationships/notesMaster" Target="/ppt/notesMasters/notesMaster1.xml" Id="R3d0e3def98cb4ac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a2e5bf778494948" /><Relationship Type="http://schemas.openxmlformats.org/officeDocument/2006/relationships/notesMaster" Target="/ppt/notesMasters/notesMaster1.xml" Id="R732166e8836d4c6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041391422094179" /><Relationship Type="http://schemas.openxmlformats.org/officeDocument/2006/relationships/notesMaster" Target="/ppt/notesMasters/notesMaster1.xml" Id="R2bfad46200524df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b74673cae7c483b" /><Relationship Type="http://schemas.openxmlformats.org/officeDocument/2006/relationships/notesMaster" Target="/ppt/notesMasters/notesMaster1.xml" Id="R12ed1a4cdd9441f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838d96da3c743b4" /><Relationship Type="http://schemas.openxmlformats.org/officeDocument/2006/relationships/notesMaster" Target="/ppt/notesMasters/notesMaster1.xml" Id="Rc09006a6ed5a41a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3e24451c2504a4a" /><Relationship Type="http://schemas.openxmlformats.org/officeDocument/2006/relationships/notesMaster" Target="/ppt/notesMasters/notesMaster1.xml" Id="R21938ff6db5d45f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fa35e4639094a68" /><Relationship Type="http://schemas.openxmlformats.org/officeDocument/2006/relationships/notesMaster" Target="/ppt/notesMasters/notesMaster1.xml" Id="Rfd289d864296448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b8eed9d3d6c48f6" /><Relationship Type="http://schemas.openxmlformats.org/officeDocument/2006/relationships/notesMaster" Target="/ppt/notesMasters/notesMaster1.xml" Id="R0e72d07394b3474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9fba1ccd38e4c88" /><Relationship Type="http://schemas.openxmlformats.org/officeDocument/2006/relationships/notesMaster" Target="/ppt/notesMasters/notesMaster1.xml" Id="R438ab1b181084ee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4143ef7cbd94c32" /><Relationship Type="http://schemas.openxmlformats.org/officeDocument/2006/relationships/notesMaster" Target="/ppt/notesMasters/notesMaster1.xml" Id="R77927e3550354c7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472a39fb7cd4312" /><Relationship Type="http://schemas.openxmlformats.org/officeDocument/2006/relationships/notesMaster" Target="/ppt/notesMasters/notesMaster1.xml" Id="R493434aeac93403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5072f1c536d4924" /><Relationship Type="http://schemas.openxmlformats.org/officeDocument/2006/relationships/notesMaster" Target="/ppt/notesMasters/notesMaster1.xml" Id="R9bc434f656c6449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06d356077464789" /><Relationship Type="http://schemas.openxmlformats.org/officeDocument/2006/relationships/notesMaster" Target="/ppt/notesMasters/notesMaster1.xml" Id="R4ed2a9dd76294e7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47fe937eaa44702" /><Relationship Type="http://schemas.openxmlformats.org/officeDocument/2006/relationships/notesMaster" Target="/ppt/notesMasters/notesMaster1.xml" Id="R4125fc032e9746b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bda3900cb0b4d1d" /><Relationship Type="http://schemas.openxmlformats.org/officeDocument/2006/relationships/notesMaster" Target="/ppt/notesMasters/notesMaster1.xml" Id="R57899b05580347e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bccc09609364bcc" /><Relationship Type="http://schemas.openxmlformats.org/officeDocument/2006/relationships/notesMaster" Target="/ppt/notesMasters/notesMaster1.xml" Id="Rdc594e870a52401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a840292097f4c67" /><Relationship Type="http://schemas.openxmlformats.org/officeDocument/2006/relationships/notesMaster" Target="/ppt/notesMasters/notesMaster1.xml" Id="R9f8c660a1c6348a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81056d73ed54054" /><Relationship Type="http://schemas.openxmlformats.org/officeDocument/2006/relationships/notesMaster" Target="/ppt/notesMasters/notesMaster1.xml" Id="R3e0492d41eb34b9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3542cac7e45481f" /><Relationship Type="http://schemas.openxmlformats.org/officeDocument/2006/relationships/notesMaster" Target="/ppt/notesMasters/notesMaster1.xml" Id="Rfffa600eb281427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2c16cf28bda4c9d" /><Relationship Type="http://schemas.openxmlformats.org/officeDocument/2006/relationships/notesMaster" Target="/ppt/notesMasters/notesMaster1.xml" Id="Rabda40bcc5e0415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3796df4846f4db1" /><Relationship Type="http://schemas.openxmlformats.org/officeDocument/2006/relationships/notesMaster" Target="/ppt/notesMasters/notesMaster1.xml" Id="R6111e2156357421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20429938e6e4d6b" /><Relationship Type="http://schemas.openxmlformats.org/officeDocument/2006/relationships/notesMaster" Target="/ppt/notesMasters/notesMaster1.xml" Id="R56a80f6d633f4e1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9c9b6d28b5e4b10" /><Relationship Type="http://schemas.openxmlformats.org/officeDocument/2006/relationships/notesMaster" Target="/ppt/notesMasters/notesMaster1.xml" Id="Re9a6d48de8a1455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387c5137bb342ea" /><Relationship Type="http://schemas.openxmlformats.org/officeDocument/2006/relationships/notesMaster" Target="/ppt/notesMasters/notesMaster1.xml" Id="R00916c1a5a3c47b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89fd5738438426d" /><Relationship Type="http://schemas.openxmlformats.org/officeDocument/2006/relationships/notesMaster" Target="/ppt/notesMasters/notesMaster1.xml" Id="R636b31a9d6ac44e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2c9214cbdb04040" /><Relationship Type="http://schemas.openxmlformats.org/officeDocument/2006/relationships/notesMaster" Target="/ppt/notesMasters/notesMaster1.xml" Id="Rf6737c453ae3474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41deca206344880" /><Relationship Type="http://schemas.openxmlformats.org/officeDocument/2006/relationships/notesMaster" Target="/ppt/notesMasters/notesMaster1.xml" Id="Raf8c140f53054ab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52d5ac38187434a" /><Relationship Type="http://schemas.openxmlformats.org/officeDocument/2006/relationships/notesMaster" Target="/ppt/notesMasters/notesMaster1.xml" Id="Re80115c9f30a49b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da77f4a35a24758" /><Relationship Type="http://schemas.openxmlformats.org/officeDocument/2006/relationships/notesMaster" Target="/ppt/notesMasters/notesMaster1.xml" Id="R8b8eac15185c477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ab3d3edf9a84b61" /><Relationship Type="http://schemas.openxmlformats.org/officeDocument/2006/relationships/notesMaster" Target="/ppt/notesMasters/notesMaster1.xml" Id="Rccde53123fbf44a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4edd92bb71c4ce9" /><Relationship Type="http://schemas.openxmlformats.org/officeDocument/2006/relationships/notesMaster" Target="/ppt/notesMasters/notesMaster1.xml" Id="Rbaa03235f95a4f6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ce8eb28799b41cf" /><Relationship Type="http://schemas.openxmlformats.org/officeDocument/2006/relationships/notesMaster" Target="/ppt/notesMasters/notesMaster1.xml" Id="R768fa134f25348d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9bb84787f2b4d74" /><Relationship Type="http://schemas.openxmlformats.org/officeDocument/2006/relationships/notesMaster" Target="/ppt/notesMasters/notesMaster1.xml" Id="Rf5031164afb242d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08d5a3aa5d8436c" /><Relationship Type="http://schemas.openxmlformats.org/officeDocument/2006/relationships/notesMaster" Target="/ppt/notesMasters/notesMaster1.xml" Id="R800f4db6d2304e2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c4d8b8734eb4930" /><Relationship Type="http://schemas.openxmlformats.org/officeDocument/2006/relationships/notesMaster" Target="/ppt/notesMasters/notesMaster1.xml" Id="Rc6e2f3bdb347410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e6a7fb2136042d8" /><Relationship Type="http://schemas.openxmlformats.org/officeDocument/2006/relationships/notesMaster" Target="/ppt/notesMasters/notesMaster1.xml" Id="Rc198412ac4e042a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f90c37bacc64762" /><Relationship Type="http://schemas.openxmlformats.org/officeDocument/2006/relationships/notesMaster" Target="/ppt/notesMasters/notesMaster1.xml" Id="R3cea8eed83c1414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8bbbb031d87443d" /><Relationship Type="http://schemas.openxmlformats.org/officeDocument/2006/relationships/notesMaster" Target="/ppt/notesMasters/notesMaster1.xml" Id="Rcd8428f8b33f4fe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681e264e18e4800" /><Relationship Type="http://schemas.openxmlformats.org/officeDocument/2006/relationships/notesMaster" Target="/ppt/notesMasters/notesMaster1.xml" Id="R493875c43eb34e3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c3a6373e78f4d77" /><Relationship Type="http://schemas.openxmlformats.org/officeDocument/2006/relationships/notesMaster" Target="/ppt/notesMasters/notesMaster1.xml" Id="Rb428bcc6e01c4fd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60eaebc14a24b57" /><Relationship Type="http://schemas.openxmlformats.org/officeDocument/2006/relationships/notesMaster" Target="/ppt/notesMasters/notesMaster1.xml" Id="Rda549bfe11eb4c4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bda5948ee58474b" /><Relationship Type="http://schemas.openxmlformats.org/officeDocument/2006/relationships/notesMaster" Target="/ppt/notesMasters/notesMaster1.xml" Id="R621393a859854f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A fictional licensed sportsbook and iGaming operator: Nova. Every numerical result is synthetic. The deck demonstrates the analysis, not a client track record.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For a shorter meeting, use the three-page companion sample. Technical appendices support discussion with analytics and finance teams.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USD throughout. “m” means million and “k” means thousand. External estimates inform market context. First-party data establishes financial performance.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A higher deposit total can coexist with weaker economics. Agree the NGR definition before modelling. Operator accounting definitions vary.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FTD means first-time depositor. An install is not an FTD. The measurement method travels across sectors; the economics and constraints change.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104 weeks is the example window, not a universal sufficiency rule. Feasibility depends on variation, channel overlap, data quality and the number of parameters.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Illustrative quality issues show the review process. Keep a change log so every model refresh is reproducible.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The recorded demonstration uses a retail example. These slides adapt the business questions to gaming. Campaign, format and audience depth appear as “what’s next” in the video, not verified live features.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Parameter changes should test a hypothesis, not manufacture a desired recommendation. The recorded interface exposes regression-style diagnostics. No claim is made about its underlying estimator.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Paid media represents 40.6% of NGR in this constructed decomposition. Base and contextual drivers are model components, not separately observed revenue streams.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Search: $1.20m spend and $3.12m attributed NGR. Paid social: $0.90m spend and $1.08m attributed NGR. Use marginal returns for the next allocation.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Average ROAS describes the existing investment. Marginal ROAS describes a small change near it. Here, ROAS means model-attributed NGR divided by media spend. It is not profit ROI.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Regional has the highest local marginal return at 1.90×. The ranking is conditional on this model, budget level and market context.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Contributions reconcile to $20m and 100%. Negative contributions retain their sign. Search interest can reflect demand as well as advertising. Specify its role before interpreting it.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Observed total: $20.00m. Predicted total: $20.00m. Aggregate bias is 0%. Weekly errors still exist. The illustrative series has 2.7% wMAPE; a zero total error does not mean perfect predictions.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Do not describe a model as causal proof because R² is high. An attractive decomposition can still be unstable or confounded.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The largest displayed absolute residual is $0.06m. The alternating pattern is deliberate in this teaching example. In a live model, investigate systematic residual structure.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These are scenario assumptions, not confidence or credible intervals. A live engagement would derive uncertainty from the chosen model and supporting experiments.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Geometric illustration: each week retains θ of the previous week’s effect. Do not select a long carryover solely to increase the attributed value of a channel.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Search retains more response at the current budget in this example. Curves are illustrative saturating functions. Large changes require a full model scenario, not a straight-line extrapolation.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Add $0.30m search, $0.15m regional and $0.05m video. Fund with $0.30m social and $0.20m affiliates. Local marginal arithmetic gives +$0.61m NGR. This is a first-pass scenario, not an optimiser forecast.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Total media spend remains $4.00m. Hold creator spend while improving measurement. Negotiate affiliate commitments before cutting allocations.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The $0.40m is before fixed costs and tax, using an assumed 65% contribution margin. Do not present +$0.61m NGR as +$0.61m profit. Values are rounded.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These are sensitivity cases, not probability-weighted forecasts. Use a staged release with pre-agreed evidence thresholds and stop rules.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Target contributions in the video are useful scenario inputs. A budget recommendation still needs constraints. Do not equate a desired contribution share with a proven attainable outcome.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Normalised sportsbook revenue is a sensitivity view, not a substitute for reported finance numbers. Keep calendar effects fixed when comparing budget-only scenarios.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Illustrative competitor inputs adapted from the supplied gaming sample. All names are fictional. Keyword counts, traffic estimates and search interest measure different things. None equals market share.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Nova has 28% non-brand paid traffic share versus 52% for Peer A. Validate query intent and incremental conversions before increasing non-brand investment.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The deck does not recommend unrestricted competitor bidding. Build a query-level profit view from actual accounts rather than treating estimated search volume as revenue.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*Synthetic inputs. FTD rate uses paid clicks as denominator. High search volume can conceal poor qualification. Validate economics at cohort level.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Use the same query set, geography, period and extraction method. An indexed series shows relative interest, not absolute search volume or revenue.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*Additional synthetic diagnostics. Counts require a consistent crawl scope. Use useful content and sound architecture. More pages alone are not an SEO strategy.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Nova does not lead follow share in this example; it ties several peers. Assess referring-domain relevance, acquisition patterns and suspicious links before drawing quality conclusions.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Link ratios alone do not establish authority or a causal acquisition effect. Keep paid placements and editorial coverage distinguishable in reporting.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These are synthetic app examples, not Sensor Tower extracts. App-store spending estimates are not sportsbook stakes, deposits or NGR.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Inspect release, campaign and store-feature dates around the July spike. Then follow the same cohorts through verification, deposits and contribution.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Mobile-game monetisation and gambling economics need separate interpretation. Use app intelligence to generate hypotheses, then validate with internal events.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Specify the denominator and platform definition before comparing engagement rates. Reach does not establish incremental acquisition. Use approved adult-oriented placements and measured tests.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Granular campaign, format and audience work is an optional extension, not a verified feature of the recorded engine. Do not treat creator discount-code attribution as complete incrementality.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Core Web Vitals are LCP, INP and CLS. Speed Index is a separate lab metric. The benchmark is synthetic. Faster pages may help conversion, but quantify the effect in a controlled test. Definitions: web.dev/articles/vitals. Illustrative operator values.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The synthetic funnel ends with 84,000 FTDs. These totals include all acquisition sources. Do not divide total paid-media spend by all-source FTDs and label the result incremental CAC.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Operational improvements can raise the return on existing traffic. Do not count the same uplift in both the product forecast and the media model without reconciliation.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Compare cohorts with the same maturity, market and eligibility definitions. Retention is descriptive here. Differences may reflect audience mix, incentives or product experience.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*Synthetic observed cohort acquisition cost, not incremental CAC from MMM. Value at 90 days is not lifetime value. Mature cohorts and uncertainty are needed for a longer forecast.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NGR is already after the agreed bonus deductions in this example. Do not subtract them twice. Measure the full cohort economics and eligibility rules before expanding an offer.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The sample budget reduction is not a blanket recommendation against affiliates. Separate contractual commitments from discretionary acquisition spend.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Market labels are fictional. This is a decision framework, not a jurisdiction recommendation. Eligibility and operating approvals are hard constraints, not scoring trade-offs.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Select designs based on feasibility, power, contamination and customer safeguards. Do not use this menu as a claim that every design is feasible for every operator.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A positive point estimate alone is not a scaling rule. Log concurrent campaigns, events and outages that can affect interpretation.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Illustrative delivery sequence, not a contractual timeline. Access, data quality and experiment duration determine the actual schedule.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A recommendation is complete when it names an owner, a test and a decision date. Use a single reconciliation view so finance and marketing discuss the same outcome.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Scope the available provider exports and internal data before committing to every module. The video demonstrates the modelling workbench; the broader diagnostic work is the consulting analysis layer.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This is a conceptual specification, not a statement about the engine’s implementation. Google Meridian is a Bayesian MMM framework. The supplied video does not establish that this engine uses Meridian.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More variables do not automatically produce a better model. Explain which distinctions the data can support and which require new evidence.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Definitions must travel with exported charts and tables. Return ratios can use different horizons. Compare only like-for-like measures.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The purpose of this sample is to show the quality of the questions and the structure of the work. Separate measured facts, model estimates, hypotheses and plans in every client read-out.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No real operator is identified. Peer labels are fictional. The shared Gemini URL was inaccessible; the supplied conversation text was available.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KnoMatrix client demonstration. All numerical operator and competitor examples are synthetic, not client results or actual provider extracts. Source design and analytical scope: user-supplied gaming sample, digital strength PDF, four reference slides, pasted conversation and brag.mp4. Bring the current budget, outcome definitions and one decision you need to make. We will scope the analysis around that decision and the evidence available.  Method references where relevant: https://developers.google.com/meridian/docs/basics/meridian-introduction and https://web.dev/articles/vitals. Scope includes consulting analyses beyond the features visibly demonstrated in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16427af07e4e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7d2f53b0c842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e699ababf441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db409a9cc7842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e0b7c9c79f402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e82568d72647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4A6DE0-153A-4F97-9C87-DF340CAD1DF1}"/>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8D7ACC-C773-49E9-8C24-5E6B02118D3B}"/>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00EA524-2AE2-4A08-AC1A-C84543E2313C}"/>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6A1CF6-7E8F-4CC9-BB34-92298CEB8FC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068D727-3309-4F74-AFE3-AB8D2FE3D5E6}"/>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CB9DCD-682D-4EF7-8B6D-6436F9068A6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4E2138-7FFC-4198-8D2B-225C5D94B59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578590-521F-4719-AC2D-C1A02B9AB4DA}"/>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1FD7EB-1948-457F-9DD2-62889069CCD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D047B1-E96D-4DA7-B09D-0BD3CAF54B1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a3b9d4174a4b67" /><Relationship Type="http://schemas.openxmlformats.org/officeDocument/2006/relationships/slideLayout" Target="/ppt/slideLayouts/slideLayout1.xml" Id="Ra9c9d12fba2d42a7" /><Relationship Type="http://schemas.openxmlformats.org/officeDocument/2006/relationships/slideLayout" Target="/ppt/slideLayouts/slideLayout2.xml" Id="R83044847c1e74fd6" /><Relationship Type="http://schemas.openxmlformats.org/officeDocument/2006/relationships/slideLayout" Target="/ppt/slideLayouts/slideLayout3.xml" Id="Race4cc1583a74c66" /><Relationship Type="http://schemas.openxmlformats.org/officeDocument/2006/relationships/slideLayout" Target="/ppt/slideLayouts/slideLayout4.xml" Id="R8b1bd425d4e14499" /><Relationship Type="http://schemas.openxmlformats.org/officeDocument/2006/relationships/slideLayout" Target="/ppt/slideLayouts/slideLayout5.xml" Id="R3d4e8cacd32b4ca8" /><Relationship Type="http://schemas.openxmlformats.org/officeDocument/2006/relationships/slideLayout" Target="/ppt/slideLayouts/slideLayout6.xml" Id="R6bb2bc2df89143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c9d12fba2d42a7"/>
    <p:sldLayoutId xmlns:r="http://schemas.openxmlformats.org/officeDocument/2006/relationships" id="2147483650" r:id="R83044847c1e74fd6"/>
    <p:sldLayoutId xmlns:r="http://schemas.openxmlformats.org/officeDocument/2006/relationships" id="2147483651" r:id="Race4cc1583a74c66"/>
    <p:sldLayoutId xmlns:r="http://schemas.openxmlformats.org/officeDocument/2006/relationships" id="2147483652" r:id="R8b1bd425d4e14499"/>
    <p:sldLayoutId xmlns:r="http://schemas.openxmlformats.org/officeDocument/2006/relationships" id="2147483653" r:id="R3d4e8cacd32b4ca8"/>
    <p:sldLayoutId xmlns:r="http://schemas.openxmlformats.org/officeDocument/2006/relationships" id="2147483654" r:id="R6bb2bc2df89143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7e40accc6d4bcb" /><Relationship Type="http://schemas.openxmlformats.org/officeDocument/2006/relationships/notesSlide" Target="/ppt/notesSlides/notesSlide1.xml" Id="R726cfd9c8d504c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8d2ccba49424c09" /><Relationship Type="http://schemas.openxmlformats.org/officeDocument/2006/relationships/notesSlide" Target="/ppt/notesSlides/notesSlide2.xml" Id="R278d45b4b8ab44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895b0919a3c43ae" /><Relationship Type="http://schemas.openxmlformats.org/officeDocument/2006/relationships/notesSlide" Target="/ppt/notesSlides/notesSlide3.xml" Id="R24d7df5934a743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4f0e63f81ac4f5d" /><Relationship Type="http://schemas.openxmlformats.org/officeDocument/2006/relationships/notesSlide" Target="/ppt/notesSlides/notesSlide4.xml" Id="Rf6f58c9b17a240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35668433324b7a" /><Relationship Type="http://schemas.openxmlformats.org/officeDocument/2006/relationships/notesSlide" Target="/ppt/notesSlides/notesSlide5.xml" Id="R0f434217616047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f884d3dfafe4c9c" /><Relationship Type="http://schemas.openxmlformats.org/officeDocument/2006/relationships/notesSlide" Target="/ppt/notesSlides/notesSlide6.xml" Id="Rb2ebabd91ddd4b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e0d7ab436a84469" /><Relationship Type="http://schemas.openxmlformats.org/officeDocument/2006/relationships/notesSlide" Target="/ppt/notesSlides/notesSlide7.xml" Id="R0fde4db9d8c149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d2b5d9133da4a0e" /><Relationship Type="http://schemas.openxmlformats.org/officeDocument/2006/relationships/notesSlide" Target="/ppt/notesSlides/notesSlide8.xml" Id="R955b8d47c73645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06bc05ba0eb48cf" /><Relationship Type="http://schemas.openxmlformats.org/officeDocument/2006/relationships/notesSlide" Target="/ppt/notesSlides/notesSlide9.xml" Id="Rb40d5304ca114b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81799e6b9384d87" /><Relationship Type="http://schemas.openxmlformats.org/officeDocument/2006/relationships/chart" Target="/ppt/slides/charts/chart1.xml" Id="R8433e95d5d2d4b51" /><Relationship Type="http://schemas.openxmlformats.org/officeDocument/2006/relationships/notesSlide" Target="/ppt/notesSlides/notesSlide10.xml" Id="Rb5dc2f835caa4e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565a52d62b84949" /><Relationship Type="http://schemas.openxmlformats.org/officeDocument/2006/relationships/chart" Target="/ppt/slides/charts/chart2.xml" Id="R0c4b85472ecf48e0" /><Relationship Type="http://schemas.openxmlformats.org/officeDocument/2006/relationships/notesSlide" Target="/ppt/notesSlides/notesSlide11.xml" Id="Rff18361110ce4c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47ef4e1775346aa" /><Relationship Type="http://schemas.openxmlformats.org/officeDocument/2006/relationships/notesSlide" Target="/ppt/notesSlides/notesSlide12.xml" Id="R69d1e952299346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80abf4da8444b4b" /><Relationship Type="http://schemas.openxmlformats.org/officeDocument/2006/relationships/chart" Target="/ppt/slides/charts/chart3.xml" Id="Rd7a81d65df3247da" /><Relationship Type="http://schemas.openxmlformats.org/officeDocument/2006/relationships/notesSlide" Target="/ppt/notesSlides/notesSlide13.xml" Id="Rc19ea4023ecf4f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12b8b04323e45d2" /><Relationship Type="http://schemas.openxmlformats.org/officeDocument/2006/relationships/notesSlide" Target="/ppt/notesSlides/notesSlide14.xml" Id="Rbc301ded6e7e43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4d9975d614b4ac6" /><Relationship Type="http://schemas.openxmlformats.org/officeDocument/2006/relationships/chart" Target="/ppt/slides/charts/chart4.xml" Id="R443ae110582d422e" /><Relationship Type="http://schemas.openxmlformats.org/officeDocument/2006/relationships/notesSlide" Target="/ppt/notesSlides/notesSlide15.xml" Id="R185acdb5e41e48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38741ece5ae4a0c" /><Relationship Type="http://schemas.openxmlformats.org/officeDocument/2006/relationships/notesSlide" Target="/ppt/notesSlides/notesSlide16.xml" Id="R878ce5ff4c2b43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e39319023324cd2" /><Relationship Type="http://schemas.openxmlformats.org/officeDocument/2006/relationships/chart" Target="/ppt/slides/charts/chart5.xml" Id="R021b06880dbd44e9" /><Relationship Type="http://schemas.openxmlformats.org/officeDocument/2006/relationships/notesSlide" Target="/ppt/notesSlides/notesSlide17.xml" Id="Rd7e18b1d11914b8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136f392ff82424c" /><Relationship Type="http://schemas.openxmlformats.org/officeDocument/2006/relationships/notesSlide" Target="/ppt/notesSlides/notesSlide18.xml" Id="R49a60073ab5a461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2d91e8d23e54f56" /><Relationship Type="http://schemas.openxmlformats.org/officeDocument/2006/relationships/chart" Target="/ppt/slides/charts/chart6.xml" Id="Rd6bb2c2154cd4161" /><Relationship Type="http://schemas.openxmlformats.org/officeDocument/2006/relationships/notesSlide" Target="/ppt/notesSlides/notesSlide19.xml" Id="Rcdaa991b13e64a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3397af2a4bf4aad" /><Relationship Type="http://schemas.openxmlformats.org/officeDocument/2006/relationships/chart" Target="/ppt/slides/charts/chart7.xml" Id="Rb73eb35142ad4c93" /><Relationship Type="http://schemas.openxmlformats.org/officeDocument/2006/relationships/notesSlide" Target="/ppt/notesSlides/notesSlide20.xml" Id="R52567137b31f441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4035950da3149ed" /><Relationship Type="http://schemas.openxmlformats.org/officeDocument/2006/relationships/notesSlide" Target="/ppt/notesSlides/notesSlide21.xml" Id="Re9d0f42b7ff0448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b4d34fb7b5c4224" /><Relationship Type="http://schemas.openxmlformats.org/officeDocument/2006/relationships/chart" Target="/ppt/slides/charts/chart8.xml" Id="R131643b4039347a2" /><Relationship Type="http://schemas.openxmlformats.org/officeDocument/2006/relationships/notesSlide" Target="/ppt/notesSlides/notesSlide22.xml" Id="R63cd8c7ae9f344a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d1a76737df6483b" /><Relationship Type="http://schemas.openxmlformats.org/officeDocument/2006/relationships/notesSlide" Target="/ppt/notesSlides/notesSlide23.xml" Id="R8e5f40ac0f3f493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12943feaafe49f9" /><Relationship Type="http://schemas.openxmlformats.org/officeDocument/2006/relationships/notesSlide" Target="/ppt/notesSlides/notesSlide24.xml" Id="Ra2c38a93a75a4ab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0d08bac314b43d0" /><Relationship Type="http://schemas.openxmlformats.org/officeDocument/2006/relationships/notesSlide" Target="/ppt/notesSlides/notesSlide25.xml" Id="Rd64fd32639f44e3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7b4e437910d445b" /><Relationship Type="http://schemas.openxmlformats.org/officeDocument/2006/relationships/notesSlide" Target="/ppt/notesSlides/notesSlide26.xml" Id="R4219a9fd3aee4b1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7ceb6eae6bf4976" /><Relationship Type="http://schemas.openxmlformats.org/officeDocument/2006/relationships/notesSlide" Target="/ppt/notesSlides/notesSlide27.xml" Id="R84c0556268274ee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39da26049fa495d" /><Relationship Type="http://schemas.openxmlformats.org/officeDocument/2006/relationships/chart" Target="/ppt/slides/charts/chart9.xml" Id="Ra84a5d1e8f734916" /><Relationship Type="http://schemas.openxmlformats.org/officeDocument/2006/relationships/notesSlide" Target="/ppt/notesSlides/notesSlide28.xml" Id="Rb2d46924a5014ee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2ffe8f30c42437d" /><Relationship Type="http://schemas.openxmlformats.org/officeDocument/2006/relationships/notesSlide" Target="/ppt/notesSlides/notesSlide29.xml" Id="R5a7df89b427c4a1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7f9380cdac6457d" /><Relationship Type="http://schemas.openxmlformats.org/officeDocument/2006/relationships/notesSlide" Target="/ppt/notesSlides/notesSlide30.xml" Id="R9836e9dd6ff14c8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d87fe781fa249ed" /><Relationship Type="http://schemas.openxmlformats.org/officeDocument/2006/relationships/chart" Target="/ppt/slides/charts/chart10.xml" Id="R19adc56c178c42e7" /><Relationship Type="http://schemas.openxmlformats.org/officeDocument/2006/relationships/notesSlide" Target="/ppt/notesSlides/notesSlide31.xml" Id="R0b6d4cf669134d4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7eaa4069a8b4bfc" /><Relationship Type="http://schemas.openxmlformats.org/officeDocument/2006/relationships/notesSlide" Target="/ppt/notesSlides/notesSlide32.xml" Id="Rf458617ec95e4e7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db2a02aad0c4073" /><Relationship Type="http://schemas.openxmlformats.org/officeDocument/2006/relationships/chart" Target="/ppt/slides/charts/chart11.xml" Id="R5db8a819a183441a" /><Relationship Type="http://schemas.openxmlformats.org/officeDocument/2006/relationships/notesSlide" Target="/ppt/notesSlides/notesSlide33.xml" Id="Rf0b065f4b6394e6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17a7982e79c44d7" /><Relationship Type="http://schemas.openxmlformats.org/officeDocument/2006/relationships/notesSlide" Target="/ppt/notesSlides/notesSlide34.xml" Id="R94302ad48c50405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39ec4adcf714d0c" /><Relationship Type="http://schemas.openxmlformats.org/officeDocument/2006/relationships/notesSlide" Target="/ppt/notesSlides/notesSlide35.xml" Id="R0cfc76e7792a443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e6b863611844883" /><Relationship Type="http://schemas.openxmlformats.org/officeDocument/2006/relationships/chart" Target="/ppt/slides/charts/chart12.xml" Id="R1f13e1545ea748e5" /><Relationship Type="http://schemas.openxmlformats.org/officeDocument/2006/relationships/notesSlide" Target="/ppt/notesSlides/notesSlide36.xml" Id="R8244d845897f489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629a7a83e5e4cd7" /><Relationship Type="http://schemas.openxmlformats.org/officeDocument/2006/relationships/notesSlide" Target="/ppt/notesSlides/notesSlide37.xml" Id="R337534921820444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d02ee3c4d624c31" /><Relationship Type="http://schemas.openxmlformats.org/officeDocument/2006/relationships/chart" Target="/ppt/slides/charts/chart13.xml" Id="Rf1699c93c5424e62" /><Relationship Type="http://schemas.openxmlformats.org/officeDocument/2006/relationships/notesSlide" Target="/ppt/notesSlides/notesSlide38.xml" Id="Rcdb99dd3411e4aa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42c8ddf79c54ee1" /><Relationship Type="http://schemas.openxmlformats.org/officeDocument/2006/relationships/notesSlide" Target="/ppt/notesSlides/notesSlide39.xml" Id="Ra260d87eb09b488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546faebb74f4980" /><Relationship Type="http://schemas.openxmlformats.org/officeDocument/2006/relationships/notesSlide" Target="/ppt/notesSlides/notesSlide40.xml" Id="R311e2a5eecb44b3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0c92c79ab854cf6" /><Relationship Type="http://schemas.openxmlformats.org/officeDocument/2006/relationships/notesSlide" Target="/ppt/notesSlides/notesSlide41.xml" Id="Rc20cd1996e5e4ec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3a543c3e5ad47cf" /><Relationship Type="http://schemas.openxmlformats.org/officeDocument/2006/relationships/notesSlide" Target="/ppt/notesSlides/notesSlide42.xml" Id="Rdf995d4e90184e7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bbf52abcc88745ff" /><Relationship Type="http://schemas.openxmlformats.org/officeDocument/2006/relationships/chart" Target="/ppt/slides/charts/chart14.xml" Id="R00b8b9514855439b" /><Relationship Type="http://schemas.openxmlformats.org/officeDocument/2006/relationships/notesSlide" Target="/ppt/notesSlides/notesSlide43.xml" Id="Re41f82506b084e0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1951df0364f9451a" /><Relationship Type="http://schemas.openxmlformats.org/officeDocument/2006/relationships/notesSlide" Target="/ppt/notesSlides/notesSlide44.xml" Id="R76914c7b4c084be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21fc30b008d248b3" /><Relationship Type="http://schemas.openxmlformats.org/officeDocument/2006/relationships/notesSlide" Target="/ppt/notesSlides/notesSlide45.xml" Id="R438a360807d24f2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04ffbe56feff449f" /><Relationship Type="http://schemas.openxmlformats.org/officeDocument/2006/relationships/notesSlide" Target="/ppt/notesSlides/notesSlide46.xml" Id="R8ba753d64a034d5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e0b254560a4a4750" /><Relationship Type="http://schemas.openxmlformats.org/officeDocument/2006/relationships/notesSlide" Target="/ppt/notesSlides/notesSlide47.xml" Id="R57d171b61f2d4c0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26d2264c043942e4" /><Relationship Type="http://schemas.openxmlformats.org/officeDocument/2006/relationships/notesSlide" Target="/ppt/notesSlides/notesSlide48.xml" Id="R5923b95b7544441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06f23a7f6f794469" /><Relationship Type="http://schemas.openxmlformats.org/officeDocument/2006/relationships/notesSlide" Target="/ppt/notesSlides/notesSlide49.xml" Id="R426a2df3bbe04ea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21a7d907f9244b75" /><Relationship Type="http://schemas.openxmlformats.org/officeDocument/2006/relationships/notesSlide" Target="/ppt/notesSlides/notesSlide50.xml" Id="Ra3379c2bc7e345e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431591604f6496a" /><Relationship Type="http://schemas.openxmlformats.org/officeDocument/2006/relationships/notesSlide" Target="/ppt/notesSlides/notesSlide51.xml" Id="Rcdb53321aacc496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5a8fddab8a4148c0" /><Relationship Type="http://schemas.openxmlformats.org/officeDocument/2006/relationships/notesSlide" Target="/ppt/notesSlides/notesSlide52.xml" Id="R161b02b2990c48f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d6f8e16b93eb43f0" /><Relationship Type="http://schemas.openxmlformats.org/officeDocument/2006/relationships/notesSlide" Target="/ppt/notesSlides/notesSlide53.xml" Id="R9d79c5a1dba0455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0e4ff6edd2a04b29" /><Relationship Type="http://schemas.openxmlformats.org/officeDocument/2006/relationships/notesSlide" Target="/ppt/notesSlides/notesSlide54.xml" Id="R321250d2478b4f83"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d821be86babb49fe" /><Relationship Type="http://schemas.openxmlformats.org/officeDocument/2006/relationships/notesSlide" Target="/ppt/notesSlides/notesSlide55.xml" Id="Rb09cf11f1ce0489d"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049752a7e22d4e2e" /><Relationship Type="http://schemas.openxmlformats.org/officeDocument/2006/relationships/notesSlide" Target="/ppt/notesSlides/notesSlide56.xml" Id="R751e647caac14da2"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6e182980c7d44d66" /><Relationship Type="http://schemas.openxmlformats.org/officeDocument/2006/relationships/notesSlide" Target="/ppt/notesSlides/notesSlide57.xml" Id="Rbe0275fce1bb422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3333bde451e24a50" /><Relationship Type="http://schemas.openxmlformats.org/officeDocument/2006/relationships/notesSlide" Target="/ppt/notesSlides/notesSlide58.xml" Id="R95ad29ee993b452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Illustrative contribution to NGR ($m)</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barChart>
        <c:barDir val="col"/>
        <c:grouping val="clustered"/>
        <c:varyColors val="0"/>
        <c:ser>
          <c:idx val="0"/>
          <c:order val="0"/>
          <c:tx>
            <c:v>Contribution</c:v>
          </c:tx>
          <c:spPr>
            <a:solidFill xmlns:a="http://schemas.openxmlformats.org/drawingml/2006/main">
              <a:srgbClr val="008B68"/>
            </a:solidFill>
            <a:ln xmlns:a="http://schemas.openxmlformats.org/drawingml/2006/main" w="0">
              <a:solidFill>
                <a:srgbClr val="008B68"/>
              </a:solidFill>
            </a:ln>
          </c:spPr>
          <c:invertIfNegative val="0"/>
          <c:cat>
            <c:strRef>
              <c:f>'Chart Data'!$A$2:$A$7</c:f>
              <c:strCache>
                <c:ptCount val="6"/>
                <c:pt idx="0">
                  <c:v>Base</c:v>
                </c:pt>
                <c:pt idx="1">
                  <c:v>Media</c:v>
                </c:pt>
                <c:pt idx="2">
                  <c:v>Seasonality</c:v>
                </c:pt>
                <c:pt idx="3">
                  <c:v>Events</c:v>
                </c:pt>
                <c:pt idx="4">
                  <c:v>Product / CRM</c:v>
                </c:pt>
                <c:pt idx="5">
                  <c:v>Competition</c:v>
                </c:pt>
              </c:strCache>
            </c:strRef>
          </c:cat>
          <c:val>
            <c:numRef>
              <c:f>'Chart Data'!$B$2:$B$7</c:f>
              <c:numCache>
                <c:formatCode>0.00</c:formatCode>
                <c:ptCount val="6"/>
                <c:pt idx="0">
                  <c:v>8</c:v>
                </c:pt>
                <c:pt idx="1">
                  <c:v>8.12</c:v>
                </c:pt>
                <c:pt idx="2">
                  <c:v>2</c:v>
                </c:pt>
                <c:pt idx="3">
                  <c:v>1.5</c:v>
                </c:pt>
                <c:pt idx="4">
                  <c:v>1.18</c:v>
                </c:pt>
                <c:pt idx="5">
                  <c:v>-0.8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a:solidFill>
                    <a:srgbClr val="14283A"/>
                  </a:solidFill>
                  <a:latin typeface="Aptos"/>
                  <a:ea typeface="Aptos"/>
                  <a:cs typeface="Aptos"/>
                </a:defRPr>
              </a:pPr>
            </a:p>
          </c:txPr>
          <c:dLblPos val="outEnd"/>
          <c:showLegendKey val="0"/>
          <c:showVal val="1"/>
          <c:showCatName val="0"/>
          <c:showSerName val="0"/>
          <c:showPercent val="0"/>
          <c:showBubbleSize val="0"/>
          <c:showLeaderLines val="0"/>
        </c:dLbls>
        <c:gapWidth val="7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in val="-1"/>
        </c:scaling>
        <c:delete val="0"/>
        <c:axPos val="l"/>
        <c:majorGridlines>
          <c:spPr>
            <a:ln xmlns:a="http://schemas.openxmlformats.org/drawingml/2006/main" w="4763">
              <a:solidFill>
                <a:srgbClr val="DBE4E8"/>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Spend and model-attributed NGR ($m)</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barChart>
        <c:barDir val="col"/>
        <c:grouping val="clustered"/>
        <c:varyColors val="0"/>
        <c:ser>
          <c:idx val="0"/>
          <c:order val="0"/>
          <c:tx>
            <c:v>Spend</c:v>
          </c:tx>
          <c:spPr>
            <a:solidFill xmlns:a="http://schemas.openxmlformats.org/drawingml/2006/main">
              <a:srgbClr val="008B68"/>
            </a:solidFill>
            <a:ln xmlns:a="http://schemas.openxmlformats.org/drawingml/2006/main" w="0">
              <a:solidFill>
                <a:srgbClr val="008B68"/>
              </a:solidFill>
            </a:ln>
          </c:spPr>
          <c:invertIfNegative val="0"/>
          <c:cat>
            <c:strRef>
              <c:f>'Chart Data'!$A$2:$A$7</c:f>
              <c:strCache>
                <c:ptCount val="6"/>
                <c:pt idx="0">
                  <c:v>Search</c:v>
                </c:pt>
                <c:pt idx="1">
                  <c:v>Paid social</c:v>
                </c:pt>
                <c:pt idx="2">
                  <c:v>Video</c:v>
                </c:pt>
                <c:pt idx="3">
                  <c:v>Regional</c:v>
                </c:pt>
                <c:pt idx="4">
                  <c:v>Creators</c:v>
                </c:pt>
                <c:pt idx="5">
                  <c:v>Affiliates</c:v>
                </c:pt>
              </c:strCache>
            </c:strRef>
          </c:cat>
          <c:val>
            <c:numRef>
              <c:f>'Chart Data'!$B$2:$B$7</c:f>
              <c:numCache>
                <c:formatCode>0.00</c:formatCode>
                <c:ptCount val="6"/>
                <c:pt idx="0">
                  <c:v>1.2</c:v>
                </c:pt>
                <c:pt idx="1">
                  <c:v>0.9</c:v>
                </c:pt>
                <c:pt idx="2">
                  <c:v>0.7</c:v>
                </c:pt>
                <c:pt idx="3">
                  <c:v>0.5</c:v>
                </c:pt>
                <c:pt idx="4">
                  <c:v>0.4</c:v>
                </c:pt>
                <c:pt idx="5">
                  <c:v>0.3</c:v>
                </c:pt>
              </c:numCache>
            </c:numRef>
          </c:val>
        </c:ser>
        <c:ser>
          <c:idx val="1"/>
          <c:order val="1"/>
          <c:tx>
            <c:v>Attributed NGR</c:v>
          </c:tx>
          <c:spPr>
            <a:solidFill xmlns:a="http://schemas.openxmlformats.org/drawingml/2006/main">
              <a:srgbClr val="5B7FAB"/>
            </a:solidFill>
            <a:ln xmlns:a="http://schemas.openxmlformats.org/drawingml/2006/main" w="0">
              <a:solidFill>
                <a:srgbClr val="5B7FAB"/>
              </a:solidFill>
            </a:ln>
          </c:spPr>
          <c:invertIfNegative val="0"/>
          <c:cat>
            <c:strRef>
              <c:f>'Chart Data'!$C$2:$C$7</c:f>
              <c:strCache>
                <c:ptCount val="6"/>
                <c:pt idx="0">
                  <c:v>Search</c:v>
                </c:pt>
                <c:pt idx="1">
                  <c:v>Paid social</c:v>
                </c:pt>
                <c:pt idx="2">
                  <c:v>Video</c:v>
                </c:pt>
                <c:pt idx="3">
                  <c:v>Regional</c:v>
                </c:pt>
                <c:pt idx="4">
                  <c:v>Creators</c:v>
                </c:pt>
                <c:pt idx="5">
                  <c:v>Affiliates</c:v>
                </c:pt>
              </c:strCache>
            </c:strRef>
          </c:cat>
          <c:val>
            <c:numRef>
              <c:f>'Chart Data'!$D$2:$D$7</c:f>
              <c:numCache>
                <c:formatCode>0.00</c:formatCode>
                <c:ptCount val="6"/>
                <c:pt idx="0">
                  <c:v>3.12</c:v>
                </c:pt>
                <c:pt idx="1">
                  <c:v>1.08</c:v>
                </c:pt>
                <c:pt idx="2">
                  <c:v>1.4</c:v>
                </c:pt>
                <c:pt idx="3">
                  <c:v>1.2</c:v>
                </c:pt>
                <c:pt idx="4">
                  <c:v>0.96</c:v>
                </c:pt>
                <c:pt idx="5">
                  <c:v>0.36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a:solidFill>
                    <a:srgbClr val="14283A"/>
                  </a:solidFill>
                  <a:latin typeface="Aptos"/>
                  <a:ea typeface="Aptos"/>
                  <a:cs typeface="Aptos"/>
                </a:defRPr>
              </a:pPr>
            </a:p>
          </c:txPr>
          <c:dLblPos val="outEnd"/>
          <c:showLegendKey val="0"/>
          <c:showVal val="1"/>
          <c:showCatName val="0"/>
          <c:showSerName val="0"/>
          <c:showPercent val="0"/>
          <c:showBubbleSize val="0"/>
          <c:showLeaderLines val="0"/>
        </c:dLbls>
        <c:gapWidth val="7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in val="0"/>
        </c:scaling>
        <c:delete val="0"/>
        <c:axPos val="l"/>
        <c:majorGridlines>
          <c:spPr>
            <a:ln xmlns:a="http://schemas.openxmlformats.org/drawingml/2006/main" w="4763">
              <a:solidFill>
                <a:srgbClr val="DBE4E8"/>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83A"/>
              </a:solidFill>
              <a:latin typeface="Aptos"/>
              <a:ea typeface="Aptos"/>
              <a:cs typeface="Aptos"/>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Average versus marginal NGR return per $1</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barChart>
        <c:barDir val="col"/>
        <c:grouping val="clustered"/>
        <c:varyColors val="0"/>
        <c:ser>
          <c:idx val="0"/>
          <c:order val="0"/>
          <c:tx>
            <c:v>Average</c:v>
          </c:tx>
          <c:spPr>
            <a:solidFill xmlns:a="http://schemas.openxmlformats.org/drawingml/2006/main">
              <a:srgbClr val="008B68"/>
            </a:solidFill>
            <a:ln xmlns:a="http://schemas.openxmlformats.org/drawingml/2006/main" w="0">
              <a:solidFill>
                <a:srgbClr val="008B68"/>
              </a:solidFill>
            </a:ln>
          </c:spPr>
          <c:invertIfNegative val="0"/>
          <c:cat>
            <c:strRef>
              <c:f>'Chart Data'!$A$2:$A$7</c:f>
              <c:strCache>
                <c:ptCount val="6"/>
                <c:pt idx="0">
                  <c:v>Search</c:v>
                </c:pt>
                <c:pt idx="1">
                  <c:v>Paid social</c:v>
                </c:pt>
                <c:pt idx="2">
                  <c:v>Video</c:v>
                </c:pt>
                <c:pt idx="3">
                  <c:v>Regional</c:v>
                </c:pt>
                <c:pt idx="4">
                  <c:v>Creators</c:v>
                </c:pt>
                <c:pt idx="5">
                  <c:v>Affiliates</c:v>
                </c:pt>
              </c:strCache>
            </c:strRef>
          </c:cat>
          <c:val>
            <c:numRef>
              <c:f>'Chart Data'!$B$2:$B$7</c:f>
              <c:numCache>
                <c:formatCode>0.0"×"</c:formatCode>
                <c:ptCount val="6"/>
                <c:pt idx="0">
                  <c:v>2.6</c:v>
                </c:pt>
                <c:pt idx="1">
                  <c:v>1.2</c:v>
                </c:pt>
                <c:pt idx="2">
                  <c:v>2</c:v>
                </c:pt>
                <c:pt idx="3">
                  <c:v>2.4</c:v>
                </c:pt>
                <c:pt idx="4">
                  <c:v>2.4</c:v>
                </c:pt>
                <c:pt idx="5">
                  <c:v>1.2</c:v>
                </c:pt>
              </c:numCache>
            </c:numRef>
          </c:val>
        </c:ser>
        <c:ser>
          <c:idx val="1"/>
          <c:order val="1"/>
          <c:tx>
            <c:v>Marginal</c:v>
          </c:tx>
          <c:spPr>
            <a:solidFill xmlns:a="http://schemas.openxmlformats.org/drawingml/2006/main">
              <a:srgbClr val="5B7FAB"/>
            </a:solidFill>
            <a:ln xmlns:a="http://schemas.openxmlformats.org/drawingml/2006/main" w="0">
              <a:solidFill>
                <a:srgbClr val="5B7FAB"/>
              </a:solidFill>
            </a:ln>
          </c:spPr>
          <c:invertIfNegative val="0"/>
          <c:cat>
            <c:strRef>
              <c:f>'Chart Data'!$C$2:$C$7</c:f>
              <c:strCache>
                <c:ptCount val="6"/>
                <c:pt idx="0">
                  <c:v>Search</c:v>
                </c:pt>
                <c:pt idx="1">
                  <c:v>Paid social</c:v>
                </c:pt>
                <c:pt idx="2">
                  <c:v>Video</c:v>
                </c:pt>
                <c:pt idx="3">
                  <c:v>Regional</c:v>
                </c:pt>
                <c:pt idx="4">
                  <c:v>Creators</c:v>
                </c:pt>
                <c:pt idx="5">
                  <c:v>Affiliates</c:v>
                </c:pt>
              </c:strCache>
            </c:strRef>
          </c:cat>
          <c:val>
            <c:numRef>
              <c:f>'Chart Data'!$D$2:$D$7</c:f>
              <c:numCache>
                <c:formatCode>0.0"×"</c:formatCode>
                <c:ptCount val="6"/>
                <c:pt idx="0">
                  <c:v>1.8</c:v>
                </c:pt>
                <c:pt idx="1">
                  <c:v>0.7</c:v>
                </c:pt>
                <c:pt idx="2">
                  <c:v>1.5</c:v>
                </c:pt>
                <c:pt idx="3">
                  <c:v>1.9</c:v>
                </c:pt>
                <c:pt idx="4">
                  <c:v>1.7</c:v>
                </c:pt>
                <c:pt idx="5">
                  <c:v>0.4</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275">
                  <a:solidFill>
                    <a:srgbClr val="14283A"/>
                  </a:solidFill>
                  <a:latin typeface="Aptos"/>
                  <a:ea typeface="Aptos"/>
                  <a:cs typeface="Aptos"/>
                </a:defRPr>
              </a:pPr>
            </a:p>
          </c:txPr>
          <c:dLblPos val="outEnd"/>
          <c:showLegendKey val="0"/>
          <c:showVal val="1"/>
          <c:showCatName val="0"/>
          <c:showSerName val="0"/>
          <c:showPercent val="0"/>
          <c:showBubbleSize val="0"/>
          <c:showLeaderLines val="0"/>
        </c:dLbls>
        <c:gapWidth val="7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in val="0"/>
        </c:scaling>
        <c:delete val="0"/>
        <c:axPos val="l"/>
        <c:majorGridlines>
          <c:spPr>
            <a:ln xmlns:a="http://schemas.openxmlformats.org/drawingml/2006/main" w="4763">
              <a:solidFill>
                <a:srgbClr val="DBE4E8"/>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83A"/>
              </a:solidFill>
              <a:latin typeface="Aptos"/>
              <a:ea typeface="Aptos"/>
              <a:cs typeface="Aptos"/>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Synthetic holdout quarter: NGR ($m)</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lineChart>
        <c:grouping val="standard"/>
        <c:varyColors val="0"/>
        <c:ser>
          <c:idx val="0"/>
          <c:order val="0"/>
          <c:tx>
            <c:v>Observed</c:v>
          </c:tx>
          <c:spPr>
            <a:solidFill xmlns:a="http://schemas.openxmlformats.org/drawingml/2006/main">
              <a:srgbClr val="008B68"/>
            </a:solidFill>
            <a:ln xmlns:a="http://schemas.openxmlformats.org/drawingml/2006/main" w="28575">
              <a:solidFill>
                <a:srgbClr val="008B68"/>
              </a:solidFill>
            </a:ln>
          </c:spPr>
          <c:marker>
            <c:symbol val="circle"/>
            <c:size val="5"/>
            <c:spPr>
              <a:solidFill xmlns:a="http://schemas.openxmlformats.org/drawingml/2006/main">
                <a:srgbClr val="008B68"/>
              </a:solidFill>
            </c:spPr>
          </c:marker>
          <c:cat>
            <c:strRef>
              <c:f>'Chart Data'!$A$2:$A$14</c:f>
              <c:strCache>
                <c:ptCount val="13"/>
                <c:pt idx="0">
                  <c:v>W1</c:v>
                </c:pt>
                <c:pt idx="1">
                  <c:v>W2</c:v>
                </c:pt>
                <c:pt idx="2">
                  <c:v>W3</c:v>
                </c:pt>
                <c:pt idx="3">
                  <c:v>W4</c:v>
                </c:pt>
                <c:pt idx="4">
                  <c:v>W5</c:v>
                </c:pt>
                <c:pt idx="5">
                  <c:v>W6</c:v>
                </c:pt>
                <c:pt idx="6">
                  <c:v>W7</c:v>
                </c:pt>
                <c:pt idx="7">
                  <c:v>W8</c:v>
                </c:pt>
                <c:pt idx="8">
                  <c:v>W9</c:v>
                </c:pt>
                <c:pt idx="9">
                  <c:v>W10</c:v>
                </c:pt>
                <c:pt idx="10">
                  <c:v>W11</c:v>
                </c:pt>
                <c:pt idx="11">
                  <c:v>W12</c:v>
                </c:pt>
                <c:pt idx="12">
                  <c:v>W13</c:v>
                </c:pt>
              </c:strCache>
            </c:strRef>
          </c:cat>
          <c:val>
            <c:numRef>
              <c:f>'Chart Data'!$B$2:$B$14</c:f>
              <c:numCache>
                <c:formatCode>0.00</c:formatCode>
                <c:ptCount val="13"/>
                <c:pt idx="0">
                  <c:v>1.25</c:v>
                </c:pt>
                <c:pt idx="1">
                  <c:v>1.35</c:v>
                </c:pt>
                <c:pt idx="2">
                  <c:v>1.4</c:v>
                </c:pt>
                <c:pt idx="3">
                  <c:v>1.45</c:v>
                </c:pt>
                <c:pt idx="4">
                  <c:v>1.5</c:v>
                </c:pt>
                <c:pt idx="5">
                  <c:v>1.55</c:v>
                </c:pt>
                <c:pt idx="6">
                  <c:v>1.65</c:v>
                </c:pt>
                <c:pt idx="7">
                  <c:v>1.8</c:v>
                </c:pt>
                <c:pt idx="8">
                  <c:v>1.7</c:v>
                </c:pt>
                <c:pt idx="9">
                  <c:v>1.6</c:v>
                </c:pt>
                <c:pt idx="10">
                  <c:v>1.55</c:v>
                </c:pt>
                <c:pt idx="11">
                  <c:v>1.6</c:v>
                </c:pt>
                <c:pt idx="12">
                  <c:v>1.6</c:v>
                </c:pt>
              </c:numCache>
            </c:numRef>
          </c:val>
        </c:ser>
        <c:ser>
          <c:idx val="1"/>
          <c:order val="1"/>
          <c:tx>
            <c:v>Predicted</c:v>
          </c:tx>
          <c:spPr>
            <a:solidFill xmlns:a="http://schemas.openxmlformats.org/drawingml/2006/main">
              <a:srgbClr val="5B7FAB"/>
            </a:solidFill>
            <a:ln xmlns:a="http://schemas.openxmlformats.org/drawingml/2006/main" w="28575">
              <a:solidFill>
                <a:srgbClr val="5B7FAB"/>
              </a:solidFill>
            </a:ln>
          </c:spPr>
          <c:marker>
            <c:symbol val="circle"/>
            <c:size val="5"/>
            <c:spPr>
              <a:solidFill xmlns:a="http://schemas.openxmlformats.org/drawingml/2006/main">
                <a:srgbClr val="5B7FAB"/>
              </a:solidFill>
            </c:spPr>
          </c:marker>
          <c:cat>
            <c:strRef>
              <c:f>'Chart Data'!$C$2:$C$14</c:f>
              <c:strCache>
                <c:ptCount val="13"/>
                <c:pt idx="0">
                  <c:v>W1</c:v>
                </c:pt>
                <c:pt idx="1">
                  <c:v>W2</c:v>
                </c:pt>
                <c:pt idx="2">
                  <c:v>W3</c:v>
                </c:pt>
                <c:pt idx="3">
                  <c:v>W4</c:v>
                </c:pt>
                <c:pt idx="4">
                  <c:v>W5</c:v>
                </c:pt>
                <c:pt idx="5">
                  <c:v>W6</c:v>
                </c:pt>
                <c:pt idx="6">
                  <c:v>W7</c:v>
                </c:pt>
                <c:pt idx="7">
                  <c:v>W8</c:v>
                </c:pt>
                <c:pt idx="8">
                  <c:v>W9</c:v>
                </c:pt>
                <c:pt idx="9">
                  <c:v>W10</c:v>
                </c:pt>
                <c:pt idx="10">
                  <c:v>W11</c:v>
                </c:pt>
                <c:pt idx="11">
                  <c:v>W12</c:v>
                </c:pt>
                <c:pt idx="12">
                  <c:v>W13</c:v>
                </c:pt>
              </c:strCache>
            </c:strRef>
          </c:cat>
          <c:val>
            <c:numRef>
              <c:f>'Chart Data'!$D$2:$D$14</c:f>
              <c:numCache>
                <c:formatCode>0.00</c:formatCode>
                <c:ptCount val="13"/>
                <c:pt idx="0">
                  <c:v>1.28</c:v>
                </c:pt>
                <c:pt idx="1">
                  <c:v>1.31</c:v>
                </c:pt>
                <c:pt idx="2">
                  <c:v>1.43</c:v>
                </c:pt>
                <c:pt idx="3">
                  <c:v>1.42</c:v>
                </c:pt>
                <c:pt idx="4">
                  <c:v>1.54</c:v>
                </c:pt>
                <c:pt idx="5">
                  <c:v>1.5</c:v>
                </c:pt>
                <c:pt idx="6">
                  <c:v>1.7</c:v>
                </c:pt>
                <c:pt idx="7">
                  <c:v>1.74</c:v>
                </c:pt>
                <c:pt idx="8">
                  <c:v>1.76</c:v>
                </c:pt>
                <c:pt idx="9">
                  <c:v>1.56</c:v>
                </c:pt>
                <c:pt idx="10">
                  <c:v>1.59</c:v>
                </c:pt>
                <c:pt idx="11">
                  <c:v>1.55</c:v>
                </c:pt>
                <c:pt idx="12">
                  <c:v>1.62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a:solidFill>
                    <a:srgbClr val="14283A"/>
                  </a:solidFill>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in val="0"/>
        </c:scaling>
        <c:delete val="0"/>
        <c:axPos val="l"/>
        <c:majorGridlines>
          <c:spPr>
            <a:ln xmlns:a="http://schemas.openxmlformats.org/drawingml/2006/main" w="4763">
              <a:solidFill>
                <a:srgbClr val="DBE4E8"/>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83A"/>
              </a:solidFill>
              <a:latin typeface="Aptos"/>
              <a:ea typeface="Aptos"/>
              <a:cs typeface="Aptos"/>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Predicted minus observed NGR ($m)</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barChart>
        <c:barDir val="col"/>
        <c:grouping val="clustered"/>
        <c:varyColors val="0"/>
        <c:ser>
          <c:idx val="0"/>
          <c:order val="0"/>
          <c:tx>
            <c:v>Residual</c:v>
          </c:tx>
          <c:spPr>
            <a:solidFill xmlns:a="http://schemas.openxmlformats.org/drawingml/2006/main">
              <a:srgbClr val="008B68"/>
            </a:solidFill>
            <a:ln xmlns:a="http://schemas.openxmlformats.org/drawingml/2006/main" w="0">
              <a:solidFill>
                <a:srgbClr val="008B68"/>
              </a:solidFill>
            </a:ln>
          </c:spPr>
          <c:invertIfNegative val="0"/>
          <c:cat>
            <c:strRef>
              <c:f>'Chart Data'!$A$2:$A$14</c:f>
              <c:strCache>
                <c:ptCount val="13"/>
                <c:pt idx="0">
                  <c:v>W1</c:v>
                </c:pt>
                <c:pt idx="1">
                  <c:v>W2</c:v>
                </c:pt>
                <c:pt idx="2">
                  <c:v>W3</c:v>
                </c:pt>
                <c:pt idx="3">
                  <c:v>W4</c:v>
                </c:pt>
                <c:pt idx="4">
                  <c:v>W5</c:v>
                </c:pt>
                <c:pt idx="5">
                  <c:v>W6</c:v>
                </c:pt>
                <c:pt idx="6">
                  <c:v>W7</c:v>
                </c:pt>
                <c:pt idx="7">
                  <c:v>W8</c:v>
                </c:pt>
                <c:pt idx="8">
                  <c:v>W9</c:v>
                </c:pt>
                <c:pt idx="9">
                  <c:v>W10</c:v>
                </c:pt>
                <c:pt idx="10">
                  <c:v>W11</c:v>
                </c:pt>
                <c:pt idx="11">
                  <c:v>W12</c:v>
                </c:pt>
                <c:pt idx="12">
                  <c:v>W13</c:v>
                </c:pt>
              </c:strCache>
            </c:strRef>
          </c:cat>
          <c:val>
            <c:numRef>
              <c:f>'Chart Data'!$B$2:$B$14</c:f>
              <c:numCache>
                <c:formatCode>0.00</c:formatCode>
                <c:ptCount val="13"/>
                <c:pt idx="0">
                  <c:v>0.03</c:v>
                </c:pt>
                <c:pt idx="1">
                  <c:v>-0.04</c:v>
                </c:pt>
                <c:pt idx="2">
                  <c:v>0.03</c:v>
                </c:pt>
                <c:pt idx="3">
                  <c:v>-0.03</c:v>
                </c:pt>
                <c:pt idx="4">
                  <c:v>0.04</c:v>
                </c:pt>
                <c:pt idx="5">
                  <c:v>-0.05</c:v>
                </c:pt>
                <c:pt idx="6">
                  <c:v>0.05</c:v>
                </c:pt>
                <c:pt idx="7">
                  <c:v>-0.06</c:v>
                </c:pt>
                <c:pt idx="8">
                  <c:v>0.06</c:v>
                </c:pt>
                <c:pt idx="9">
                  <c:v>-0.04</c:v>
                </c:pt>
                <c:pt idx="10">
                  <c:v>0.04</c:v>
                </c:pt>
                <c:pt idx="11">
                  <c:v>-0.05</c:v>
                </c:pt>
                <c:pt idx="12">
                  <c:v>0.02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a:solidFill>
                    <a:srgbClr val="14283A"/>
                  </a:solidFill>
                  <a:latin typeface="Aptos"/>
                  <a:ea typeface="Aptos"/>
                  <a:cs typeface="Aptos"/>
                </a:defRPr>
              </a:pPr>
            </a:p>
          </c:txPr>
          <c:dLblPos val="outEnd"/>
          <c:showLegendKey val="0"/>
          <c:showVal val="1"/>
          <c:showCatName val="0"/>
          <c:showSerName val="0"/>
          <c:showPercent val="0"/>
          <c:showBubbleSize val="0"/>
          <c:showLeaderLines val="0"/>
        </c:dLbls>
        <c:gapWidth val="7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ax val="0.08"/>
          <c:min val="-0.08"/>
        </c:scaling>
        <c:delete val="0"/>
        <c:axPos val="l"/>
        <c:majorGridlines>
          <c:spPr>
            <a:ln xmlns:a="http://schemas.openxmlformats.org/drawingml/2006/main" w="4763">
              <a:solidFill>
                <a:srgbClr val="DBE4E8"/>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Illustrative remaining effect after one exposure (%)</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lineChart>
        <c:grouping val="standard"/>
        <c:varyColors val="0"/>
        <c:ser>
          <c:idx val="0"/>
          <c:order val="0"/>
          <c:tx>
            <c:v>Short carryover</c:v>
          </c:tx>
          <c:spPr>
            <a:solidFill xmlns:a="http://schemas.openxmlformats.org/drawingml/2006/main">
              <a:srgbClr val="008B68"/>
            </a:solidFill>
            <a:ln xmlns:a="http://schemas.openxmlformats.org/drawingml/2006/main" w="28575">
              <a:solidFill>
                <a:srgbClr val="008B68"/>
              </a:solidFill>
            </a:ln>
          </c:spPr>
          <c:marker>
            <c:symbol val="circle"/>
            <c:size val="5"/>
            <c:spPr>
              <a:solidFill xmlns:a="http://schemas.openxmlformats.org/drawingml/2006/main">
                <a:srgbClr val="008B68"/>
              </a:solidFill>
            </c:spPr>
          </c:marker>
          <c:cat>
            <c:strRef>
              <c:f>'Chart Data'!$A$2:$A$7</c:f>
              <c:strCache>
                <c:ptCount val="6"/>
                <c:pt idx="0">
                  <c:v>Week 0</c:v>
                </c:pt>
                <c:pt idx="1">
                  <c:v>Week 1</c:v>
                </c:pt>
                <c:pt idx="2">
                  <c:v>Week 2</c:v>
                </c:pt>
                <c:pt idx="3">
                  <c:v>Week 3</c:v>
                </c:pt>
                <c:pt idx="4">
                  <c:v>Week 4</c:v>
                </c:pt>
                <c:pt idx="5">
                  <c:v>Week 5</c:v>
                </c:pt>
              </c:strCache>
            </c:strRef>
          </c:cat>
          <c:val>
            <c:numRef>
              <c:f>'Chart Data'!$B$2:$B$7</c:f>
              <c:numCache>
                <c:formatCode>0.0</c:formatCode>
                <c:ptCount val="6"/>
                <c:pt idx="0">
                  <c:v>100</c:v>
                </c:pt>
                <c:pt idx="1">
                  <c:v>30</c:v>
                </c:pt>
                <c:pt idx="2">
                  <c:v>9</c:v>
                </c:pt>
                <c:pt idx="3">
                  <c:v>2.7</c:v>
                </c:pt>
                <c:pt idx="4">
                  <c:v>0.81</c:v>
                </c:pt>
                <c:pt idx="5">
                  <c:v>0.243</c:v>
                </c:pt>
              </c:numCache>
            </c:numRef>
          </c:val>
        </c:ser>
        <c:ser>
          <c:idx val="1"/>
          <c:order val="1"/>
          <c:tx>
            <c:v>Long carryover</c:v>
          </c:tx>
          <c:spPr>
            <a:solidFill xmlns:a="http://schemas.openxmlformats.org/drawingml/2006/main">
              <a:srgbClr val="5B7FAB"/>
            </a:solidFill>
            <a:ln xmlns:a="http://schemas.openxmlformats.org/drawingml/2006/main" w="28575">
              <a:solidFill>
                <a:srgbClr val="5B7FAB"/>
              </a:solidFill>
            </a:ln>
          </c:spPr>
          <c:marker>
            <c:symbol val="circle"/>
            <c:size val="5"/>
            <c:spPr>
              <a:solidFill xmlns:a="http://schemas.openxmlformats.org/drawingml/2006/main">
                <a:srgbClr val="5B7FAB"/>
              </a:solidFill>
            </c:spPr>
          </c:marker>
          <c:cat>
            <c:strRef>
              <c:f>'Chart Data'!$C$2:$C$7</c:f>
              <c:strCache>
                <c:ptCount val="6"/>
                <c:pt idx="0">
                  <c:v>Week 0</c:v>
                </c:pt>
                <c:pt idx="1">
                  <c:v>Week 1</c:v>
                </c:pt>
                <c:pt idx="2">
                  <c:v>Week 2</c:v>
                </c:pt>
                <c:pt idx="3">
                  <c:v>Week 3</c:v>
                </c:pt>
                <c:pt idx="4">
                  <c:v>Week 4</c:v>
                </c:pt>
                <c:pt idx="5">
                  <c:v>Week 5</c:v>
                </c:pt>
              </c:strCache>
            </c:strRef>
          </c:cat>
          <c:val>
            <c:numRef>
              <c:f>'Chart Data'!$D$2:$D$7</c:f>
              <c:numCache>
                <c:formatCode>0.0</c:formatCode>
                <c:ptCount val="6"/>
                <c:pt idx="0">
                  <c:v>100</c:v>
                </c:pt>
                <c:pt idx="1">
                  <c:v>70</c:v>
                </c:pt>
                <c:pt idx="2">
                  <c:v>49</c:v>
                </c:pt>
                <c:pt idx="3">
                  <c:v>34.3</c:v>
                </c:pt>
                <c:pt idx="4">
                  <c:v>24.01</c:v>
                </c:pt>
                <c:pt idx="5">
                  <c:v>16.807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75">
                  <a:solidFill>
                    <a:srgbClr val="14283A"/>
                  </a:solidFill>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ax val="100"/>
          <c:min val="0"/>
        </c:scaling>
        <c:delete val="0"/>
        <c:axPos val="l"/>
        <c:majorGridlines>
          <c:spPr>
            <a:ln xmlns:a="http://schemas.openxmlformats.org/drawingml/2006/main" w="4763">
              <a:solidFill>
                <a:srgbClr val="DB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83A"/>
              </a:solidFill>
              <a:latin typeface="Aptos"/>
              <a:ea typeface="Aptos"/>
              <a:cs typeface="Aptos"/>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Illustrative attributed NGR versus quarterly spend ($m)</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lineChart>
        <c:grouping val="standard"/>
        <c:varyColors val="0"/>
        <c:ser>
          <c:idx val="0"/>
          <c:order val="0"/>
          <c:tx>
            <c:v>Search</c:v>
          </c:tx>
          <c:spPr>
            <a:solidFill xmlns:a="http://schemas.openxmlformats.org/drawingml/2006/main">
              <a:srgbClr val="008B68"/>
            </a:solidFill>
            <a:ln xmlns:a="http://schemas.openxmlformats.org/drawingml/2006/main" w="28575">
              <a:solidFill>
                <a:srgbClr val="008B68"/>
              </a:solidFill>
            </a:ln>
          </c:spPr>
          <c:marker>
            <c:symbol val="circle"/>
            <c:size val="5"/>
            <c:spPr>
              <a:solidFill xmlns:a="http://schemas.openxmlformats.org/drawingml/2006/main">
                <a:srgbClr val="008B68"/>
              </a:solidFill>
            </c:spPr>
          </c:marker>
          <c:cat>
            <c:numRef>
              <c:f>'Chart Data'!$A$2:$A$8</c:f>
              <c:numCache>
                <c:formatCode>General</c:formatCode>
                <c:ptCount val="7"/>
                <c:pt idx="0">
                  <c:v>0</c:v>
                </c:pt>
                <c:pt idx="1">
                  <c:v>0.3</c:v>
                </c:pt>
                <c:pt idx="2">
                  <c:v>0.6</c:v>
                </c:pt>
                <c:pt idx="3">
                  <c:v>0.9</c:v>
                </c:pt>
                <c:pt idx="4">
                  <c:v>1.2</c:v>
                </c:pt>
                <c:pt idx="5">
                  <c:v>1.5</c:v>
                </c:pt>
                <c:pt idx="6">
                  <c:v>1.8</c:v>
                </c:pt>
              </c:numCache>
            </c:numRef>
          </c:cat>
          <c:val>
            <c:numRef>
              <c:f>'Chart Data'!$B$2:$B$8</c:f>
              <c:numCache>
                <c:formatCode>0.0</c:formatCode>
                <c:ptCount val="7"/>
                <c:pt idx="0">
                  <c:v>0</c:v>
                </c:pt>
                <c:pt idx="1">
                  <c:v>1.023</c:v>
                </c:pt>
                <c:pt idx="2">
                  <c:v>1.848</c:v>
                </c:pt>
                <c:pt idx="3">
                  <c:v>2.535</c:v>
                </c:pt>
                <c:pt idx="4">
                  <c:v>3.12</c:v>
                </c:pt>
                <c:pt idx="5">
                  <c:v>3.624</c:v>
                </c:pt>
                <c:pt idx="6">
                  <c:v>4.063</c:v>
                </c:pt>
              </c:numCache>
            </c:numRef>
          </c:val>
        </c:ser>
        <c:ser>
          <c:idx val="1"/>
          <c:order val="1"/>
          <c:tx>
            <c:v>Paid social</c:v>
          </c:tx>
          <c:spPr>
            <a:solidFill xmlns:a="http://schemas.openxmlformats.org/drawingml/2006/main">
              <a:srgbClr val="5B7FAB"/>
            </a:solidFill>
            <a:ln xmlns:a="http://schemas.openxmlformats.org/drawingml/2006/main" w="28575">
              <a:solidFill>
                <a:srgbClr val="5B7FAB"/>
              </a:solidFill>
            </a:ln>
          </c:spPr>
          <c:marker>
            <c:symbol val="circle"/>
            <c:size val="5"/>
            <c:spPr>
              <a:solidFill xmlns:a="http://schemas.openxmlformats.org/drawingml/2006/main">
                <a:srgbClr val="5B7FAB"/>
              </a:solidFill>
            </c:spPr>
          </c:marker>
          <c:cat>
            <c:numRef>
              <c:f>'Chart Data'!$C$2:$C$8</c:f>
              <c:numCache>
                <c:formatCode>General</c:formatCode>
                <c:ptCount val="7"/>
                <c:pt idx="0">
                  <c:v>0</c:v>
                </c:pt>
                <c:pt idx="1">
                  <c:v>0.3</c:v>
                </c:pt>
                <c:pt idx="2">
                  <c:v>0.6</c:v>
                </c:pt>
                <c:pt idx="3">
                  <c:v>0.9</c:v>
                </c:pt>
                <c:pt idx="4">
                  <c:v>1.2</c:v>
                </c:pt>
                <c:pt idx="5">
                  <c:v>1.5</c:v>
                </c:pt>
                <c:pt idx="6">
                  <c:v>1.8</c:v>
                </c:pt>
              </c:numCache>
            </c:numRef>
          </c:cat>
          <c:val>
            <c:numRef>
              <c:f>'Chart Data'!$D$2:$D$8</c:f>
              <c:numCache>
                <c:formatCode>0.0</c:formatCode>
                <c:ptCount val="7"/>
                <c:pt idx="0">
                  <c:v>0</c:v>
                </c:pt>
                <c:pt idx="1">
                  <c:v>0.509</c:v>
                </c:pt>
                <c:pt idx="2">
                  <c:v>0.844</c:v>
                </c:pt>
                <c:pt idx="3">
                  <c:v>1.08</c:v>
                </c:pt>
                <c:pt idx="4">
                  <c:v>1.255</c:v>
                </c:pt>
                <c:pt idx="5">
                  <c:v>1.39</c:v>
                </c:pt>
                <c:pt idx="6">
                  <c:v>1.497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75">
                  <a:solidFill>
                    <a:srgbClr val="14283A"/>
                  </a:solidFill>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in val="0"/>
        </c:scaling>
        <c:delete val="0"/>
        <c:axPos val="l"/>
        <c:majorGridlines>
          <c:spPr>
            <a:ln xmlns:a="http://schemas.openxmlformats.org/drawingml/2006/main" w="4763">
              <a:solidFill>
                <a:srgbClr val="DB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83A"/>
              </a:solidFill>
              <a:latin typeface="Aptos"/>
              <a:ea typeface="Aptos"/>
              <a:cs typeface="Aptos"/>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Current and proposed quarterly media spend ($m)</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barChart>
        <c:barDir val="col"/>
        <c:grouping val="clustered"/>
        <c:varyColors val="0"/>
        <c:ser>
          <c:idx val="0"/>
          <c:order val="0"/>
          <c:tx>
            <c:v>Current</c:v>
          </c:tx>
          <c:spPr>
            <a:solidFill xmlns:a="http://schemas.openxmlformats.org/drawingml/2006/main">
              <a:srgbClr val="008B68"/>
            </a:solidFill>
            <a:ln xmlns:a="http://schemas.openxmlformats.org/drawingml/2006/main" w="0">
              <a:solidFill>
                <a:srgbClr val="008B68"/>
              </a:solidFill>
            </a:ln>
          </c:spPr>
          <c:invertIfNegative val="0"/>
          <c:cat>
            <c:strRef>
              <c:f>'Chart Data'!$A$2:$A$7</c:f>
              <c:strCache>
                <c:ptCount val="6"/>
                <c:pt idx="0">
                  <c:v>Search</c:v>
                </c:pt>
                <c:pt idx="1">
                  <c:v>Paid social</c:v>
                </c:pt>
                <c:pt idx="2">
                  <c:v>Video</c:v>
                </c:pt>
                <c:pt idx="3">
                  <c:v>Regional</c:v>
                </c:pt>
                <c:pt idx="4">
                  <c:v>Creators</c:v>
                </c:pt>
                <c:pt idx="5">
                  <c:v>Affiliates</c:v>
                </c:pt>
              </c:strCache>
            </c:strRef>
          </c:cat>
          <c:val>
            <c:numRef>
              <c:f>'Chart Data'!$B$2:$B$7</c:f>
              <c:numCache>
                <c:formatCode>0.00</c:formatCode>
                <c:ptCount val="6"/>
                <c:pt idx="0">
                  <c:v>1.2</c:v>
                </c:pt>
                <c:pt idx="1">
                  <c:v>0.9</c:v>
                </c:pt>
                <c:pt idx="2">
                  <c:v>0.7</c:v>
                </c:pt>
                <c:pt idx="3">
                  <c:v>0.5</c:v>
                </c:pt>
                <c:pt idx="4">
                  <c:v>0.4</c:v>
                </c:pt>
                <c:pt idx="5">
                  <c:v>0.3</c:v>
                </c:pt>
              </c:numCache>
            </c:numRef>
          </c:val>
        </c:ser>
        <c:ser>
          <c:idx val="1"/>
          <c:order val="1"/>
          <c:tx>
            <c:v>Plan</c:v>
          </c:tx>
          <c:spPr>
            <a:solidFill xmlns:a="http://schemas.openxmlformats.org/drawingml/2006/main">
              <a:srgbClr val="5B7FAB"/>
            </a:solidFill>
            <a:ln xmlns:a="http://schemas.openxmlformats.org/drawingml/2006/main" w="0">
              <a:solidFill>
                <a:srgbClr val="5B7FAB"/>
              </a:solidFill>
            </a:ln>
          </c:spPr>
          <c:invertIfNegative val="0"/>
          <c:cat>
            <c:strRef>
              <c:f>'Chart Data'!$C$2:$C$7</c:f>
              <c:strCache>
                <c:ptCount val="6"/>
                <c:pt idx="0">
                  <c:v>Search</c:v>
                </c:pt>
                <c:pt idx="1">
                  <c:v>Paid social</c:v>
                </c:pt>
                <c:pt idx="2">
                  <c:v>Video</c:v>
                </c:pt>
                <c:pt idx="3">
                  <c:v>Regional</c:v>
                </c:pt>
                <c:pt idx="4">
                  <c:v>Creators</c:v>
                </c:pt>
                <c:pt idx="5">
                  <c:v>Affiliates</c:v>
                </c:pt>
              </c:strCache>
            </c:strRef>
          </c:cat>
          <c:val>
            <c:numRef>
              <c:f>'Chart Data'!$D$2:$D$7</c:f>
              <c:numCache>
                <c:formatCode>0.00</c:formatCode>
                <c:ptCount val="6"/>
                <c:pt idx="0">
                  <c:v>1.5</c:v>
                </c:pt>
                <c:pt idx="1">
                  <c:v>0.6</c:v>
                </c:pt>
                <c:pt idx="2">
                  <c:v>0.75</c:v>
                </c:pt>
                <c:pt idx="3">
                  <c:v>0.65</c:v>
                </c:pt>
                <c:pt idx="4">
                  <c:v>0.4</c:v>
                </c:pt>
                <c:pt idx="5">
                  <c:v>0.1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a:solidFill>
                    <a:srgbClr val="14283A"/>
                  </a:solidFill>
                  <a:latin typeface="Aptos"/>
                  <a:ea typeface="Aptos"/>
                  <a:cs typeface="Aptos"/>
                </a:defRPr>
              </a:pPr>
            </a:p>
          </c:txPr>
          <c:dLblPos val="outEnd"/>
          <c:showLegendKey val="0"/>
          <c:showVal val="1"/>
          <c:showCatName val="0"/>
          <c:showSerName val="0"/>
          <c:showPercent val="0"/>
          <c:showBubbleSize val="0"/>
          <c:showLeaderLines val="0"/>
        </c:dLbls>
        <c:gapWidth val="7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in val="0"/>
        </c:scaling>
        <c:delete val="0"/>
        <c:axPos val="l"/>
        <c:majorGridlines>
          <c:spPr>
            <a:ln xmlns:a="http://schemas.openxmlformats.org/drawingml/2006/main" w="4763">
              <a:solidFill>
                <a:srgbClr val="DBE4E8"/>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83A"/>
              </a:solidFill>
              <a:latin typeface="Aptos"/>
              <a:ea typeface="Aptos"/>
              <a:cs typeface="Aptos"/>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Illustrative paid traffic mix (%)</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barChart>
        <c:barDir val="col"/>
        <c:grouping val="stacked"/>
        <c:varyColors val="0"/>
        <c:ser>
          <c:idx val="0"/>
          <c:order val="0"/>
          <c:tx>
            <c:v>Brand</c:v>
          </c:tx>
          <c:spPr>
            <a:solidFill xmlns:a="http://schemas.openxmlformats.org/drawingml/2006/main">
              <a:srgbClr val="008B68"/>
            </a:solidFill>
            <a:ln xmlns:a="http://schemas.openxmlformats.org/drawingml/2006/main" w="0">
              <a:solidFill>
                <a:srgbClr val="008B68"/>
              </a:solidFill>
            </a:ln>
          </c:spPr>
          <c:invertIfNegative val="0"/>
          <c:cat>
            <c:strRef>
              <c:f>'Chart Data'!$A$2:$A$6</c:f>
              <c:strCache>
                <c:ptCount val="5"/>
                <c:pt idx="0">
                  <c:v>Nova</c:v>
                </c:pt>
                <c:pt idx="1">
                  <c:v>Peer A</c:v>
                </c:pt>
                <c:pt idx="2">
                  <c:v>Peer B</c:v>
                </c:pt>
                <c:pt idx="3">
                  <c:v>Peer C</c:v>
                </c:pt>
                <c:pt idx="4">
                  <c:v>Peer D</c:v>
                </c:pt>
              </c:strCache>
            </c:strRef>
          </c:cat>
          <c:val>
            <c:numRef>
              <c:f>'Chart Data'!$B$2:$B$6</c:f>
              <c:numCache>
                <c:formatCode>0%</c:formatCode>
                <c:ptCount val="5"/>
                <c:pt idx="0">
                  <c:v>0.72</c:v>
                </c:pt>
                <c:pt idx="1">
                  <c:v>0.48</c:v>
                </c:pt>
                <c:pt idx="2">
                  <c:v>0.55</c:v>
                </c:pt>
                <c:pt idx="3">
                  <c:v>0.4</c:v>
                </c:pt>
                <c:pt idx="4">
                  <c:v>0.6</c:v>
                </c:pt>
              </c:numCache>
            </c:numRef>
          </c:val>
        </c:ser>
        <c:ser>
          <c:idx val="1"/>
          <c:order val="1"/>
          <c:tx>
            <c:v>Non-brand</c:v>
          </c:tx>
          <c:spPr>
            <a:solidFill xmlns:a="http://schemas.openxmlformats.org/drawingml/2006/main">
              <a:srgbClr val="5B7FAB"/>
            </a:solidFill>
            <a:ln xmlns:a="http://schemas.openxmlformats.org/drawingml/2006/main" w="0">
              <a:solidFill>
                <a:srgbClr val="5B7FAB"/>
              </a:solidFill>
            </a:ln>
          </c:spPr>
          <c:invertIfNegative val="0"/>
          <c:cat>
            <c:strRef>
              <c:f>'Chart Data'!$C$2:$C$6</c:f>
              <c:strCache>
                <c:ptCount val="5"/>
                <c:pt idx="0">
                  <c:v>Nova</c:v>
                </c:pt>
                <c:pt idx="1">
                  <c:v>Peer A</c:v>
                </c:pt>
                <c:pt idx="2">
                  <c:v>Peer B</c:v>
                </c:pt>
                <c:pt idx="3">
                  <c:v>Peer C</c:v>
                </c:pt>
                <c:pt idx="4">
                  <c:v>Peer D</c:v>
                </c:pt>
              </c:strCache>
            </c:strRef>
          </c:cat>
          <c:val>
            <c:numRef>
              <c:f>'Chart Data'!$D$2:$D$6</c:f>
              <c:numCache>
                <c:formatCode>0%</c:formatCode>
                <c:ptCount val="5"/>
                <c:pt idx="0">
                  <c:v>0.28</c:v>
                </c:pt>
                <c:pt idx="1">
                  <c:v>0.52</c:v>
                </c:pt>
                <c:pt idx="2">
                  <c:v>0.45</c:v>
                </c:pt>
                <c:pt idx="3">
                  <c:v>0.6</c:v>
                </c:pt>
                <c:pt idx="4">
                  <c:v>0.4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75">
                  <a:solidFill>
                    <a:srgbClr val="FFFFFF"/>
                  </a:solidFill>
                  <a:latin typeface="Aptos"/>
                  <a:ea typeface="Aptos"/>
                  <a:cs typeface="Aptos"/>
                </a:defRPr>
              </a:pPr>
            </a:p>
          </c:txPr>
          <c:dLblPos val="ctr"/>
          <c:showLegendKey val="0"/>
          <c:showVal val="1"/>
          <c:showCatName val="0"/>
          <c:showSerName val="0"/>
          <c:showPercent val="0"/>
          <c:showBubbleSize val="0"/>
          <c:showLeaderLines val="0"/>
        </c:dLbls>
        <c:gapWidth val="7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ax val="1"/>
          <c:min val="0"/>
        </c:scaling>
        <c:delete val="0"/>
        <c:axPos val="l"/>
        <c:majorGridlines>
          <c:spPr>
            <a:ln xmlns:a="http://schemas.openxmlformats.org/drawingml/2006/main" w="4763">
              <a:solidFill>
                <a:srgbClr val="DBE4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83A"/>
              </a:solidFill>
              <a:latin typeface="Aptos"/>
              <a:ea typeface="Aptos"/>
              <a:cs typeface="Aptos"/>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Illustrative monthly search-interest index</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lineChart>
        <c:grouping val="standard"/>
        <c:varyColors val="0"/>
        <c:ser>
          <c:idx val="0"/>
          <c:order val="0"/>
          <c:tx>
            <c:v>Nova</c:v>
          </c:tx>
          <c:spPr>
            <a:solidFill xmlns:a="http://schemas.openxmlformats.org/drawingml/2006/main">
              <a:srgbClr val="008B68"/>
            </a:solidFill>
            <a:ln xmlns:a="http://schemas.openxmlformats.org/drawingml/2006/main" w="28575">
              <a:solidFill>
                <a:srgbClr val="008B68"/>
              </a:solidFill>
            </a:ln>
          </c:spPr>
          <c:marker>
            <c:symbol val="circle"/>
            <c:size val="5"/>
            <c:spPr>
              <a:solidFill xmlns:a="http://schemas.openxmlformats.org/drawingml/2006/main">
                <a:srgbClr val="008B68"/>
              </a:solidFill>
            </c:spPr>
          </c:marker>
          <c:cat>
            <c:strRef>
              <c:f>'Chart Data'!$A$2:$A$13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'Chart Data'!$B$2:$B$13</c:f>
              <c:numCache>
                <c:formatCode>0.0</c:formatCode>
                <c:ptCount val="12"/>
                <c:pt idx="0">
                  <c:v>42</c:v>
                </c:pt>
                <c:pt idx="1">
                  <c:v>44</c:v>
                </c:pt>
                <c:pt idx="2">
                  <c:v>40</c:v>
                </c:pt>
                <c:pt idx="3">
                  <c:v>48</c:v>
                </c:pt>
                <c:pt idx="4">
                  <c:v>51</c:v>
                </c:pt>
                <c:pt idx="5">
                  <c:v>49</c:v>
                </c:pt>
                <c:pt idx="6">
                  <c:v>53</c:v>
                </c:pt>
                <c:pt idx="7">
                  <c:v>58</c:v>
                </c:pt>
                <c:pt idx="8">
                  <c:v>54</c:v>
                </c:pt>
                <c:pt idx="9">
                  <c:v>55</c:v>
                </c:pt>
                <c:pt idx="10">
                  <c:v>60</c:v>
                </c:pt>
                <c:pt idx="11">
                  <c:v>64</c:v>
                </c:pt>
              </c:numCache>
            </c:numRef>
          </c:val>
        </c:ser>
        <c:ser>
          <c:idx val="1"/>
          <c:order val="1"/>
          <c:tx>
            <c:v>Peer A</c:v>
          </c:tx>
          <c:spPr>
            <a:solidFill xmlns:a="http://schemas.openxmlformats.org/drawingml/2006/main">
              <a:srgbClr val="5B7FAB"/>
            </a:solidFill>
            <a:ln xmlns:a="http://schemas.openxmlformats.org/drawingml/2006/main" w="28575">
              <a:solidFill>
                <a:srgbClr val="5B7FAB"/>
              </a:solidFill>
            </a:ln>
          </c:spPr>
          <c:marker>
            <c:symbol val="circle"/>
            <c:size val="5"/>
            <c:spPr>
              <a:solidFill xmlns:a="http://schemas.openxmlformats.org/drawingml/2006/main">
                <a:srgbClr val="5B7FAB"/>
              </a:solidFill>
            </c:spPr>
          </c:marker>
          <c:cat>
            <c:strRef>
              <c:f>'Chart Data'!$C$2:$C$13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'Chart Data'!$D$2:$D$13</c:f>
              <c:numCache>
                <c:formatCode>0.0</c:formatCode>
                <c:ptCount val="12"/>
                <c:pt idx="0">
                  <c:v>55</c:v>
                </c:pt>
                <c:pt idx="1">
                  <c:v>57</c:v>
                </c:pt>
                <c:pt idx="2">
                  <c:v>54</c:v>
                </c:pt>
                <c:pt idx="3">
                  <c:v>61</c:v>
                </c:pt>
                <c:pt idx="4">
                  <c:v>68</c:v>
                </c:pt>
                <c:pt idx="5">
                  <c:v>66</c:v>
                </c:pt>
                <c:pt idx="6">
                  <c:v>70</c:v>
                </c:pt>
                <c:pt idx="7">
                  <c:v>75</c:v>
                </c:pt>
                <c:pt idx="8">
                  <c:v>73</c:v>
                </c:pt>
                <c:pt idx="9">
                  <c:v>72</c:v>
                </c:pt>
                <c:pt idx="10">
                  <c:v>77</c:v>
                </c:pt>
                <c:pt idx="11">
                  <c:v>80</c:v>
                </c:pt>
              </c:numCache>
            </c:numRef>
          </c:val>
        </c:ser>
        <c:ser>
          <c:idx val="2"/>
          <c:order val="2"/>
          <c:tx>
            <c:v>Peer B</c:v>
          </c:tx>
          <c:spPr>
            <a:solidFill xmlns:a="http://schemas.openxmlformats.org/drawingml/2006/main">
              <a:srgbClr val="E7AC57"/>
            </a:solidFill>
            <a:ln xmlns:a="http://schemas.openxmlformats.org/drawingml/2006/main" w="28575">
              <a:solidFill>
                <a:srgbClr val="E7AC57"/>
              </a:solidFill>
            </a:ln>
          </c:spPr>
          <c:marker>
            <c:symbol val="circle"/>
            <c:size val="5"/>
            <c:spPr>
              <a:solidFill xmlns:a="http://schemas.openxmlformats.org/drawingml/2006/main">
                <a:srgbClr val="E7AC57"/>
              </a:solidFill>
            </c:spPr>
          </c:marker>
          <c:cat>
            <c:strRef>
              <c:f>'Chart Data'!$E$2:$E$13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'Chart Data'!$F$2:$F$13</c:f>
              <c:numCache>
                <c:formatCode>0.0</c:formatCode>
                <c:ptCount val="12"/>
                <c:pt idx="0">
                  <c:v>48</c:v>
                </c:pt>
                <c:pt idx="1">
                  <c:v>50</c:v>
                </c:pt>
                <c:pt idx="2">
                  <c:v>49</c:v>
                </c:pt>
                <c:pt idx="3">
                  <c:v>54</c:v>
                </c:pt>
                <c:pt idx="4">
                  <c:v>56</c:v>
                </c:pt>
                <c:pt idx="5">
                  <c:v>57</c:v>
                </c:pt>
                <c:pt idx="6">
                  <c:v>60</c:v>
                </c:pt>
                <c:pt idx="7">
                  <c:v>65</c:v>
                </c:pt>
                <c:pt idx="8">
                  <c:v>62</c:v>
                </c:pt>
                <c:pt idx="9">
                  <c:v>61</c:v>
                </c:pt>
                <c:pt idx="10">
                  <c:v>65</c:v>
                </c:pt>
                <c:pt idx="11">
                  <c:v>67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75">
                  <a:solidFill>
                    <a:srgbClr val="14283A"/>
                  </a:solidFill>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ax val="100"/>
          <c:min val="0"/>
        </c:scaling>
        <c:delete val="0"/>
        <c:axPos val="l"/>
        <c:majorGridlines>
          <c:spPr>
            <a:ln xmlns:a="http://schemas.openxmlformats.org/drawingml/2006/main" w="4763">
              <a:solidFill>
                <a:srgbClr val="DB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83A"/>
              </a:solidFill>
              <a:latin typeface="Aptos"/>
              <a:ea typeface="Aptos"/>
              <a:cs typeface="Aptos"/>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Illustrative backlink relationship mix (%)</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barChart>
        <c:barDir val="col"/>
        <c:grouping val="stacked"/>
        <c:varyColors val="0"/>
        <c:ser>
          <c:idx val="0"/>
          <c:order val="0"/>
          <c:tx>
            <c:v>Follow</c:v>
          </c:tx>
          <c:spPr>
            <a:solidFill xmlns:a="http://schemas.openxmlformats.org/drawingml/2006/main">
              <a:srgbClr val="008B68"/>
            </a:solidFill>
            <a:ln xmlns:a="http://schemas.openxmlformats.org/drawingml/2006/main" w="0">
              <a:solidFill>
                <a:srgbClr val="008B68"/>
              </a:solidFill>
            </a:ln>
          </c:spPr>
          <c:invertIfNegative val="0"/>
          <c:cat>
            <c:strRef>
              <c:f>'Chart Data'!$A$2:$A$6</c:f>
              <c:strCache>
                <c:ptCount val="5"/>
                <c:pt idx="0">
                  <c:v>Nova</c:v>
                </c:pt>
                <c:pt idx="1">
                  <c:v>Peer A</c:v>
                </c:pt>
                <c:pt idx="2">
                  <c:v>Peer B</c:v>
                </c:pt>
                <c:pt idx="3">
                  <c:v>Peer C</c:v>
                </c:pt>
                <c:pt idx="4">
                  <c:v>Peer D</c:v>
                </c:pt>
              </c:strCache>
            </c:strRef>
          </c:cat>
          <c:val>
            <c:numRef>
              <c:f>'Chart Data'!$B$2:$B$6</c:f>
              <c:numCache>
                <c:formatCode>0%</c:formatCode>
                <c:ptCount val="5"/>
                <c:pt idx="0">
                  <c:v>0.53</c:v>
                </c:pt>
                <c:pt idx="1">
                  <c:v>0.53</c:v>
                </c:pt>
                <c:pt idx="2">
                  <c:v>0.48</c:v>
                </c:pt>
                <c:pt idx="3">
                  <c:v>0.53</c:v>
                </c:pt>
                <c:pt idx="4">
                  <c:v>0.51</c:v>
                </c:pt>
              </c:numCache>
            </c:numRef>
          </c:val>
        </c:ser>
        <c:ser>
          <c:idx val="1"/>
          <c:order val="1"/>
          <c:tx>
            <c:v>No-follow</c:v>
          </c:tx>
          <c:spPr>
            <a:solidFill xmlns:a="http://schemas.openxmlformats.org/drawingml/2006/main">
              <a:srgbClr val="5B7FAB"/>
            </a:solidFill>
            <a:ln xmlns:a="http://schemas.openxmlformats.org/drawingml/2006/main" w="0">
              <a:solidFill>
                <a:srgbClr val="5B7FAB"/>
              </a:solidFill>
            </a:ln>
          </c:spPr>
          <c:invertIfNegative val="0"/>
          <c:cat>
            <c:strRef>
              <c:f>'Chart Data'!$C$2:$C$6</c:f>
              <c:strCache>
                <c:ptCount val="5"/>
                <c:pt idx="0">
                  <c:v>Nova</c:v>
                </c:pt>
                <c:pt idx="1">
                  <c:v>Peer A</c:v>
                </c:pt>
                <c:pt idx="2">
                  <c:v>Peer B</c:v>
                </c:pt>
                <c:pt idx="3">
                  <c:v>Peer C</c:v>
                </c:pt>
                <c:pt idx="4">
                  <c:v>Peer D</c:v>
                </c:pt>
              </c:strCache>
            </c:strRef>
          </c:cat>
          <c:val>
            <c:numRef>
              <c:f>'Chart Data'!$D$2:$D$6</c:f>
              <c:numCache>
                <c:formatCode>0%</c:formatCode>
                <c:ptCount val="5"/>
                <c:pt idx="0">
                  <c:v>0.32</c:v>
                </c:pt>
                <c:pt idx="1">
                  <c:v>0.32</c:v>
                </c:pt>
                <c:pt idx="2">
                  <c:v>0.37</c:v>
                </c:pt>
                <c:pt idx="3">
                  <c:v>0.32</c:v>
                </c:pt>
                <c:pt idx="4">
                  <c:v>0.34</c:v>
                </c:pt>
              </c:numCache>
            </c:numRef>
          </c:val>
        </c:ser>
        <c:ser>
          <c:idx val="2"/>
          <c:order val="2"/>
          <c:tx>
            <c:v>Other</c:v>
          </c:tx>
          <c:spPr>
            <a:solidFill xmlns:a="http://schemas.openxmlformats.org/drawingml/2006/main">
              <a:srgbClr val="E7AC57"/>
            </a:solidFill>
            <a:ln xmlns:a="http://schemas.openxmlformats.org/drawingml/2006/main" w="0">
              <a:solidFill>
                <a:srgbClr val="E7AC57"/>
              </a:solidFill>
            </a:ln>
          </c:spPr>
          <c:invertIfNegative val="0"/>
          <c:cat>
            <c:strRef>
              <c:f>'Chart Data'!$E$2:$E$6</c:f>
              <c:strCache>
                <c:ptCount val="5"/>
                <c:pt idx="0">
                  <c:v>Nova</c:v>
                </c:pt>
                <c:pt idx="1">
                  <c:v>Peer A</c:v>
                </c:pt>
                <c:pt idx="2">
                  <c:v>Peer B</c:v>
                </c:pt>
                <c:pt idx="3">
                  <c:v>Peer C</c:v>
                </c:pt>
                <c:pt idx="4">
                  <c:v>Peer D</c:v>
                </c:pt>
              </c:strCache>
            </c:strRef>
          </c:cat>
          <c:val>
            <c:numRef>
              <c:f>'Chart Data'!$F$2:$F$6</c:f>
              <c:numCache>
                <c:formatCode>0%</c:formatCode>
                <c:ptCount val="5"/>
                <c:pt idx="0">
                  <c:v>0.15</c:v>
                </c:pt>
                <c:pt idx="1">
                  <c:v>0.15</c:v>
                </c:pt>
                <c:pt idx="2">
                  <c:v>0.15</c:v>
                </c:pt>
                <c:pt idx="3">
                  <c:v>0.15</c:v>
                </c:pt>
                <c:pt idx="4">
                  <c:v>0.15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75">
                  <a:solidFill>
                    <a:srgbClr val="FFFFFF"/>
                  </a:solidFill>
                  <a:latin typeface="Aptos"/>
                  <a:ea typeface="Aptos"/>
                  <a:cs typeface="Aptos"/>
                </a:defRPr>
              </a:pPr>
            </a:p>
          </c:txPr>
          <c:dLblPos val="ctr"/>
          <c:showLegendKey val="0"/>
          <c:showVal val="1"/>
          <c:showCatName val="0"/>
          <c:showSerName val="0"/>
          <c:showPercent val="0"/>
          <c:showBubbleSize val="0"/>
          <c:showLeaderLines val="0"/>
        </c:dLbls>
        <c:gapWidth val="7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ax val="1"/>
          <c:min val="0"/>
        </c:scaling>
        <c:delete val="0"/>
        <c:axPos val="l"/>
        <c:majorGridlines>
          <c:spPr>
            <a:ln xmlns:a="http://schemas.openxmlformats.org/drawingml/2006/main" w="4763">
              <a:solidFill>
                <a:srgbClr val="DBE4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83A"/>
              </a:solidFill>
              <a:latin typeface="Aptos"/>
              <a:ea typeface="Aptos"/>
              <a:cs typeface="Aptos"/>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Illustrative Nova monthly installs (thousands)</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barChart>
        <c:barDir val="col"/>
        <c:grouping val="clustered"/>
        <c:varyColors val="0"/>
        <c:ser>
          <c:idx val="0"/>
          <c:order val="0"/>
          <c:tx>
            <c:v>Installs</c:v>
          </c:tx>
          <c:spPr>
            <a:solidFill xmlns:a="http://schemas.openxmlformats.org/drawingml/2006/main">
              <a:srgbClr val="008B68"/>
            </a:solidFill>
            <a:ln xmlns:a="http://schemas.openxmlformats.org/drawingml/2006/main" w="0">
              <a:solidFill>
                <a:srgbClr val="008B68"/>
              </a:solidFill>
            </a:ln>
          </c:spPr>
          <c:invertIfNegative val="0"/>
          <c:cat>
            <c:strRef>
              <c:f>'Chart Data'!$A$2:$A$7</c:f>
              <c:strCache>
                <c:ptCount val="6"/>
                <c:pt idx="0">
                  <c:v>Apr</c:v>
                </c:pt>
                <c:pt idx="1">
                  <c:v>May</c:v>
                </c:pt>
                <c:pt idx="2">
                  <c:v>Jun</c:v>
                </c:pt>
                <c:pt idx="3">
                  <c:v>Jul</c:v>
                </c:pt>
                <c:pt idx="4">
                  <c:v>Aug</c:v>
                </c:pt>
                <c:pt idx="5">
                  <c:v>Sep</c:v>
                </c:pt>
              </c:strCache>
            </c:strRef>
          </c:cat>
          <c:val>
            <c:numRef>
              <c:f>'Chart Data'!$B$2:$B$7</c:f>
              <c:numCache>
                <c:formatCode>0</c:formatCode>
                <c:ptCount val="6"/>
                <c:pt idx="0">
                  <c:v>130</c:v>
                </c:pt>
                <c:pt idx="1">
                  <c:v>142</c:v>
                </c:pt>
                <c:pt idx="2">
                  <c:v>150</c:v>
                </c:pt>
                <c:pt idx="3">
                  <c:v>190</c:v>
                </c:pt>
                <c:pt idx="4">
                  <c:v>175</c:v>
                </c:pt>
                <c:pt idx="5">
                  <c:v>180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75">
                  <a:solidFill>
                    <a:srgbClr val="14283A"/>
                  </a:solidFill>
                  <a:latin typeface="Aptos"/>
                  <a:ea typeface="Aptos"/>
                  <a:cs typeface="Aptos"/>
                </a:defRPr>
              </a:pPr>
            </a:p>
          </c:txPr>
          <c:dLblPos val="outEnd"/>
          <c:showLegendKey val="0"/>
          <c:showVal val="1"/>
          <c:showCatName val="0"/>
          <c:showSerName val="0"/>
          <c:showPercent val="0"/>
          <c:showBubbleSize val="0"/>
          <c:showLeaderLines val="0"/>
        </c:dLbls>
        <c:gapWidth val="7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in val="0"/>
        </c:scaling>
        <c:delete val="0"/>
        <c:axPos val="l"/>
        <c:majorGridlines>
          <c:spPr>
            <a:ln xmlns:a="http://schemas.openxmlformats.org/drawingml/2006/main" w="4763">
              <a:solidFill>
                <a:srgbClr val="DBE4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Illustrative platform engagement rate (%)</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barChart>
        <c:barDir val="col"/>
        <c:grouping val="clustered"/>
        <c:varyColors val="0"/>
        <c:ser>
          <c:idx val="0"/>
          <c:order val="0"/>
          <c:tx>
            <c:v>Nova</c:v>
          </c:tx>
          <c:spPr>
            <a:solidFill xmlns:a="http://schemas.openxmlformats.org/drawingml/2006/main">
              <a:srgbClr val="008B68"/>
            </a:solidFill>
            <a:ln xmlns:a="http://schemas.openxmlformats.org/drawingml/2006/main" w="0">
              <a:solidFill>
                <a:srgbClr val="008B68"/>
              </a:solidFill>
            </a:ln>
          </c:spPr>
          <c:invertIfNegative val="0"/>
          <c:cat>
            <c:strRef>
              <c:f>'Chart Data'!$A$2:$A$5</c:f>
              <c:strCache>
                <c:ptCount val="4"/>
                <c:pt idx="0">
                  <c:v>YouTube</c:v>
                </c:pt>
                <c:pt idx="1">
                  <c:v>Instagram</c:v>
                </c:pt>
                <c:pt idx="2">
                  <c:v>TikTok</c:v>
                </c:pt>
                <c:pt idx="3">
                  <c:v>Twitch</c:v>
                </c:pt>
              </c:strCache>
            </c:strRef>
          </c:cat>
          <c:val>
            <c:numRef>
              <c:f>'Chart Data'!$B$2:$B$5</c:f>
              <c:numCache>
                <c:formatCode>0.0"%"</c:formatCode>
                <c:ptCount val="4"/>
                <c:pt idx="0">
                  <c:v>1.8</c:v>
                </c:pt>
                <c:pt idx="1">
                  <c:v>2.1</c:v>
                </c:pt>
                <c:pt idx="2">
                  <c:v>3.2</c:v>
                </c:pt>
                <c:pt idx="3">
                  <c:v>2.4</c:v>
                </c:pt>
              </c:numCache>
            </c:numRef>
          </c:val>
        </c:ser>
        <c:ser>
          <c:idx val="1"/>
          <c:order val="1"/>
          <c:tx>
            <c:v>Peer A</c:v>
          </c:tx>
          <c:spPr>
            <a:solidFill xmlns:a="http://schemas.openxmlformats.org/drawingml/2006/main">
              <a:srgbClr val="5B7FAB"/>
            </a:solidFill>
            <a:ln xmlns:a="http://schemas.openxmlformats.org/drawingml/2006/main" w="0">
              <a:solidFill>
                <a:srgbClr val="5B7FAB"/>
              </a:solidFill>
            </a:ln>
          </c:spPr>
          <c:invertIfNegative val="0"/>
          <c:cat>
            <c:strRef>
              <c:f>'Chart Data'!$C$2:$C$5</c:f>
              <c:strCache>
                <c:ptCount val="4"/>
                <c:pt idx="0">
                  <c:v>YouTube</c:v>
                </c:pt>
                <c:pt idx="1">
                  <c:v>Instagram</c:v>
                </c:pt>
                <c:pt idx="2">
                  <c:v>TikTok</c:v>
                </c:pt>
                <c:pt idx="3">
                  <c:v>Twitch</c:v>
                </c:pt>
              </c:strCache>
            </c:strRef>
          </c:cat>
          <c:val>
            <c:numRef>
              <c:f>'Chart Data'!$D$2:$D$5</c:f>
              <c:numCache>
                <c:formatCode>0.0"%"</c:formatCode>
                <c:ptCount val="4"/>
                <c:pt idx="0">
                  <c:v>3.1</c:v>
                </c:pt>
                <c:pt idx="1">
                  <c:v>2.8</c:v>
                </c:pt>
                <c:pt idx="2">
                  <c:v>4.4</c:v>
                </c:pt>
                <c:pt idx="3">
                  <c:v>3.7</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275">
                  <a:solidFill>
                    <a:srgbClr val="14283A"/>
                  </a:solidFill>
                  <a:latin typeface="Aptos"/>
                  <a:ea typeface="Aptos"/>
                  <a:cs typeface="Aptos"/>
                </a:defRPr>
              </a:pPr>
            </a:p>
          </c:txPr>
          <c:dLblPos val="outEnd"/>
          <c:showLegendKey val="0"/>
          <c:showVal val="1"/>
          <c:showCatName val="0"/>
          <c:showSerName val="0"/>
          <c:showPercent val="0"/>
          <c:showBubbleSize val="0"/>
          <c:showLeaderLines val="0"/>
        </c:dLbls>
        <c:gapWidth val="7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in val="0"/>
        </c:scaling>
        <c:delete val="0"/>
        <c:axPos val="l"/>
        <c:majorGridlines>
          <c:spPr>
            <a:ln xmlns:a="http://schemas.openxmlformats.org/drawingml/2006/main" w="4763">
              <a:solidFill>
                <a:srgbClr val="DBE4E8"/>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83A"/>
              </a:solidFill>
              <a:latin typeface="Aptos"/>
              <a:ea typeface="Aptos"/>
              <a:cs typeface="Aptos"/>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83A"/>
                </a:solidFill>
                <a:latin typeface="Aptos"/>
                <a:ea typeface="Aptos"/>
                <a:cs typeface="Aptos"/>
              </a:rPr>
              <a:t>Illustrative active share of FTD cohort (%)</a:t>
            </a:r>
          </a:p>
        </c:rich>
      </c:tx>
      <c:overlay val="0"/>
      <c:txPr>
        <a:bodyPr xmlns:a="http://schemas.openxmlformats.org/drawingml/2006/main" anchorCtr="1"/>
        <a:lstStyle xmlns:a="http://schemas.openxmlformats.org/drawingml/2006/main"/>
        <a:p xmlns:a="http://schemas.openxmlformats.org/drawingml/2006/main">
          <a:pPr>
            <a:defRPr sz="1650" b="1">
              <a:solidFill>
                <a:srgbClr val="14283A"/>
              </a:solidFill>
              <a:latin typeface="Aptos"/>
              <a:ea typeface="Aptos"/>
              <a:cs typeface="Aptos"/>
            </a:defRPr>
          </a:pPr>
        </a:p>
      </c:txPr>
    </c:title>
    <c:plotArea>
      <c:lineChart>
        <c:grouping val="standard"/>
        <c:varyColors val="0"/>
        <c:ser>
          <c:idx val="0"/>
          <c:order val="0"/>
          <c:tx>
            <c:v>Search cohort</c:v>
          </c:tx>
          <c:spPr>
            <a:solidFill xmlns:a="http://schemas.openxmlformats.org/drawingml/2006/main">
              <a:srgbClr val="008B68"/>
            </a:solidFill>
            <a:ln xmlns:a="http://schemas.openxmlformats.org/drawingml/2006/main" w="28575">
              <a:solidFill>
                <a:srgbClr val="008B68"/>
              </a:solidFill>
            </a:ln>
          </c:spPr>
          <c:marker>
            <c:symbol val="circle"/>
            <c:size val="5"/>
            <c:spPr>
              <a:solidFill xmlns:a="http://schemas.openxmlformats.org/drawingml/2006/main">
                <a:srgbClr val="008B68"/>
              </a:solidFill>
            </c:spPr>
          </c:marker>
          <c:cat>
            <c:strRef>
              <c:f>'Chart Data'!$A$2:$A$5</c:f>
              <c:strCache>
                <c:ptCount val="4"/>
                <c:pt idx="0">
                  <c:v>Day 7</c:v>
                </c:pt>
                <c:pt idx="1">
                  <c:v>Day 30</c:v>
                </c:pt>
                <c:pt idx="2">
                  <c:v>Day 60</c:v>
                </c:pt>
                <c:pt idx="3">
                  <c:v>Day 90</c:v>
                </c:pt>
              </c:strCache>
            </c:strRef>
          </c:cat>
          <c:val>
            <c:numRef>
              <c:f>'Chart Data'!$B$2:$B$5</c:f>
              <c:numCache>
                <c:formatCode>0"%"</c:formatCode>
                <c:ptCount val="4"/>
                <c:pt idx="0">
                  <c:v>48</c:v>
                </c:pt>
                <c:pt idx="1">
                  <c:v>34</c:v>
                </c:pt>
                <c:pt idx="2">
                  <c:v>27</c:v>
                </c:pt>
                <c:pt idx="3">
                  <c:v>23</c:v>
                </c:pt>
              </c:numCache>
            </c:numRef>
          </c:val>
        </c:ser>
        <c:ser>
          <c:idx val="1"/>
          <c:order val="1"/>
          <c:tx>
            <c:v>Affiliate cohort</c:v>
          </c:tx>
          <c:spPr>
            <a:solidFill xmlns:a="http://schemas.openxmlformats.org/drawingml/2006/main">
              <a:srgbClr val="5B7FAB"/>
            </a:solidFill>
            <a:ln xmlns:a="http://schemas.openxmlformats.org/drawingml/2006/main" w="28575">
              <a:solidFill>
                <a:srgbClr val="5B7FAB"/>
              </a:solidFill>
            </a:ln>
          </c:spPr>
          <c:marker>
            <c:symbol val="circle"/>
            <c:size val="5"/>
            <c:spPr>
              <a:solidFill xmlns:a="http://schemas.openxmlformats.org/drawingml/2006/main">
                <a:srgbClr val="5B7FAB"/>
              </a:solidFill>
            </c:spPr>
          </c:marker>
          <c:cat>
            <c:strRef>
              <c:f>'Chart Data'!$C$2:$C$5</c:f>
              <c:strCache>
                <c:ptCount val="4"/>
                <c:pt idx="0">
                  <c:v>Day 7</c:v>
                </c:pt>
                <c:pt idx="1">
                  <c:v>Day 30</c:v>
                </c:pt>
                <c:pt idx="2">
                  <c:v>Day 60</c:v>
                </c:pt>
                <c:pt idx="3">
                  <c:v>Day 90</c:v>
                </c:pt>
              </c:strCache>
            </c:strRef>
          </c:cat>
          <c:val>
            <c:numRef>
              <c:f>'Chart Data'!$D$2:$D$5</c:f>
              <c:numCache>
                <c:formatCode>0"%"</c:formatCode>
                <c:ptCount val="4"/>
                <c:pt idx="0">
                  <c:v>38</c:v>
                </c:pt>
                <c:pt idx="1">
                  <c:v>23</c:v>
                </c:pt>
                <c:pt idx="2">
                  <c:v>17</c:v>
                </c:pt>
                <c:pt idx="3">
                  <c:v>13</c:v>
                </c:pt>
              </c:numCache>
            </c:numRef>
          </c:val>
        </c:ser>
        <c:ser>
          <c:idx val="2"/>
          <c:order val="2"/>
          <c:tx>
            <c:v>Paid-social cohort</c:v>
          </c:tx>
          <c:spPr>
            <a:solidFill xmlns:a="http://schemas.openxmlformats.org/drawingml/2006/main">
              <a:srgbClr val="E7AC57"/>
            </a:solidFill>
            <a:ln xmlns:a="http://schemas.openxmlformats.org/drawingml/2006/main" w="28575">
              <a:solidFill>
                <a:srgbClr val="E7AC57"/>
              </a:solidFill>
            </a:ln>
          </c:spPr>
          <c:marker>
            <c:symbol val="circle"/>
            <c:size val="5"/>
            <c:spPr>
              <a:solidFill xmlns:a="http://schemas.openxmlformats.org/drawingml/2006/main">
                <a:srgbClr val="E7AC57"/>
              </a:solidFill>
            </c:spPr>
          </c:marker>
          <c:cat>
            <c:strRef>
              <c:f>'Chart Data'!$E$2:$E$5</c:f>
              <c:strCache>
                <c:ptCount val="4"/>
                <c:pt idx="0">
                  <c:v>Day 7</c:v>
                </c:pt>
                <c:pt idx="1">
                  <c:v>Day 30</c:v>
                </c:pt>
                <c:pt idx="2">
                  <c:v>Day 60</c:v>
                </c:pt>
                <c:pt idx="3">
                  <c:v>Day 90</c:v>
                </c:pt>
              </c:strCache>
            </c:strRef>
          </c:cat>
          <c:val>
            <c:numRef>
              <c:f>'Chart Data'!$F$2:$F$5</c:f>
              <c:numCache>
                <c:formatCode>0"%"</c:formatCode>
                <c:ptCount val="4"/>
                <c:pt idx="0">
                  <c:v>42</c:v>
                </c:pt>
                <c:pt idx="1">
                  <c:v>27</c:v>
                </c:pt>
                <c:pt idx="2">
                  <c:v>21</c:v>
                </c:pt>
                <c:pt idx="3">
                  <c:v>17</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1275">
                  <a:solidFill>
                    <a:srgbClr val="14283A"/>
                  </a:solidFill>
                  <a:latin typeface="Aptos"/>
                  <a:ea typeface="Aptos"/>
                  <a:cs typeface="Aptos"/>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BE4E8"/>
            </a:solidFill>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72768"/>
      </c:catAx>
      <c:valAx>
        <c:axId val="48672768"/>
        <c:scaling>
          <c:orientation val="minMax"/>
          <c:min val="0"/>
        </c:scaling>
        <c:delete val="0"/>
        <c:axPos val="l"/>
        <c:majorGridlines>
          <c:spPr>
            <a:ln xmlns:a="http://schemas.openxmlformats.org/drawingml/2006/main" w="4763">
              <a:solidFill>
                <a:srgbClr val="DBE4E8"/>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17181"/>
                </a:solidFill>
                <a:latin typeface="Aptos"/>
                <a:ea typeface="Aptos"/>
                <a:cs typeface="Aptos"/>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83A"/>
              </a:solidFill>
              <a:latin typeface="Aptos"/>
              <a:ea typeface="Aptos"/>
              <a:cs typeface="Aptos"/>
            </a:defRPr>
          </a:pPr>
        </a:p>
      </c:txPr>
    </c:legend>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DFAC61D-2375-445A-9E74-F7D84E36F317}"/>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D05F4D-C230-444F-86F2-7AAD1194A77F}"/>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9BFED038-A0EC-46EE-B939-B60061699CC8}"/>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EXECUTIVE READ-OUT</a:t>
            </a:r>
          </a:p>
        </p:txBody>
      </p:sp>
      <p:sp>
        <p:nvSpPr>
          <p:cNvPr id="4" name="">
            <a:extLst xmlns:a="http://schemas.openxmlformats.org/drawingml/2006/main">
              <a:ext uri="{FF2B5EF4-FFF2-40B4-BE49-F238E27FC236}">
                <a16:creationId xmlns:a16="http://schemas.microsoft.com/office/drawing/2014/main" id="{BDC4ECFC-FCAC-426F-AC85-EA5391B17CC4}"/>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One connected view of marketing, competition and customer value</a:t>
            </a:r>
          </a:p>
        </p:txBody>
      </p:sp>
      <p:sp>
        <p:nvSpPr>
          <p:cNvPr id="5" name="">
            <a:extLst xmlns:a="http://schemas.openxmlformats.org/drawingml/2006/main">
              <a:ext uri="{FF2B5EF4-FFF2-40B4-BE49-F238E27FC236}">
                <a16:creationId xmlns:a16="http://schemas.microsoft.com/office/drawing/2014/main" id="{4AF31718-BCD1-4492-AE38-1DC0D971CFEF}"/>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8FAEE37-89E3-4796-A593-53E9A708BCC2}"/>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2BD1219F-600F-47B5-828F-9A150A66BBB8}"/>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25AE3C51-955A-4660-A20F-45A08483F582}"/>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01</a:t>
            </a:r>
          </a:p>
        </p:txBody>
      </p:sp>
      <p:graphicFrame>
        <p:nvGraphicFramePr>
          <p:cNvPr id="9" name="">
            <a:extLst xmlns:a="http://schemas.openxmlformats.org/drawingml/2006/main">
              <a:ext uri="{FF2B5EF4-FFF2-40B4-BE49-F238E27FC236}">
                <a16:creationId xmlns:a16="http://schemas.microsoft.com/office/drawing/2014/main" id="{BA5FCC11-6504-45C2-957F-0E37AD33B69C}"/>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971550">
                <a:tc>
                  <a:txBody>
                    <a:bodyPr/>
                    <a:lstStyle/>
                    <a:p>
                      <a:r>
                        <a:rPr sz="1650" b="1">
                          <a:solidFill>
                            <a:srgbClr val="FFFFFF"/>
                          </a:solidFill>
                          <a:latin typeface="Aptos"/>
                          <a:ea typeface="Aptos"/>
                          <a:cs typeface="Aptos"/>
                        </a:rPr>
                        <a:t>Decision</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Evidence in this demonstration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Business output</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971550">
                <a:tc>
                  <a:txBody>
                    <a:bodyPr/>
                    <a:lstStyle/>
                    <a:p>
                      <a:r>
                        <a:rPr sz="1650" b="1">
                          <a:solidFill>
                            <a:srgbClr val="14283A"/>
                          </a:solidFill>
                          <a:latin typeface="Aptos"/>
                          <a:ea typeface="Aptos"/>
                          <a:cs typeface="Aptos"/>
                        </a:rPr>
                        <a:t>Where to invest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Channel contribution and marginal returns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 funded media plan</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Where to compete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Search, app, social and website benchmarks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Prioritised market gaps</a:t>
                      </a:r>
                    </a:p>
                  </a:txBody>
                  <a:tcPr marL="95250" marR="76200" marT="9525" marB="9525">
                    <a:lnR w="4763">
                      <a:solidFill>
                        <a:srgbClr val="DBE4E8"/>
                      </a:solidFill>
                      <a:prstDash val="solid"/>
                    </a:lnR>
                    <a:lnB w="4763">
                      <a:solidFill>
                        <a:srgbClr val="DBE4E8"/>
                      </a:solidFill>
                      <a:prstDash val="solid"/>
                    </a:lnB>
                    <a:solidFill>
                      <a:srgbClr val="F0F5F7"/>
                    </a:solidFill>
                  </a:tcPr>
                </a:tc>
              </a:tr>
              <a:tr h="971550">
                <a:tc>
                  <a:txBody>
                    <a:bodyPr/>
                    <a:lstStyle/>
                    <a:p>
                      <a:r>
                        <a:rPr sz="1650" b="1">
                          <a:solidFill>
                            <a:srgbClr val="14283A"/>
                          </a:solidFill>
                          <a:latin typeface="Aptos"/>
                          <a:ea typeface="Aptos"/>
                          <a:cs typeface="Aptos"/>
                        </a:rPr>
                        <a:t>Where conversion leaks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Registration, verification and deposits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 measurable test backlog</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What to prove next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Model diagnostics and controlled tests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A defensible learning agenda</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7CB4AEF8-7AF2-4601-9562-EDEE71B32404}"/>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692D620-3E13-4363-8C16-F827705A6FFE}"/>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8A34D12A-E685-4F60-95D4-237FCFDF4ADE}"/>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 fictional licensed sportsbook and iGaming operator: Nova.</a:t>
            </a:r>
          </a:p>
        </p:txBody>
      </p:sp>
      <p:sp>
        <p:nvSpPr>
          <p:cNvPr id="13" name="">
            <a:extLst xmlns:a="http://schemas.openxmlformats.org/drawingml/2006/main">
              <a:ext uri="{FF2B5EF4-FFF2-40B4-BE49-F238E27FC236}">
                <a16:creationId xmlns:a16="http://schemas.microsoft.com/office/drawing/2014/main" id="{3C750980-47B5-4E76-8E8F-0ED3C0A01BFF}"/>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Every numerical result is synthetic. The deck demonstrates the analysis, not a client track record.</a:t>
            </a:r>
          </a:p>
        </p:txBody>
      </p:sp>
    </p:spTree>
    <p:extLst>
      <p:ext uri="{BB962C8B-B14F-4D97-AF65-F5344CB8AC3E}">
        <p14:creationId xmlns:p14="http://schemas.microsoft.com/office/powerpoint/2010/main" val="18885315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8D9356E-C8D3-4418-A549-EAF87CCE0E8F}"/>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8B2667-27E5-4009-A2EB-111D98F0F778}"/>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BBBDFD3A-C87C-4FCE-9032-5099078AF058}"/>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DEMO ROUTE</a:t>
            </a:r>
          </a:p>
        </p:txBody>
      </p:sp>
      <p:sp>
        <p:nvSpPr>
          <p:cNvPr id="4" name="">
            <a:extLst xmlns:a="http://schemas.openxmlformats.org/drawingml/2006/main">
              <a:ext uri="{FF2B5EF4-FFF2-40B4-BE49-F238E27FC236}">
                <a16:creationId xmlns:a16="http://schemas.microsoft.com/office/drawing/2014/main" id="{BE6DB949-21AD-4955-9BF9-0CE0E7431F27}"/>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Use the full deck as a menu, or take a 25-minute decision tour</a:t>
            </a:r>
          </a:p>
        </p:txBody>
      </p:sp>
      <p:sp>
        <p:nvSpPr>
          <p:cNvPr id="5" name="">
            <a:extLst xmlns:a="http://schemas.openxmlformats.org/drawingml/2006/main">
              <a:ext uri="{FF2B5EF4-FFF2-40B4-BE49-F238E27FC236}">
                <a16:creationId xmlns:a16="http://schemas.microsoft.com/office/drawing/2014/main" id="{2D284CB5-3209-46D9-8785-7E61F5E4636F}"/>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52CCD5B-4C54-48D5-B68E-66AB0643BA92}"/>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28A3FE72-2AF7-4BB6-8ECC-D73020918CE0}"/>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0DB4B8BD-73BF-449A-B48D-D35F9E4FCC27}"/>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02</a:t>
            </a:r>
          </a:p>
        </p:txBody>
      </p:sp>
      <p:graphicFrame>
        <p:nvGraphicFramePr>
          <p:cNvPr id="9" name="">
            <a:extLst xmlns:a="http://schemas.openxmlformats.org/drawingml/2006/main">
              <a:ext uri="{FF2B5EF4-FFF2-40B4-BE49-F238E27FC236}">
                <a16:creationId xmlns:a16="http://schemas.microsoft.com/office/drawing/2014/main" id="{73763DAD-B1A7-4DA5-A4D1-FFF6BD43642D}"/>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809625">
                <a:tc>
                  <a:txBody>
                    <a:bodyPr/>
                    <a:lstStyle/>
                    <a:p>
                      <a:r>
                        <a:rPr sz="1650" b="1">
                          <a:solidFill>
                            <a:srgbClr val="FFFFFF"/>
                          </a:solidFill>
                          <a:latin typeface="Aptos"/>
                          <a:ea typeface="Aptos"/>
                          <a:cs typeface="Aptos"/>
                        </a:rPr>
                        <a:t>Module</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Questions answered</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Suggested time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Business economics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What should marketing optimise?</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3 minutes</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MMM and model review</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What drove results and how reliable is it?</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7 minutes</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Budget scenarios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Where should the next dollar go?</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5 minutes</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Competitive intelligence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Where are competitors gaining ground?</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5 minutes</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Customer funnel and plan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Which tests should follow?</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5 minutes</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CAD22FC6-2D80-4C48-857D-0132851E8C02}"/>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DC7C993-12BC-4E43-B4CB-B670DC25925B}"/>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58E551BC-5407-4890-A185-3286A50CD183}"/>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For a shorter meeting, use the three-page companion sample.</a:t>
            </a:r>
          </a:p>
        </p:txBody>
      </p:sp>
      <p:sp>
        <p:nvSpPr>
          <p:cNvPr id="13" name="">
            <a:extLst xmlns:a="http://schemas.openxmlformats.org/drawingml/2006/main">
              <a:ext uri="{FF2B5EF4-FFF2-40B4-BE49-F238E27FC236}">
                <a16:creationId xmlns:a16="http://schemas.microsoft.com/office/drawing/2014/main" id="{3D17EA46-5265-4859-9459-9567CE90239C}"/>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Technical appendices support discussion with analytics and finance teams.</a:t>
            </a:r>
          </a:p>
        </p:txBody>
      </p:sp>
    </p:spTree>
    <p:extLst>
      <p:ext uri="{BB962C8B-B14F-4D97-AF65-F5344CB8AC3E}">
        <p14:creationId xmlns:p14="http://schemas.microsoft.com/office/powerpoint/2010/main" val="5935029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625E1E7-35CE-4878-BD7D-D8D41B0639B2}"/>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0A19D9-CEE8-4D7C-B19D-D1437864371B}"/>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62D9530F-48D8-4067-8163-21BC31571F85}"/>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CASE DEFINITION</a:t>
            </a:r>
          </a:p>
        </p:txBody>
      </p:sp>
      <p:sp>
        <p:nvSpPr>
          <p:cNvPr id="4" name="">
            <a:extLst xmlns:a="http://schemas.openxmlformats.org/drawingml/2006/main">
              <a:ext uri="{FF2B5EF4-FFF2-40B4-BE49-F238E27FC236}">
                <a16:creationId xmlns:a16="http://schemas.microsoft.com/office/drawing/2014/main" id="{6222017F-51D5-4670-B15C-2685F3EFFD26}"/>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Keep one case, one currency and one reporting period</a:t>
            </a:r>
          </a:p>
        </p:txBody>
      </p:sp>
      <p:sp>
        <p:nvSpPr>
          <p:cNvPr id="5" name="">
            <a:extLst xmlns:a="http://schemas.openxmlformats.org/drawingml/2006/main">
              <a:ext uri="{FF2B5EF4-FFF2-40B4-BE49-F238E27FC236}">
                <a16:creationId xmlns:a16="http://schemas.microsoft.com/office/drawing/2014/main" id="{8704D777-C26A-4D6A-91C6-4CF357108A03}"/>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7C32F8C-6B4E-408E-AE31-0048E61A453D}"/>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216234C1-3E70-4DF3-9B01-F684433D0943}"/>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97D98607-40CE-462A-A595-6E723AB84594}"/>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03</a:t>
            </a:r>
          </a:p>
        </p:txBody>
      </p:sp>
      <p:graphicFrame>
        <p:nvGraphicFramePr>
          <p:cNvPr id="9" name="">
            <a:extLst xmlns:a="http://schemas.openxmlformats.org/drawingml/2006/main">
              <a:ext uri="{FF2B5EF4-FFF2-40B4-BE49-F238E27FC236}">
                <a16:creationId xmlns:a16="http://schemas.microsoft.com/office/drawing/2014/main" id="{3CE2E7DC-2DB9-4C1C-B5F7-63FADF8C566D}"/>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952750"/>
                <a:gridCol w="7620000"/>
              </a:tblGrid>
              <a:tr h="693964">
                <a:tc>
                  <a:txBody>
                    <a:bodyPr/>
                    <a:lstStyle/>
                    <a:p>
                      <a:r>
                        <a:rPr sz="1650" b="1">
                          <a:solidFill>
                            <a:srgbClr val="FFFFFF"/>
                          </a:solidFill>
                          <a:latin typeface="Aptos"/>
                          <a:ea typeface="Aptos"/>
                          <a:cs typeface="Aptos"/>
                        </a:rPr>
                        <a:t>Item</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Illustrative case definition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93964">
                <a:tc>
                  <a:txBody>
                    <a:bodyPr/>
                    <a:lstStyle/>
                    <a:p>
                      <a:r>
                        <a:rPr sz="1650" b="1">
                          <a:solidFill>
                            <a:srgbClr val="14283A"/>
                          </a:solidFill>
                          <a:latin typeface="Aptos"/>
                          <a:ea typeface="Aptos"/>
                          <a:cs typeface="Aptos"/>
                        </a:rPr>
                        <a:t>Operator</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Nova: licensed adult sportsbook and iGaming business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Market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One hypothetical licensed market; no country-specific claims</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Observation window</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104 weekly observations; latest quarter has 13 weeks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Quarterly economics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Net gaming revenue $20.00m; paid media $4.00m</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Decision horizon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Next quarter, with seasonality held constant in the base scenario</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Scope boundary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No real competitor measurements or actual client results</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14867F04-C24F-4587-BEEB-A39445D6377C}"/>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DDF4975-9187-4F30-93B2-845F5E6F580A}"/>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5E4B663F-03F3-4E35-AA42-E0846BDE6DA0}"/>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USD throughout. “m” means million and “k” means thousand.</a:t>
            </a:r>
          </a:p>
        </p:txBody>
      </p:sp>
      <p:sp>
        <p:nvSpPr>
          <p:cNvPr id="13" name="">
            <a:extLst xmlns:a="http://schemas.openxmlformats.org/drawingml/2006/main">
              <a:ext uri="{FF2B5EF4-FFF2-40B4-BE49-F238E27FC236}">
                <a16:creationId xmlns:a16="http://schemas.microsoft.com/office/drawing/2014/main" id="{484B5421-19A2-4F85-83CC-E46326505995}"/>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External estimates inform market context. First-party data establishes financial performance.</a:t>
            </a:r>
          </a:p>
        </p:txBody>
      </p:sp>
    </p:spTree>
    <p:extLst>
      <p:ext uri="{BB962C8B-B14F-4D97-AF65-F5344CB8AC3E}">
        <p14:creationId xmlns:p14="http://schemas.microsoft.com/office/powerpoint/2010/main" val="14299645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4B8CB54-E9D5-4B07-9617-50E1FB21B248}"/>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16E37A-332A-4F37-95BD-0F72B92CB9D9}"/>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37AC2F7B-BADA-47A6-BBDB-D1019795ADC6}"/>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BUSINESS ECONOMICS</a:t>
            </a:r>
          </a:p>
        </p:txBody>
      </p:sp>
      <p:sp>
        <p:nvSpPr>
          <p:cNvPr id="4" name="">
            <a:extLst xmlns:a="http://schemas.openxmlformats.org/drawingml/2006/main">
              <a:ext uri="{FF2B5EF4-FFF2-40B4-BE49-F238E27FC236}">
                <a16:creationId xmlns:a16="http://schemas.microsoft.com/office/drawing/2014/main" id="{D17E3E4B-9418-41F7-8A7B-F5FB6C5E9053}"/>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Optimise net revenue and contribution, not deposits alone</a:t>
            </a:r>
          </a:p>
        </p:txBody>
      </p:sp>
      <p:sp>
        <p:nvSpPr>
          <p:cNvPr id="5" name="">
            <a:extLst xmlns:a="http://schemas.openxmlformats.org/drawingml/2006/main">
              <a:ext uri="{FF2B5EF4-FFF2-40B4-BE49-F238E27FC236}">
                <a16:creationId xmlns:a16="http://schemas.microsoft.com/office/drawing/2014/main" id="{AF9DB376-E056-4BEB-A5A3-F6FC7FCB8C2A}"/>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D84F63F-123B-41C1-92E8-723A9CC315BD}"/>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9846A4FA-170E-4988-AA60-A6402BF42FED}"/>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9EBF300D-E3E4-4E07-9B06-774810696A40}"/>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04</a:t>
            </a:r>
          </a:p>
        </p:txBody>
      </p:sp>
      <p:graphicFrame>
        <p:nvGraphicFramePr>
          <p:cNvPr id="9" name="">
            <a:extLst xmlns:a="http://schemas.openxmlformats.org/drawingml/2006/main">
              <a:ext uri="{FF2B5EF4-FFF2-40B4-BE49-F238E27FC236}">
                <a16:creationId xmlns:a16="http://schemas.microsoft.com/office/drawing/2014/main" id="{FCE95148-F6B8-416E-A402-C3272E85527C}"/>
              </a:ext>
            </a:extLst>
          </p:cNvPr>
          <p:cNvGraphicFramePr/>
          <p:nvPr/>
        </p:nvGraphicFramePr>
        <p:xfrm>
          <a:off xmlns:a="http://schemas.openxmlformats.org/drawingml/2006/main" x="476250" y="2190750"/>
          <a:ext xmlns:a="http://schemas.openxmlformats.org/drawingml/2006/main" cx="10572750" cy="5238750"/>
        </p:xfrm>
        <a:graphic xmlns:a="http://schemas.openxmlformats.org/drawingml/2006/main">
          <a:graphicData uri="http://schemas.openxmlformats.org/drawingml/2006/table">
            <a:tbl>
              <a:tblPr/>
              <a:tblGrid>
                <a:gridCol w="2428875"/>
                <a:gridCol w="4810125"/>
                <a:gridCol w="3333750"/>
              </a:tblGrid>
              <a:tr h="654844">
                <a:tc>
                  <a:txBody>
                    <a:bodyPr/>
                    <a:lstStyle/>
                    <a:p>
                      <a:r>
                        <a:rPr sz="1650" b="1">
                          <a:solidFill>
                            <a:srgbClr val="FFFFFF"/>
                          </a:solidFill>
                          <a:latin typeface="Aptos"/>
                          <a:ea typeface="Aptos"/>
                          <a:cs typeface="Aptos"/>
                        </a:rPr>
                        <a:t>Metric</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Illustrative quarter</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Treatment</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54844">
                <a:tc>
                  <a:txBody>
                    <a:bodyPr/>
                    <a:lstStyle/>
                    <a:p>
                      <a:r>
                        <a:rPr sz="1650" b="1">
                          <a:solidFill>
                            <a:srgbClr val="14283A"/>
                          </a:solidFill>
                          <a:latin typeface="Aptos"/>
                          <a:ea typeface="Aptos"/>
                          <a:cs typeface="Aptos"/>
                        </a:rPr>
                        <a:t>Stakes / handle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$500.00m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Activity measure, not revenue</a:t>
                      </a:r>
                    </a:p>
                  </a:txBody>
                  <a:tcPr marL="95250" marR="76200" marT="9525" marB="9525">
                    <a:lnR w="4763">
                      <a:solidFill>
                        <a:srgbClr val="DBE4E8"/>
                      </a:solidFill>
                      <a:prstDash val="solid"/>
                    </a:lnR>
                    <a:lnB w="4763">
                      <a:solidFill>
                        <a:srgbClr val="DBE4E8"/>
                      </a:solidFill>
                      <a:prstDash val="solid"/>
                    </a:lnB>
                    <a:solidFill>
                      <a:srgbClr val="FFFFFF"/>
                    </a:solidFill>
                  </a:tcPr>
                </a:tc>
              </a:tr>
              <a:tr h="654844">
                <a:tc>
                  <a:txBody>
                    <a:bodyPr/>
                    <a:lstStyle/>
                    <a:p>
                      <a:r>
                        <a:rPr sz="1650" b="1">
                          <a:solidFill>
                            <a:srgbClr val="14283A"/>
                          </a:solidFill>
                          <a:latin typeface="Aptos"/>
                          <a:ea typeface="Aptos"/>
                          <a:cs typeface="Aptos"/>
                        </a:rPr>
                        <a:t>Gross gaming revenue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$30.00m</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Stakes less player winnings</a:t>
                      </a:r>
                    </a:p>
                  </a:txBody>
                  <a:tcPr marL="95250" marR="76200" marT="9525" marB="9525">
                    <a:lnR w="4763">
                      <a:solidFill>
                        <a:srgbClr val="DBE4E8"/>
                      </a:solidFill>
                      <a:prstDash val="solid"/>
                    </a:lnR>
                    <a:lnB w="4763">
                      <a:solidFill>
                        <a:srgbClr val="DBE4E8"/>
                      </a:solidFill>
                      <a:prstDash val="solid"/>
                    </a:lnB>
                    <a:solidFill>
                      <a:srgbClr val="F0F5F7"/>
                    </a:solidFill>
                  </a:tcPr>
                </a:tc>
              </a:tr>
              <a:tr h="654844">
                <a:tc>
                  <a:txBody>
                    <a:bodyPr/>
                    <a:lstStyle/>
                    <a:p>
                      <a:r>
                        <a:rPr sz="1650" b="1">
                          <a:solidFill>
                            <a:srgbClr val="14283A"/>
                          </a:solidFill>
                          <a:latin typeface="Aptos"/>
                          <a:ea typeface="Aptos"/>
                          <a:cs typeface="Aptos"/>
                        </a:rPr>
                        <a:t>Bonuses and agreed deductions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($10.00m)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Reconcile deductions with finance</a:t>
                      </a:r>
                    </a:p>
                  </a:txBody>
                  <a:tcPr marL="95250" marR="76200" marT="9525" marB="9525">
                    <a:lnR w="4763">
                      <a:solidFill>
                        <a:srgbClr val="DBE4E8"/>
                      </a:solidFill>
                      <a:prstDash val="solid"/>
                    </a:lnR>
                    <a:lnB w="4763">
                      <a:solidFill>
                        <a:srgbClr val="DBE4E8"/>
                      </a:solidFill>
                      <a:prstDash val="solid"/>
                    </a:lnB>
                    <a:solidFill>
                      <a:srgbClr val="FFFFFF"/>
                    </a:solidFill>
                  </a:tcPr>
                </a:tc>
              </a:tr>
              <a:tr h="654844">
                <a:tc>
                  <a:txBody>
                    <a:bodyPr/>
                    <a:lstStyle/>
                    <a:p>
                      <a:r>
                        <a:rPr sz="1650" b="1">
                          <a:solidFill>
                            <a:srgbClr val="14283A"/>
                          </a:solidFill>
                          <a:latin typeface="Aptos"/>
                          <a:ea typeface="Aptos"/>
                          <a:cs typeface="Aptos"/>
                        </a:rPr>
                        <a:t>Net gaming revenue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$20.00m</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Primary outcome in this demo</a:t>
                      </a:r>
                    </a:p>
                  </a:txBody>
                  <a:tcPr marL="95250" marR="76200" marT="9525" marB="9525">
                    <a:lnR w="4763">
                      <a:solidFill>
                        <a:srgbClr val="DBE4E8"/>
                      </a:solidFill>
                      <a:prstDash val="solid"/>
                    </a:lnR>
                    <a:lnB w="4763">
                      <a:solidFill>
                        <a:srgbClr val="DBE4E8"/>
                      </a:solidFill>
                      <a:prstDash val="solid"/>
                    </a:lnB>
                    <a:solidFill>
                      <a:srgbClr val="F0F5F7"/>
                    </a:solidFill>
                  </a:tcPr>
                </a:tc>
              </a:tr>
              <a:tr h="654844">
                <a:tc>
                  <a:txBody>
                    <a:bodyPr/>
                    <a:lstStyle/>
                    <a:p>
                      <a:r>
                        <a:rPr sz="1650" b="1">
                          <a:solidFill>
                            <a:srgbClr val="14283A"/>
                          </a:solidFill>
                          <a:latin typeface="Aptos"/>
                          <a:ea typeface="Aptos"/>
                          <a:cs typeface="Aptos"/>
                        </a:rPr>
                        <a:t>Variable operating costs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($7.00m)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35% of NGR, scenario assumption</a:t>
                      </a:r>
                    </a:p>
                  </a:txBody>
                  <a:tcPr marL="95250" marR="76200" marT="9525" marB="9525">
                    <a:lnR w="4763">
                      <a:solidFill>
                        <a:srgbClr val="DBE4E8"/>
                      </a:solidFill>
                      <a:prstDash val="solid"/>
                    </a:lnR>
                    <a:lnB w="4763">
                      <a:solidFill>
                        <a:srgbClr val="DBE4E8"/>
                      </a:solidFill>
                      <a:prstDash val="solid"/>
                    </a:lnB>
                    <a:solidFill>
                      <a:srgbClr val="FFFFFF"/>
                    </a:solidFill>
                  </a:tcPr>
                </a:tc>
              </a:tr>
              <a:tr h="654844">
                <a:tc>
                  <a:txBody>
                    <a:bodyPr/>
                    <a:lstStyle/>
                    <a:p>
                      <a:r>
                        <a:rPr sz="1650" b="1">
                          <a:solidFill>
                            <a:srgbClr val="14283A"/>
                          </a:solidFill>
                          <a:latin typeface="Aptos"/>
                          <a:ea typeface="Aptos"/>
                          <a:cs typeface="Aptos"/>
                        </a:rPr>
                        <a:t>Paid media</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($4.00m)</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Separate acquisition investment</a:t>
                      </a:r>
                    </a:p>
                  </a:txBody>
                  <a:tcPr marL="95250" marR="76200" marT="9525" marB="9525">
                    <a:lnR w="4763">
                      <a:solidFill>
                        <a:srgbClr val="DBE4E8"/>
                      </a:solidFill>
                      <a:prstDash val="solid"/>
                    </a:lnR>
                    <a:lnB w="4763">
                      <a:solidFill>
                        <a:srgbClr val="DBE4E8"/>
                      </a:solidFill>
                      <a:prstDash val="solid"/>
                    </a:lnB>
                    <a:solidFill>
                      <a:srgbClr val="F0F5F7"/>
                    </a:solidFill>
                  </a:tcPr>
                </a:tc>
              </a:tr>
              <a:tr h="654844">
                <a:tc>
                  <a:txBody>
                    <a:bodyPr/>
                    <a:lstStyle/>
                    <a:p>
                      <a:r>
                        <a:rPr sz="1650" b="1">
                          <a:solidFill>
                            <a:srgbClr val="14283A"/>
                          </a:solidFill>
                          <a:latin typeface="Aptos"/>
                          <a:ea typeface="Aptos"/>
                          <a:cs typeface="Aptos"/>
                        </a:rPr>
                        <a:t>Contribution after media</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$9.00m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Before fixed costs and tax</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2AD27C06-695D-441D-BED6-AE6A95C79C88}"/>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8194A2B-0BD5-4973-8D1A-DA947355C820}"/>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A646D9AC-CCC0-4D44-BC4A-4ECD897DA38D}"/>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 higher deposit total can coexist with weaker economics.</a:t>
            </a:r>
          </a:p>
        </p:txBody>
      </p:sp>
      <p:sp>
        <p:nvSpPr>
          <p:cNvPr id="13" name="">
            <a:extLst xmlns:a="http://schemas.openxmlformats.org/drawingml/2006/main">
              <a:ext uri="{FF2B5EF4-FFF2-40B4-BE49-F238E27FC236}">
                <a16:creationId xmlns:a16="http://schemas.microsoft.com/office/drawing/2014/main" id="{39D521E1-7344-47C4-B96C-FB5559189CED}"/>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Agree the NGR definition before modelling. Operator accounting definitions vary.</a:t>
            </a:r>
          </a:p>
        </p:txBody>
      </p:sp>
    </p:spTree>
    <p:extLst>
      <p:ext uri="{BB962C8B-B14F-4D97-AF65-F5344CB8AC3E}">
        <p14:creationId xmlns:p14="http://schemas.microsoft.com/office/powerpoint/2010/main" val="8958839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DABB86D-D79C-4EB1-BE47-DF1D91ACF6EE}"/>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CAB887-5CD6-4F3C-A15C-5B451A129437}"/>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BEDB496B-868E-4FB3-A8A8-98A4034EA26C}"/>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BUSINESS ECONOMICS</a:t>
            </a:r>
          </a:p>
        </p:txBody>
      </p:sp>
      <p:sp>
        <p:nvSpPr>
          <p:cNvPr id="4" name="">
            <a:extLst xmlns:a="http://schemas.openxmlformats.org/drawingml/2006/main">
              <a:ext uri="{FF2B5EF4-FFF2-40B4-BE49-F238E27FC236}">
                <a16:creationId xmlns:a16="http://schemas.microsoft.com/office/drawing/2014/main" id="{E84149FA-810F-423E-83C0-733F3736AB77}"/>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Different gaming models need different outcome definitions</a:t>
            </a:r>
          </a:p>
        </p:txBody>
      </p:sp>
      <p:sp>
        <p:nvSpPr>
          <p:cNvPr id="5" name="">
            <a:extLst xmlns:a="http://schemas.openxmlformats.org/drawingml/2006/main">
              <a:ext uri="{FF2B5EF4-FFF2-40B4-BE49-F238E27FC236}">
                <a16:creationId xmlns:a16="http://schemas.microsoft.com/office/drawing/2014/main" id="{9D92CB25-0813-4B8D-906C-05829E762C53}"/>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3E65C86-1732-4534-847C-FE2273996ACA}"/>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C60518AF-2992-4B2E-9D27-A65ABB77C885}"/>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28C209E4-185B-41F7-8F72-1ACFFF4FA1F3}"/>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05</a:t>
            </a:r>
          </a:p>
        </p:txBody>
      </p:sp>
      <p:graphicFrame>
        <p:nvGraphicFramePr>
          <p:cNvPr id="9" name="">
            <a:extLst xmlns:a="http://schemas.openxmlformats.org/drawingml/2006/main">
              <a:ext uri="{FF2B5EF4-FFF2-40B4-BE49-F238E27FC236}">
                <a16:creationId xmlns:a16="http://schemas.microsoft.com/office/drawing/2014/main" id="{DC1B013D-6302-43E3-A6A5-CE94971DB06C}"/>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809625">
                <a:tc>
                  <a:txBody>
                    <a:bodyPr/>
                    <a:lstStyle/>
                    <a:p>
                      <a:r>
                        <a:rPr sz="1650" b="1">
                          <a:solidFill>
                            <a:srgbClr val="FFFFFF"/>
                          </a:solidFill>
                          <a:latin typeface="Aptos"/>
                          <a:ea typeface="Aptos"/>
                          <a:cs typeface="Aptos"/>
                        </a:rPr>
                        <a:t>Business</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Primary outcome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Supporting measures</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Sportsbook</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Normalised NGR / contribution</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FTDs, active customers, stakes, hold</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Online casino</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NGR / contribution</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FTDs, active days, bonuses, game mix</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Free-to-play games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Net receipts / payer value</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Installs, payer conversion, retention</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Subscription video</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Incremental contribution</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Trials, paid starts, churn, ARPU</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E-commerce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Contribution after fulfilment</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Orders, repeat purchase, returns</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E6CD8583-FF84-49A1-B263-0E090C1E94C2}"/>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92B48AF-9367-478D-82C1-A9EA48FA606F}"/>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44CED1D7-EE23-4023-8CB0-21B1E3305A88}"/>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FTD means first-time depositor. An install is not an FTD.</a:t>
            </a:r>
          </a:p>
        </p:txBody>
      </p:sp>
      <p:sp>
        <p:nvSpPr>
          <p:cNvPr id="13" name="">
            <a:extLst xmlns:a="http://schemas.openxmlformats.org/drawingml/2006/main">
              <a:ext uri="{FF2B5EF4-FFF2-40B4-BE49-F238E27FC236}">
                <a16:creationId xmlns:a16="http://schemas.microsoft.com/office/drawing/2014/main" id="{0E4EF670-E2C5-4DFF-B2D6-3AFC19B801D6}"/>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measurement method travels across sectors; the economics and constraints change.</a:t>
            </a:r>
          </a:p>
        </p:txBody>
      </p:sp>
    </p:spTree>
    <p:extLst>
      <p:ext uri="{BB962C8B-B14F-4D97-AF65-F5344CB8AC3E}">
        <p14:creationId xmlns:p14="http://schemas.microsoft.com/office/powerpoint/2010/main" val="3536304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587CD20-24EF-4367-991D-DEA36C3ACAAA}"/>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ACA8D8-FE1C-4530-9FEB-F39E0DB79707}"/>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8DE66889-68F6-4840-9365-A33BE8824135}"/>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DATA FOUNDATION</a:t>
            </a:r>
          </a:p>
        </p:txBody>
      </p:sp>
      <p:sp>
        <p:nvSpPr>
          <p:cNvPr id="4" name="">
            <a:extLst xmlns:a="http://schemas.openxmlformats.org/drawingml/2006/main">
              <a:ext uri="{FF2B5EF4-FFF2-40B4-BE49-F238E27FC236}">
                <a16:creationId xmlns:a16="http://schemas.microsoft.com/office/drawing/2014/main" id="{671B630B-52E0-4B44-A077-3452954F6089}"/>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A weekly data spine connects media to business outcomes</a:t>
            </a:r>
          </a:p>
        </p:txBody>
      </p:sp>
      <p:sp>
        <p:nvSpPr>
          <p:cNvPr id="5" name="">
            <a:extLst xmlns:a="http://schemas.openxmlformats.org/drawingml/2006/main">
              <a:ext uri="{FF2B5EF4-FFF2-40B4-BE49-F238E27FC236}">
                <a16:creationId xmlns:a16="http://schemas.microsoft.com/office/drawing/2014/main" id="{CECC5E48-EAF5-48A9-8F9D-6F3F36F48C5F}"/>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9CB12F0-61E6-49FD-A1D2-CB5F8F78613D}"/>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618F126B-93E6-48D0-B6C4-930A2E553FA1}"/>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0B4FD959-D77F-4D7A-8899-491CB60C9CBF}"/>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06</a:t>
            </a:r>
          </a:p>
        </p:txBody>
      </p:sp>
      <p:graphicFrame>
        <p:nvGraphicFramePr>
          <p:cNvPr id="9" name="">
            <a:extLst xmlns:a="http://schemas.openxmlformats.org/drawingml/2006/main">
              <a:ext uri="{FF2B5EF4-FFF2-40B4-BE49-F238E27FC236}">
                <a16:creationId xmlns:a16="http://schemas.microsoft.com/office/drawing/2014/main" id="{523B4354-8104-44B5-BB86-E3674EB15A29}"/>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693964">
                <a:tc>
                  <a:txBody>
                    <a:bodyPr/>
                    <a:lstStyle/>
                    <a:p>
                      <a:r>
                        <a:rPr sz="1650" b="1">
                          <a:solidFill>
                            <a:srgbClr val="FFFFFF"/>
                          </a:solidFill>
                          <a:latin typeface="Aptos"/>
                          <a:ea typeface="Aptos"/>
                          <a:cs typeface="Aptos"/>
                        </a:rPr>
                        <a:t>Data group</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Required fields</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Typical owner</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93964">
                <a:tc>
                  <a:txBody>
                    <a:bodyPr/>
                    <a:lstStyle/>
                    <a:p>
                      <a:r>
                        <a:rPr sz="1650" b="1">
                          <a:solidFill>
                            <a:srgbClr val="14283A"/>
                          </a:solidFill>
                          <a:latin typeface="Aptos"/>
                          <a:ea typeface="Aptos"/>
                          <a:cs typeface="Aptos"/>
                        </a:rPr>
                        <a:t>Outcomes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NGR, GGR, FTDs, active customers, deposits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Finance / BI</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Media</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Spend, impressions, clicks, reach by channel</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Marketing</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Commercial events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Bonus costs, product releases, sponsorships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Commercial</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Operations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Downtime, KYC completion, payment success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Product / payments</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Context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Sports calendar, seasonality, competitor signals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Analytics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Governance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Market, age eligibility, consent, exclusions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Compliance / CRM</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D0E208E6-D4DD-4A51-830C-0A62906B8556}"/>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BA4D17-30EA-4C62-A6D4-5DB4A0F9982B}"/>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F8F4C4E9-B125-45EF-BDD5-A2289CEA83AD}"/>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104 weeks is the example window, not a universal sufficiency rule.</a:t>
            </a:r>
          </a:p>
        </p:txBody>
      </p:sp>
      <p:sp>
        <p:nvSpPr>
          <p:cNvPr id="13" name="">
            <a:extLst xmlns:a="http://schemas.openxmlformats.org/drawingml/2006/main">
              <a:ext uri="{FF2B5EF4-FFF2-40B4-BE49-F238E27FC236}">
                <a16:creationId xmlns:a16="http://schemas.microsoft.com/office/drawing/2014/main" id="{0226FDDE-B3BB-45B4-8FE5-E4991DE82B3F}"/>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Feasibility depends on variation, channel overlap, data quality and the number of parameters.</a:t>
            </a:r>
          </a:p>
        </p:txBody>
      </p:sp>
    </p:spTree>
    <p:extLst>
      <p:ext uri="{BB962C8B-B14F-4D97-AF65-F5344CB8AC3E}">
        <p14:creationId xmlns:p14="http://schemas.microsoft.com/office/powerpoint/2010/main" val="17895855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F5A669-B87D-4D01-972A-357BD1B635AE}"/>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BCDA8A-0465-428F-BA68-99DA0D2452F3}"/>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2A27E8B8-57A0-482E-929C-17BD3B091E67}"/>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DATA FOUNDATION</a:t>
            </a:r>
          </a:p>
        </p:txBody>
      </p:sp>
      <p:sp>
        <p:nvSpPr>
          <p:cNvPr id="4" name="">
            <a:extLst xmlns:a="http://schemas.openxmlformats.org/drawingml/2006/main">
              <a:ext uri="{FF2B5EF4-FFF2-40B4-BE49-F238E27FC236}">
                <a16:creationId xmlns:a16="http://schemas.microsoft.com/office/drawing/2014/main" id="{4CD45715-B36C-4EB8-B0D8-0A5058F19F77}"/>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Resolve data defects before explaining business performance</a:t>
            </a:r>
          </a:p>
        </p:txBody>
      </p:sp>
      <p:sp>
        <p:nvSpPr>
          <p:cNvPr id="5" name="">
            <a:extLst xmlns:a="http://schemas.openxmlformats.org/drawingml/2006/main">
              <a:ext uri="{FF2B5EF4-FFF2-40B4-BE49-F238E27FC236}">
                <a16:creationId xmlns:a16="http://schemas.microsoft.com/office/drawing/2014/main" id="{2BE811C6-2382-4F45-B1D6-51067EB70D0A}"/>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BF76D18-5382-490F-9929-13DDCB9F0DA2}"/>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A1E26214-FB20-484A-9E7A-33F85A3BF987}"/>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73383820-A8BA-46E5-91B0-AB64B87926DD}"/>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07</a:t>
            </a:r>
          </a:p>
        </p:txBody>
      </p:sp>
      <p:graphicFrame>
        <p:nvGraphicFramePr>
          <p:cNvPr id="9" name="">
            <a:extLst xmlns:a="http://schemas.openxmlformats.org/drawingml/2006/main">
              <a:ext uri="{FF2B5EF4-FFF2-40B4-BE49-F238E27FC236}">
                <a16:creationId xmlns:a16="http://schemas.microsoft.com/office/drawing/2014/main" id="{2A1A0318-8B32-4246-89C8-5C016F86E22C}"/>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693964">
                <a:tc>
                  <a:txBody>
                    <a:bodyPr/>
                    <a:lstStyle/>
                    <a:p>
                      <a:r>
                        <a:rPr sz="1650" b="1">
                          <a:solidFill>
                            <a:srgbClr val="FFFFFF"/>
                          </a:solidFill>
                          <a:latin typeface="Aptos"/>
                          <a:ea typeface="Aptos"/>
                          <a:cs typeface="Aptos"/>
                        </a:rPr>
                        <a:t>Check</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Example finding</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Required action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93964">
                <a:tc>
                  <a:txBody>
                    <a:bodyPr/>
                    <a:lstStyle/>
                    <a:p>
                      <a:r>
                        <a:rPr sz="1650" b="1">
                          <a:solidFill>
                            <a:srgbClr val="14283A"/>
                          </a:solidFill>
                          <a:latin typeface="Aptos"/>
                          <a:ea typeface="Aptos"/>
                          <a:cs typeface="Aptos"/>
                        </a:rPr>
                        <a:t>Finance reconciliation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NGR differs by 1.2% between extracts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Agree deductions and reporting cut-off</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Missing weeks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Two affiliate-spend weeks absent</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Backfill from invoices; do not set to zero</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Currency and time zones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Mixed currencies / week boundaries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Standardise before aggregation</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Channel taxonomy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Brand and non-brand search merged</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Split where history supports identification</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Tracking breaks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App update changes event names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Bridge definitions and flag the break</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Unusual observations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Major sporting-event peak</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Retain and explain; do not delete blindly</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A98583AB-7137-4957-9EFA-66448BD8D076}"/>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7FA3820-F85F-480E-8C24-07A3CF32EA01}"/>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61B51881-6A15-4AA3-B224-0A76AFBF2C20}"/>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Illustrative quality issues show the review process.</a:t>
            </a:r>
          </a:p>
        </p:txBody>
      </p:sp>
      <p:sp>
        <p:nvSpPr>
          <p:cNvPr id="13" name="">
            <a:extLst xmlns:a="http://schemas.openxmlformats.org/drawingml/2006/main">
              <a:ext uri="{FF2B5EF4-FFF2-40B4-BE49-F238E27FC236}">
                <a16:creationId xmlns:a16="http://schemas.microsoft.com/office/drawing/2014/main" id="{B995ECC8-F12B-4E1F-815D-C29F368E6BD3}"/>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Keep a change log so every model refresh is reproducible.</a:t>
            </a:r>
          </a:p>
        </p:txBody>
      </p:sp>
    </p:spTree>
    <p:extLst>
      <p:ext uri="{BB962C8B-B14F-4D97-AF65-F5344CB8AC3E}">
        <p14:creationId xmlns:p14="http://schemas.microsoft.com/office/powerpoint/2010/main" val="12687409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F89B3DD-F80E-45DE-AED7-7E599534E864}"/>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61F525-C806-49B5-848B-02671FB4E3C3}"/>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1C34AF2B-7903-4D90-B334-C263F777B8F1}"/>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ENGINE WALKTHROUGH</a:t>
            </a:r>
          </a:p>
        </p:txBody>
      </p:sp>
      <p:sp>
        <p:nvSpPr>
          <p:cNvPr id="4" name="">
            <a:extLst xmlns:a="http://schemas.openxmlformats.org/drawingml/2006/main">
              <a:ext uri="{FF2B5EF4-FFF2-40B4-BE49-F238E27FC236}">
                <a16:creationId xmlns:a16="http://schemas.microsoft.com/office/drawing/2014/main" id="{A81E5FB5-445B-449D-9777-571204D04623}"/>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The video demonstrates a four-stage modelling workflow</a:t>
            </a:r>
          </a:p>
        </p:txBody>
      </p:sp>
      <p:sp>
        <p:nvSpPr>
          <p:cNvPr id="5" name="">
            <a:extLst xmlns:a="http://schemas.openxmlformats.org/drawingml/2006/main">
              <a:ext uri="{FF2B5EF4-FFF2-40B4-BE49-F238E27FC236}">
                <a16:creationId xmlns:a16="http://schemas.microsoft.com/office/drawing/2014/main" id="{661389C7-EAAD-4C83-B791-A81DDE9FB0B6}"/>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5A48496-C941-487C-A2AC-E9328CE77C6E}"/>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D1E54241-C142-4923-8B21-DD727012882A}"/>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B2D44106-DB96-4F57-8DD6-2CF5FDED5FC8}"/>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08</a:t>
            </a:r>
          </a:p>
        </p:txBody>
      </p:sp>
      <p:graphicFrame>
        <p:nvGraphicFramePr>
          <p:cNvPr id="9" name="">
            <a:extLst xmlns:a="http://schemas.openxmlformats.org/drawingml/2006/main">
              <a:ext uri="{FF2B5EF4-FFF2-40B4-BE49-F238E27FC236}">
                <a16:creationId xmlns:a16="http://schemas.microsoft.com/office/drawing/2014/main" id="{AE2AC50C-9600-4102-BF8C-AA7CE4EF8CB6}"/>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971550">
                <a:tc>
                  <a:txBody>
                    <a:bodyPr/>
                    <a:lstStyle/>
                    <a:p>
                      <a:r>
                        <a:rPr sz="1650" b="1">
                          <a:solidFill>
                            <a:srgbClr val="FFFFFF"/>
                          </a:solidFill>
                          <a:latin typeface="Aptos"/>
                          <a:ea typeface="Aptos"/>
                          <a:cs typeface="Aptos"/>
                        </a:rPr>
                        <a:t>Stage</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Visible in the supplied video</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How to present it</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971550">
                <a:tc>
                  <a:txBody>
                    <a:bodyPr/>
                    <a:lstStyle/>
                    <a:p>
                      <a:r>
                        <a:rPr sz="1650" b="1">
                          <a:solidFill>
                            <a:srgbClr val="14283A"/>
                          </a:solidFill>
                          <a:latin typeface="Aptos"/>
                          <a:ea typeface="Aptos"/>
                          <a:cs typeface="Aptos"/>
                        </a:rPr>
                        <a:t>1. Data and variables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Project setup, variable groups and time series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Show the outcome and the data scope</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2. Model</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Fit metrics, contributions, ROAS and parameter controls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Explain drivers and inspect diagnostics</a:t>
                      </a:r>
                    </a:p>
                  </a:txBody>
                  <a:tcPr marL="95250" marR="76200" marT="9525" marB="9525">
                    <a:lnR w="4763">
                      <a:solidFill>
                        <a:srgbClr val="DBE4E8"/>
                      </a:solidFill>
                      <a:prstDash val="solid"/>
                    </a:lnR>
                    <a:lnB w="4763">
                      <a:solidFill>
                        <a:srgbClr val="DBE4E8"/>
                      </a:solidFill>
                      <a:prstDash val="solid"/>
                    </a:lnB>
                    <a:solidFill>
                      <a:srgbClr val="F0F5F7"/>
                    </a:solidFill>
                  </a:tcPr>
                </a:tc>
              </a:tr>
              <a:tr h="971550">
                <a:tc>
                  <a:txBody>
                    <a:bodyPr/>
                    <a:lstStyle/>
                    <a:p>
                      <a:r>
                        <a:rPr sz="1650" b="1">
                          <a:solidFill>
                            <a:srgbClr val="14283A"/>
                          </a:solidFill>
                          <a:latin typeface="Aptos"/>
                          <a:ea typeface="Aptos"/>
                          <a:cs typeface="Aptos"/>
                        </a:rPr>
                        <a:t>3. Optimise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Target-contribution inputs and model comparison</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Show assumptions and feasible constraints</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4. Compare and export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Saved models, comparison views and export area</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Preserve the selected model and rationale</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A86AA4D4-4346-4773-A30F-A6354C54EF67}"/>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8FDAAED-F512-42C9-9EFD-03A1406930F6}"/>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F239B822-55CD-4E5D-9991-5E07EE6B663D}"/>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recorded demonstration uses a retail example. These slides adapt the business questions to gaming.</a:t>
            </a:r>
          </a:p>
        </p:txBody>
      </p:sp>
      <p:sp>
        <p:nvSpPr>
          <p:cNvPr id="13" name="">
            <a:extLst xmlns:a="http://schemas.openxmlformats.org/drawingml/2006/main">
              <a:ext uri="{FF2B5EF4-FFF2-40B4-BE49-F238E27FC236}">
                <a16:creationId xmlns:a16="http://schemas.microsoft.com/office/drawing/2014/main" id="{339B5186-DAAC-4F11-9F91-81E86F8D2E02}"/>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Campaign, format and audience depth appear as “what’s next” in the video, not verified live features.</a:t>
            </a:r>
          </a:p>
        </p:txBody>
      </p:sp>
    </p:spTree>
    <p:extLst>
      <p:ext uri="{BB962C8B-B14F-4D97-AF65-F5344CB8AC3E}">
        <p14:creationId xmlns:p14="http://schemas.microsoft.com/office/powerpoint/2010/main" val="4802474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B228775-4BC3-4466-BE31-37BCA05B9B5A}"/>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48161C-0EA2-42ED-B634-28BC494DC24D}"/>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38A27E1C-F83A-451F-8525-8A3783D35A72}"/>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ENGINE WALKTHROUGH</a:t>
            </a:r>
          </a:p>
        </p:txBody>
      </p:sp>
      <p:sp>
        <p:nvSpPr>
          <p:cNvPr id="4" name="">
            <a:extLst xmlns:a="http://schemas.openxmlformats.org/drawingml/2006/main">
              <a:ext uri="{FF2B5EF4-FFF2-40B4-BE49-F238E27FC236}">
                <a16:creationId xmlns:a16="http://schemas.microsoft.com/office/drawing/2014/main" id="{5FD08DDB-3096-4247-A2B6-729C76297107}"/>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Inspect the assumptions behind every channel estimate</a:t>
            </a:r>
          </a:p>
        </p:txBody>
      </p:sp>
      <p:sp>
        <p:nvSpPr>
          <p:cNvPr id="5" name="">
            <a:extLst xmlns:a="http://schemas.openxmlformats.org/drawingml/2006/main">
              <a:ext uri="{FF2B5EF4-FFF2-40B4-BE49-F238E27FC236}">
                <a16:creationId xmlns:a16="http://schemas.microsoft.com/office/drawing/2014/main" id="{EEBFBDE4-1332-43A5-9B00-21B6E07C0E82}"/>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D883634-1590-4EE2-9782-1C6771156BED}"/>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B4C06C85-4A2D-44BC-BDB7-D35B0F3DFE59}"/>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FE359552-EF49-4990-8C15-747B34FCC88F}"/>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09</a:t>
            </a:r>
          </a:p>
        </p:txBody>
      </p:sp>
      <p:graphicFrame>
        <p:nvGraphicFramePr>
          <p:cNvPr id="9" name="">
            <a:extLst xmlns:a="http://schemas.openxmlformats.org/drawingml/2006/main">
              <a:ext uri="{FF2B5EF4-FFF2-40B4-BE49-F238E27FC236}">
                <a16:creationId xmlns:a16="http://schemas.microsoft.com/office/drawing/2014/main" id="{42B55ACF-F299-40DC-9CEB-902B0B71E824}"/>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809625">
                <a:tc>
                  <a:txBody>
                    <a:bodyPr/>
                    <a:lstStyle/>
                    <a:p>
                      <a:r>
                        <a:rPr sz="1650" b="1">
                          <a:solidFill>
                            <a:srgbClr val="FFFFFF"/>
                          </a:solidFill>
                          <a:latin typeface="Aptos"/>
                          <a:ea typeface="Aptos"/>
                          <a:cs typeface="Aptos"/>
                        </a:rPr>
                        <a:t>Control / metric</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Meaning</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Review question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Carryover θ</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Persistence of a media effect</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Is the lag plausible for the buying journey?</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Shape α and inflexion γ</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Shape of the response curve</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Does the observed spend support this curve?</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Coefficient β</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Estimated effect on the outcome scale</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Does the sign make business sense?</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p-value, standard error, VIF</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Statistical diagnostics visible in the video</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Are estimates stable and channels separable?</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Model history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Saved specifications and comparisons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Why was this version selected?</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AC043C2-0CEA-4F26-9797-99BA5D6A58FB}"/>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A33035D-6293-4F8D-97B0-2FD43524EA8A}"/>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7625B8E8-6CB4-40D0-AB7C-51EC82C120A0}"/>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Parameter changes should test a hypothesis, not manufacture a desired recommendation.</a:t>
            </a:r>
          </a:p>
        </p:txBody>
      </p:sp>
      <p:sp>
        <p:nvSpPr>
          <p:cNvPr id="13" name="">
            <a:extLst xmlns:a="http://schemas.openxmlformats.org/drawingml/2006/main">
              <a:ext uri="{FF2B5EF4-FFF2-40B4-BE49-F238E27FC236}">
                <a16:creationId xmlns:a16="http://schemas.microsoft.com/office/drawing/2014/main" id="{F6CF11F1-35DC-440F-B6AE-5E9D8D33AE62}"/>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recorded interface exposes regression-style diagnostics. No claim is made about its underlying estimator.</a:t>
            </a:r>
          </a:p>
        </p:txBody>
      </p:sp>
    </p:spTree>
    <p:extLst>
      <p:ext uri="{BB962C8B-B14F-4D97-AF65-F5344CB8AC3E}">
        <p14:creationId xmlns:p14="http://schemas.microsoft.com/office/powerpoint/2010/main" val="4187068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0CC02F9-641F-43CC-9722-E4597335B2E8}"/>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9D11D2-EE0A-4235-941A-46CCDE2E8BFC}"/>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FD6DC491-CBC9-4688-8D49-B609D72FB6E0}"/>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MMM RESULTS</a:t>
            </a:r>
          </a:p>
        </p:txBody>
      </p:sp>
      <p:sp>
        <p:nvSpPr>
          <p:cNvPr id="4" name="">
            <a:extLst xmlns:a="http://schemas.openxmlformats.org/drawingml/2006/main">
              <a:ext uri="{FF2B5EF4-FFF2-40B4-BE49-F238E27FC236}">
                <a16:creationId xmlns:a16="http://schemas.microsoft.com/office/drawing/2014/main" id="{F2AE56AF-70D8-4BE0-8184-65D43C485B58}"/>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Paid media accounts for $8.12m of the $20m example quarter</a:t>
            </a:r>
          </a:p>
        </p:txBody>
      </p:sp>
      <p:sp>
        <p:nvSpPr>
          <p:cNvPr id="5" name="">
            <a:extLst xmlns:a="http://schemas.openxmlformats.org/drawingml/2006/main">
              <a:ext uri="{FF2B5EF4-FFF2-40B4-BE49-F238E27FC236}">
                <a16:creationId xmlns:a16="http://schemas.microsoft.com/office/drawing/2014/main" id="{1707BA3A-FA56-456F-ABF7-33E7D1210EB2}"/>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619AE89-E06E-4181-8547-52E8DAE03E45}"/>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68095219-A27D-4828-97BC-DF126A05A631}"/>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4AD3FC01-BDAB-4C13-B56A-B87F1D0C794C}"/>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10</a:t>
            </a:r>
          </a:p>
        </p:txBody>
      </p:sp>
      <p:graphicFrame>
        <p:nvGraphicFramePr>
          <p:cNvPr id="9" name="Chart">
            <a:extLst xmlns:a="http://schemas.openxmlformats.org/drawingml/2006/main">
              <a:ext uri="{FF2B5EF4-FFF2-40B4-BE49-F238E27FC236}">
                <a16:creationId xmlns:a16="http://schemas.microsoft.com/office/drawing/2014/main" id="{7B12BE01-8215-4476-A0DD-E6FFFF20D891}"/>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8433e95d5d2d4b51"/>
          </a:graphicData>
        </a:graphic>
      </p:graphicFrame>
      <p:sp>
        <p:nvSpPr>
          <p:cNvPr id="10" name="">
            <a:extLst xmlns:a="http://schemas.openxmlformats.org/drawingml/2006/main">
              <a:ext uri="{FF2B5EF4-FFF2-40B4-BE49-F238E27FC236}">
                <a16:creationId xmlns:a16="http://schemas.microsoft.com/office/drawing/2014/main" id="{DE98CC3D-5EA3-4E72-8A0B-D7B022450E12}"/>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505645-6E61-4DB3-91EF-22828B66E1CB}"/>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5B4C25E5-4193-4F96-8F9B-D00AE257B011}"/>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Paid media represents 40.6% of NGR in this constructed decomposition.</a:t>
            </a:r>
          </a:p>
        </p:txBody>
      </p:sp>
      <p:sp>
        <p:nvSpPr>
          <p:cNvPr id="13" name="">
            <a:extLst xmlns:a="http://schemas.openxmlformats.org/drawingml/2006/main">
              <a:ext uri="{FF2B5EF4-FFF2-40B4-BE49-F238E27FC236}">
                <a16:creationId xmlns:a16="http://schemas.microsoft.com/office/drawing/2014/main" id="{F26BE8FE-FB1E-40ED-B3E5-41935690CA95}"/>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Base and contextual drivers are model components, not separately observed revenue streams.</a:t>
            </a:r>
          </a:p>
        </p:txBody>
      </p:sp>
    </p:spTree>
    <p:extLst>
      <p:ext uri="{BB962C8B-B14F-4D97-AF65-F5344CB8AC3E}">
        <p14:creationId xmlns:p14="http://schemas.microsoft.com/office/powerpoint/2010/main" val="14116548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B80B4BE-05AA-430E-9672-E42F30BE63D8}"/>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FC8CFC-4E68-4555-94F6-312B9A8F11DF}"/>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39BA2754-FF99-4F07-8592-797A823C1D1D}"/>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MMM RESULTS</a:t>
            </a:r>
          </a:p>
        </p:txBody>
      </p:sp>
      <p:sp>
        <p:nvSpPr>
          <p:cNvPr id="4" name="">
            <a:extLst xmlns:a="http://schemas.openxmlformats.org/drawingml/2006/main">
              <a:ext uri="{FF2B5EF4-FFF2-40B4-BE49-F238E27FC236}">
                <a16:creationId xmlns:a16="http://schemas.microsoft.com/office/drawing/2014/main" id="{F8E3378B-07C3-4819-B9BB-3CE0EF438FFE}"/>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Search leads attributed NGR; spend alone does not explain value</a:t>
            </a:r>
          </a:p>
        </p:txBody>
      </p:sp>
      <p:sp>
        <p:nvSpPr>
          <p:cNvPr id="5" name="">
            <a:extLst xmlns:a="http://schemas.openxmlformats.org/drawingml/2006/main">
              <a:ext uri="{FF2B5EF4-FFF2-40B4-BE49-F238E27FC236}">
                <a16:creationId xmlns:a16="http://schemas.microsoft.com/office/drawing/2014/main" id="{9C84ED4D-8F56-4037-9004-B7329E59543C}"/>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6ECC4AD-6787-40A3-BED8-92D975CB72BF}"/>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8727CDEE-E9EA-4817-A1EF-39CB6BA3C5BA}"/>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E9A97CFB-A537-4324-85D2-6F7616A7DECF}"/>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11</a:t>
            </a:r>
          </a:p>
        </p:txBody>
      </p:sp>
      <p:graphicFrame>
        <p:nvGraphicFramePr>
          <p:cNvPr id="9" name="Chart">
            <a:extLst xmlns:a="http://schemas.openxmlformats.org/drawingml/2006/main">
              <a:ext uri="{FF2B5EF4-FFF2-40B4-BE49-F238E27FC236}">
                <a16:creationId xmlns:a16="http://schemas.microsoft.com/office/drawing/2014/main" id="{5199E0A6-47B4-46C3-AFD5-69A025CBC986}"/>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0c4b85472ecf48e0"/>
          </a:graphicData>
        </a:graphic>
      </p:graphicFrame>
      <p:sp>
        <p:nvSpPr>
          <p:cNvPr id="10" name="">
            <a:extLst xmlns:a="http://schemas.openxmlformats.org/drawingml/2006/main">
              <a:ext uri="{FF2B5EF4-FFF2-40B4-BE49-F238E27FC236}">
                <a16:creationId xmlns:a16="http://schemas.microsoft.com/office/drawing/2014/main" id="{94111D29-C5AF-4797-8A8D-956C0EEB2E24}"/>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CD6CE0F-CF04-4F2B-8391-DA50E3376611}"/>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5421C579-4E19-4F51-B40B-7F9D25C10E35}"/>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Search: $1.20m spend and $3.12m attributed NGR.</a:t>
            </a:r>
          </a:p>
        </p:txBody>
      </p:sp>
      <p:sp>
        <p:nvSpPr>
          <p:cNvPr id="13" name="">
            <a:extLst xmlns:a="http://schemas.openxmlformats.org/drawingml/2006/main">
              <a:ext uri="{FF2B5EF4-FFF2-40B4-BE49-F238E27FC236}">
                <a16:creationId xmlns:a16="http://schemas.microsoft.com/office/drawing/2014/main" id="{4AE9AD4B-6E1D-4433-B558-1B3260A7EA3B}"/>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Paid social: $0.90m spend and $1.08m attributed NGR. Use marginal returns for the next allocation.</a:t>
            </a:r>
          </a:p>
        </p:txBody>
      </p:sp>
    </p:spTree>
    <p:extLst>
      <p:ext uri="{BB962C8B-B14F-4D97-AF65-F5344CB8AC3E}">
        <p14:creationId xmlns:p14="http://schemas.microsoft.com/office/powerpoint/2010/main" val="14993646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5ED66E5-C17B-44FD-B816-D3F32643107B}"/>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38FAE4-5919-471F-8C1D-DA3E80022711}"/>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18DE88AD-1EF3-4D69-A3A2-71509E0DC1B9}"/>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MMM RESULTS</a:t>
            </a:r>
          </a:p>
        </p:txBody>
      </p:sp>
      <p:sp>
        <p:nvSpPr>
          <p:cNvPr id="4" name="">
            <a:extLst xmlns:a="http://schemas.openxmlformats.org/drawingml/2006/main">
              <a:ext uri="{FF2B5EF4-FFF2-40B4-BE49-F238E27FC236}">
                <a16:creationId xmlns:a16="http://schemas.microsoft.com/office/drawing/2014/main" id="{56B94006-7938-487D-99A0-3E430970DC59}"/>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Read average and marginal returns together</a:t>
            </a:r>
          </a:p>
        </p:txBody>
      </p:sp>
      <p:sp>
        <p:nvSpPr>
          <p:cNvPr id="5" name="">
            <a:extLst xmlns:a="http://schemas.openxmlformats.org/drawingml/2006/main">
              <a:ext uri="{FF2B5EF4-FFF2-40B4-BE49-F238E27FC236}">
                <a16:creationId xmlns:a16="http://schemas.microsoft.com/office/drawing/2014/main" id="{5A223973-6B2B-42F7-BC85-BC3661105904}"/>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E70D869-E6BD-4602-87E2-0D2BD3F45F2F}"/>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C311B913-61F9-460A-A2FB-8504D7E1CCEF}"/>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4FFCD222-EE8F-43C2-83C3-7161AC7E9224}"/>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12</a:t>
            </a:r>
          </a:p>
        </p:txBody>
      </p:sp>
      <p:graphicFrame>
        <p:nvGraphicFramePr>
          <p:cNvPr id="9" name="">
            <a:extLst xmlns:a="http://schemas.openxmlformats.org/drawingml/2006/main">
              <a:ext uri="{FF2B5EF4-FFF2-40B4-BE49-F238E27FC236}">
                <a16:creationId xmlns:a16="http://schemas.microsoft.com/office/drawing/2014/main" id="{F2800872-9883-4F79-9D0B-74C0F5640B6B}"/>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000250"/>
                <a:gridCol w="2000250"/>
                <a:gridCol w="2000250"/>
                <a:gridCol w="2000250"/>
              </a:tblGrid>
              <a:tr h="693964">
                <a:tc>
                  <a:txBody>
                    <a:bodyPr/>
                    <a:lstStyle/>
                    <a:p>
                      <a:r>
                        <a:rPr sz="1500" b="1">
                          <a:solidFill>
                            <a:srgbClr val="FFFFFF"/>
                          </a:solidFill>
                          <a:latin typeface="Aptos"/>
                          <a:ea typeface="Aptos"/>
                          <a:cs typeface="Aptos"/>
                        </a:rPr>
                        <a:t>Channel</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Spend $m</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NGR $m</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Avg. ROAS</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Marg. ROAS</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93964">
                <a:tc>
                  <a:txBody>
                    <a:bodyPr/>
                    <a:lstStyle/>
                    <a:p>
                      <a:r>
                        <a:rPr sz="1500" b="1">
                          <a:solidFill>
                            <a:srgbClr val="14283A"/>
                          </a:solidFill>
                          <a:latin typeface="Aptos"/>
                          <a:ea typeface="Aptos"/>
                          <a:cs typeface="Aptos"/>
                        </a:rPr>
                        <a:t>Search</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1.20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3.12</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2.60×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1.80×</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500" b="1">
                          <a:solidFill>
                            <a:srgbClr val="14283A"/>
                          </a:solidFill>
                          <a:latin typeface="Aptos"/>
                          <a:ea typeface="Aptos"/>
                          <a:cs typeface="Aptos"/>
                        </a:rPr>
                        <a:t>Paid social</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0.90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1.08</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1.20×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0.70×</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500" b="1">
                          <a:solidFill>
                            <a:srgbClr val="14283A"/>
                          </a:solidFill>
                          <a:latin typeface="Aptos"/>
                          <a:ea typeface="Aptos"/>
                          <a:cs typeface="Aptos"/>
                        </a:rPr>
                        <a:t>Video</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0.70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1.40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2.00×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1.50×</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500" b="1">
                          <a:solidFill>
                            <a:srgbClr val="14283A"/>
                          </a:solidFill>
                          <a:latin typeface="Aptos"/>
                          <a:ea typeface="Aptos"/>
                          <a:cs typeface="Aptos"/>
                        </a:rPr>
                        <a:t>Regional</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0.50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1.20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2.40×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1.90×</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500" b="1">
                          <a:solidFill>
                            <a:srgbClr val="14283A"/>
                          </a:solidFill>
                          <a:latin typeface="Aptos"/>
                          <a:ea typeface="Aptos"/>
                          <a:cs typeface="Aptos"/>
                        </a:rPr>
                        <a:t>Creators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0.40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0.96</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2.40×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1.70×</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500" b="1">
                          <a:solidFill>
                            <a:srgbClr val="14283A"/>
                          </a:solidFill>
                          <a:latin typeface="Aptos"/>
                          <a:ea typeface="Aptos"/>
                          <a:cs typeface="Aptos"/>
                        </a:rPr>
                        <a:t>Affiliates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0.30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0.36</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1.20×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0.40×</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0CD31B67-BC3C-4C9D-8B5D-B410C7243FB2}"/>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8F4DC6B-94A8-4A7F-A910-A2C739B02C71}"/>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D302F7D0-7BC8-4615-836C-456B837E06E1}"/>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Average ROAS describes the existing investment. Marginal ROAS describes a small change near it.</a:t>
            </a:r>
          </a:p>
        </p:txBody>
      </p:sp>
      <p:sp>
        <p:nvSpPr>
          <p:cNvPr id="13" name="">
            <a:extLst xmlns:a="http://schemas.openxmlformats.org/drawingml/2006/main">
              <a:ext uri="{FF2B5EF4-FFF2-40B4-BE49-F238E27FC236}">
                <a16:creationId xmlns:a16="http://schemas.microsoft.com/office/drawing/2014/main" id="{93F678DF-5D98-4AA8-97FF-3E35DFE84F1E}"/>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Here, ROAS means model-attributed NGR divided by media spend. It is not profit ROI.</a:t>
            </a:r>
          </a:p>
        </p:txBody>
      </p:sp>
    </p:spTree>
    <p:extLst>
      <p:ext uri="{BB962C8B-B14F-4D97-AF65-F5344CB8AC3E}">
        <p14:creationId xmlns:p14="http://schemas.microsoft.com/office/powerpoint/2010/main" val="16042802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773F674-7410-417D-B25B-F5EE9FD72B0E}"/>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4DB1A2-0FD5-4077-97FE-27AEB4BB4943}"/>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E72EB2FB-BED9-48E7-AD61-8B3C596E6C54}"/>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MMM RESULTS</a:t>
            </a:r>
          </a:p>
        </p:txBody>
      </p:sp>
      <p:sp>
        <p:nvSpPr>
          <p:cNvPr id="4" name="">
            <a:extLst xmlns:a="http://schemas.openxmlformats.org/drawingml/2006/main">
              <a:ext uri="{FF2B5EF4-FFF2-40B4-BE49-F238E27FC236}">
                <a16:creationId xmlns:a16="http://schemas.microsoft.com/office/drawing/2014/main" id="{A4967571-CF85-416D-B1EB-04D58BBB9632}"/>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The next dollar has a different ranking from the average dollar</a:t>
            </a:r>
          </a:p>
        </p:txBody>
      </p:sp>
      <p:sp>
        <p:nvSpPr>
          <p:cNvPr id="5" name="">
            <a:extLst xmlns:a="http://schemas.openxmlformats.org/drawingml/2006/main">
              <a:ext uri="{FF2B5EF4-FFF2-40B4-BE49-F238E27FC236}">
                <a16:creationId xmlns:a16="http://schemas.microsoft.com/office/drawing/2014/main" id="{3F531995-090A-4A54-AAA6-3264F3F593DA}"/>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38EE71D-2568-4133-905B-7CF7D7392320}"/>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2DD13659-1E38-4FC3-8E8A-8DD07919F253}"/>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89D2A121-BB02-4582-A479-795422239750}"/>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13</a:t>
            </a:r>
          </a:p>
        </p:txBody>
      </p:sp>
      <p:graphicFrame>
        <p:nvGraphicFramePr>
          <p:cNvPr id="9" name="Chart">
            <a:extLst xmlns:a="http://schemas.openxmlformats.org/drawingml/2006/main">
              <a:ext uri="{FF2B5EF4-FFF2-40B4-BE49-F238E27FC236}">
                <a16:creationId xmlns:a16="http://schemas.microsoft.com/office/drawing/2014/main" id="{55EFC8B9-722C-4D76-9D44-7C8B6D6F6DEF}"/>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d7a81d65df3247da"/>
          </a:graphicData>
        </a:graphic>
      </p:graphicFrame>
      <p:sp>
        <p:nvSpPr>
          <p:cNvPr id="10" name="">
            <a:extLst xmlns:a="http://schemas.openxmlformats.org/drawingml/2006/main">
              <a:ext uri="{FF2B5EF4-FFF2-40B4-BE49-F238E27FC236}">
                <a16:creationId xmlns:a16="http://schemas.microsoft.com/office/drawing/2014/main" id="{E4B0A460-B86B-4143-86C6-FD7491CE6579}"/>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54706C3-65A9-4CF1-8E31-6F56B69803A1}"/>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64DCC040-39B1-4E9E-BC17-0ADC9AA755E3}"/>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Regional has the highest local marginal return at 1.90×.</a:t>
            </a:r>
          </a:p>
        </p:txBody>
      </p:sp>
      <p:sp>
        <p:nvSpPr>
          <p:cNvPr id="13" name="">
            <a:extLst xmlns:a="http://schemas.openxmlformats.org/drawingml/2006/main">
              <a:ext uri="{FF2B5EF4-FFF2-40B4-BE49-F238E27FC236}">
                <a16:creationId xmlns:a16="http://schemas.microsoft.com/office/drawing/2014/main" id="{70745726-33B8-4231-857F-8039EFEC83A0}"/>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ranking is conditional on this model, budget level and market context.</a:t>
            </a:r>
          </a:p>
        </p:txBody>
      </p:sp>
    </p:spTree>
    <p:extLst>
      <p:ext uri="{BB962C8B-B14F-4D97-AF65-F5344CB8AC3E}">
        <p14:creationId xmlns:p14="http://schemas.microsoft.com/office/powerpoint/2010/main" val="111348084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A32D442-2884-4EAC-BD6A-7C1C4B0D02F8}"/>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AD0115-B365-4701-8EA1-CC5740CB4857}"/>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2AEA7AA6-5E89-4235-A1AA-74A711964D4A}"/>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MMM RESULTS</a:t>
            </a:r>
          </a:p>
        </p:txBody>
      </p:sp>
      <p:sp>
        <p:nvSpPr>
          <p:cNvPr id="4" name="">
            <a:extLst xmlns:a="http://schemas.openxmlformats.org/drawingml/2006/main">
              <a:ext uri="{FF2B5EF4-FFF2-40B4-BE49-F238E27FC236}">
                <a16:creationId xmlns:a16="http://schemas.microsoft.com/office/drawing/2014/main" id="{86767648-FFE5-4D42-9B97-D8BBAA251260}"/>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Separate sports demand, product effects and competitor pressure</a:t>
            </a:r>
          </a:p>
        </p:txBody>
      </p:sp>
      <p:sp>
        <p:nvSpPr>
          <p:cNvPr id="5" name="">
            <a:extLst xmlns:a="http://schemas.openxmlformats.org/drawingml/2006/main">
              <a:ext uri="{FF2B5EF4-FFF2-40B4-BE49-F238E27FC236}">
                <a16:creationId xmlns:a16="http://schemas.microsoft.com/office/drawing/2014/main" id="{05054206-561A-4AF3-83B3-082510CD7415}"/>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659849-0269-47D7-940D-885BCA0F56CA}"/>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82576965-315B-4DE1-8F0D-6DE5BDFD7B91}"/>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FEEAF9E9-51D4-4ED3-BB06-E2386C5C9F3B}"/>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14</a:t>
            </a:r>
          </a:p>
        </p:txBody>
      </p:sp>
      <p:graphicFrame>
        <p:nvGraphicFramePr>
          <p:cNvPr id="9" name="">
            <a:extLst xmlns:a="http://schemas.openxmlformats.org/drawingml/2006/main">
              <a:ext uri="{FF2B5EF4-FFF2-40B4-BE49-F238E27FC236}">
                <a16:creationId xmlns:a16="http://schemas.microsoft.com/office/drawing/2014/main" id="{E49AD25A-3754-4082-A6E3-2C6A97D83571}"/>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667000"/>
                <a:gridCol w="2667000"/>
                <a:gridCol w="2667000"/>
              </a:tblGrid>
              <a:tr h="693964">
                <a:tc>
                  <a:txBody>
                    <a:bodyPr/>
                    <a:lstStyle/>
                    <a:p>
                      <a:r>
                        <a:rPr sz="1650" b="1">
                          <a:solidFill>
                            <a:srgbClr val="FFFFFF"/>
                          </a:solidFill>
                          <a:latin typeface="Aptos"/>
                          <a:ea typeface="Aptos"/>
                          <a:cs typeface="Aptos"/>
                        </a:rPr>
                        <a:t>Driver</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NGR contribution $m</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Share of total</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Interpretation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93964">
                <a:tc>
                  <a:txBody>
                    <a:bodyPr/>
                    <a:lstStyle/>
                    <a:p>
                      <a:r>
                        <a:rPr sz="1650" b="1">
                          <a:solidFill>
                            <a:srgbClr val="14283A"/>
                          </a:solidFill>
                          <a:latin typeface="Aptos"/>
                          <a:ea typeface="Aptos"/>
                          <a:cs typeface="Aptos"/>
                        </a:rPr>
                        <a:t>Base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8.00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40.0%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Unexplained baseline under the specification</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Seasonality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2.00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10.0%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Recurring calendar pattern</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Sports / product events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1.50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7.5%</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Identified event effects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Product / CRM</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1.18</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5.9%</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Measured business drivers</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Competitor pressure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−0.80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−4.0%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Conditional association in the example</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Paid media</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8.12</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40.6%</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Sum of six channel contributions</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ECC89FDC-4B8D-4DAE-AAA9-049990A0A779}"/>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3984CFB-903E-49EB-8B41-1B5A0DFF506F}"/>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A443CFBC-D06B-4655-879E-44C6378429BD}"/>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Contributions reconcile to $20m and 100%. Negative contributions retain their sign.</a:t>
            </a:r>
          </a:p>
        </p:txBody>
      </p:sp>
      <p:sp>
        <p:nvSpPr>
          <p:cNvPr id="13" name="">
            <a:extLst xmlns:a="http://schemas.openxmlformats.org/drawingml/2006/main">
              <a:ext uri="{FF2B5EF4-FFF2-40B4-BE49-F238E27FC236}">
                <a16:creationId xmlns:a16="http://schemas.microsoft.com/office/drawing/2014/main" id="{E5263D4D-0807-4316-A7A9-246C50A6261C}"/>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Search interest can reflect demand as well as advertising. Specify its role before interpreting it.</a:t>
            </a:r>
          </a:p>
        </p:txBody>
      </p:sp>
    </p:spTree>
    <p:extLst>
      <p:ext uri="{BB962C8B-B14F-4D97-AF65-F5344CB8AC3E}">
        <p14:creationId xmlns:p14="http://schemas.microsoft.com/office/powerpoint/2010/main" val="210394643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EEBD395-057F-417E-B06F-9128BA9B7683}"/>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598885-101C-4552-85DD-A35F2E977AD1}"/>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C4355352-DC3B-4B77-BBAA-93F76963CBC2}"/>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MODEL VALIDATION</a:t>
            </a:r>
          </a:p>
        </p:txBody>
      </p:sp>
      <p:sp>
        <p:nvSpPr>
          <p:cNvPr id="4" name="">
            <a:extLst xmlns:a="http://schemas.openxmlformats.org/drawingml/2006/main">
              <a:ext uri="{FF2B5EF4-FFF2-40B4-BE49-F238E27FC236}">
                <a16:creationId xmlns:a16="http://schemas.microsoft.com/office/drawing/2014/main" id="{062C9C13-4FF6-44EF-B411-297F9A380B94}"/>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Review weekly errors, not just the total-quarter fit</a:t>
            </a:r>
          </a:p>
        </p:txBody>
      </p:sp>
      <p:sp>
        <p:nvSpPr>
          <p:cNvPr id="5" name="">
            <a:extLst xmlns:a="http://schemas.openxmlformats.org/drawingml/2006/main">
              <a:ext uri="{FF2B5EF4-FFF2-40B4-BE49-F238E27FC236}">
                <a16:creationId xmlns:a16="http://schemas.microsoft.com/office/drawing/2014/main" id="{07DB52E5-FCCE-462B-992A-0EBA8A22C1B6}"/>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619BBB4-5FDF-42FB-970B-0BC7CDDC7FE0}"/>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69D5121F-5283-490A-86C9-C13E225B56B8}"/>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7931C076-F97E-4F5B-8F82-C80FFC8DBA69}"/>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15</a:t>
            </a:r>
          </a:p>
        </p:txBody>
      </p:sp>
      <p:graphicFrame>
        <p:nvGraphicFramePr>
          <p:cNvPr id="9" name="Chart">
            <a:extLst xmlns:a="http://schemas.openxmlformats.org/drawingml/2006/main">
              <a:ext uri="{FF2B5EF4-FFF2-40B4-BE49-F238E27FC236}">
                <a16:creationId xmlns:a16="http://schemas.microsoft.com/office/drawing/2014/main" id="{E36A5FD5-6E4B-4A14-93D1-E32E40BB11CA}"/>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443ae110582d422e"/>
          </a:graphicData>
        </a:graphic>
      </p:graphicFrame>
      <p:sp>
        <p:nvSpPr>
          <p:cNvPr id="10" name="">
            <a:extLst xmlns:a="http://schemas.openxmlformats.org/drawingml/2006/main">
              <a:ext uri="{FF2B5EF4-FFF2-40B4-BE49-F238E27FC236}">
                <a16:creationId xmlns:a16="http://schemas.microsoft.com/office/drawing/2014/main" id="{080C922E-75E1-43DA-85EE-9DD6DE8F744F}"/>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AFCA7C5-2490-4170-83A4-602A22A66537}"/>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894632C5-B7B1-4D65-A44D-EE978FDCA414}"/>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Observed total: $20.00m. Predicted total: $20.00m. Aggregate bias is 0%.</a:t>
            </a:r>
          </a:p>
        </p:txBody>
      </p:sp>
      <p:sp>
        <p:nvSpPr>
          <p:cNvPr id="13" name="">
            <a:extLst xmlns:a="http://schemas.openxmlformats.org/drawingml/2006/main">
              <a:ext uri="{FF2B5EF4-FFF2-40B4-BE49-F238E27FC236}">
                <a16:creationId xmlns:a16="http://schemas.microsoft.com/office/drawing/2014/main" id="{B2C68CF4-9EB8-45B5-92F0-078227FE8AA7}"/>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Weekly errors still exist. The illustrative series has 2.7% wMAPE; a zero total error does not mean perfect predictions.</a:t>
            </a:r>
          </a:p>
        </p:txBody>
      </p:sp>
    </p:spTree>
    <p:extLst>
      <p:ext uri="{BB962C8B-B14F-4D97-AF65-F5344CB8AC3E}">
        <p14:creationId xmlns:p14="http://schemas.microsoft.com/office/powerpoint/2010/main" val="15402410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529281E-AB48-4FDA-8401-7FC2F190893C}"/>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707D73-5DAA-4DA5-B07A-5200AD6B86C6}"/>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14146FEA-88C9-4E1B-A19F-6A3E9C198285}"/>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MODEL VALIDATION</a:t>
            </a:r>
          </a:p>
        </p:txBody>
      </p:sp>
      <p:sp>
        <p:nvSpPr>
          <p:cNvPr id="4" name="">
            <a:extLst xmlns:a="http://schemas.openxmlformats.org/drawingml/2006/main">
              <a:ext uri="{FF2B5EF4-FFF2-40B4-BE49-F238E27FC236}">
                <a16:creationId xmlns:a16="http://schemas.microsoft.com/office/drawing/2014/main" id="{99CECBE4-B9A0-4928-9FB2-D932BE3E23C2}"/>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A strong fit is only one part of a credible model</a:t>
            </a:r>
          </a:p>
        </p:txBody>
      </p:sp>
      <p:sp>
        <p:nvSpPr>
          <p:cNvPr id="5" name="">
            <a:extLst xmlns:a="http://schemas.openxmlformats.org/drawingml/2006/main">
              <a:ext uri="{FF2B5EF4-FFF2-40B4-BE49-F238E27FC236}">
                <a16:creationId xmlns:a16="http://schemas.microsoft.com/office/drawing/2014/main" id="{F35D7C40-076A-48EE-B3F2-C1DDF2D202AA}"/>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E36169B-6A56-48A1-96D9-F6FB83160892}"/>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4B816E95-50EF-43F1-8BD4-17394113CF1B}"/>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DEAF6EA2-5C79-4E93-81DE-6E149D2DAE00}"/>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16</a:t>
            </a:r>
          </a:p>
        </p:txBody>
      </p:sp>
      <p:graphicFrame>
        <p:nvGraphicFramePr>
          <p:cNvPr id="9" name="">
            <a:extLst xmlns:a="http://schemas.openxmlformats.org/drawingml/2006/main">
              <a:ext uri="{FF2B5EF4-FFF2-40B4-BE49-F238E27FC236}">
                <a16:creationId xmlns:a16="http://schemas.microsoft.com/office/drawing/2014/main" id="{D0BC769A-308B-4253-825D-16F81EFA9EEB}"/>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693964">
                <a:tc>
                  <a:txBody>
                    <a:bodyPr/>
                    <a:lstStyle/>
                    <a:p>
                      <a:r>
                        <a:rPr sz="1650" b="1">
                          <a:solidFill>
                            <a:srgbClr val="FFFFFF"/>
                          </a:solidFill>
                          <a:latin typeface="Aptos"/>
                          <a:ea typeface="Aptos"/>
                          <a:cs typeface="Aptos"/>
                        </a:rPr>
                        <a:t>Diagnostic</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What to inspect</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Decision implication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93964">
                <a:tc>
                  <a:txBody>
                    <a:bodyPr/>
                    <a:lstStyle/>
                    <a:p>
                      <a:r>
                        <a:rPr sz="1650" b="1">
                          <a:solidFill>
                            <a:srgbClr val="14283A"/>
                          </a:solidFill>
                          <a:latin typeface="Aptos"/>
                          <a:ea typeface="Aptos"/>
                          <a:cs typeface="Aptos"/>
                        </a:rPr>
                        <a:t>Out-of-time validation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Holdout errors and event-week misses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Reject models that fail outside training</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Residual behaviour</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Time pattern, autocorrelation, bias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Add justified dynamics or controls</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Channel separation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Correlation, VIF and coefficient instability</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Combine inseparable channels or run a test</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Parameter stability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Sensitivity to window and specification</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Widen ranges when rankings move</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Experiment alignment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Compare with geo or conversion-lift tests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Calibrate where comparable evidence exists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Business plausibility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Signs, lags and spend support</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Reject implausible extrapolation</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45B72BEB-A682-4145-954D-7940EC995281}"/>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D62B6DD-F555-4E59-8654-B61E6EE0F7A5}"/>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AA77BB84-4C08-4D98-A835-F17B10FC117B}"/>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Do not describe a model as causal proof because R² is high.</a:t>
            </a:r>
          </a:p>
        </p:txBody>
      </p:sp>
      <p:sp>
        <p:nvSpPr>
          <p:cNvPr id="13" name="">
            <a:extLst xmlns:a="http://schemas.openxmlformats.org/drawingml/2006/main">
              <a:ext uri="{FF2B5EF4-FFF2-40B4-BE49-F238E27FC236}">
                <a16:creationId xmlns:a16="http://schemas.microsoft.com/office/drawing/2014/main" id="{66B382CF-2C4D-41CE-A694-D553735E3F9B}"/>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An attractive decomposition can still be unstable or confounded.</a:t>
            </a:r>
          </a:p>
        </p:txBody>
      </p:sp>
    </p:spTree>
    <p:extLst>
      <p:ext uri="{BB962C8B-B14F-4D97-AF65-F5344CB8AC3E}">
        <p14:creationId xmlns:p14="http://schemas.microsoft.com/office/powerpoint/2010/main" val="83964036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E6C19B5-7BDA-4E19-A710-930FA0395069}"/>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19E0D4-A0AB-44A5-BE15-9D69642380E9}"/>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E2ABC17C-F23F-48A8-9404-C12BF16CF1A8}"/>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MODEL VALIDATION</a:t>
            </a:r>
          </a:p>
        </p:txBody>
      </p:sp>
      <p:sp>
        <p:nvSpPr>
          <p:cNvPr id="4" name="">
            <a:extLst xmlns:a="http://schemas.openxmlformats.org/drawingml/2006/main">
              <a:ext uri="{FF2B5EF4-FFF2-40B4-BE49-F238E27FC236}">
                <a16:creationId xmlns:a16="http://schemas.microsoft.com/office/drawing/2014/main" id="{80C296AC-CE7D-45A0-B08B-D053EF0816D0}"/>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Inspect the residuals around event weeks</a:t>
            </a:r>
          </a:p>
        </p:txBody>
      </p:sp>
      <p:sp>
        <p:nvSpPr>
          <p:cNvPr id="5" name="">
            <a:extLst xmlns:a="http://schemas.openxmlformats.org/drawingml/2006/main">
              <a:ext uri="{FF2B5EF4-FFF2-40B4-BE49-F238E27FC236}">
                <a16:creationId xmlns:a16="http://schemas.microsoft.com/office/drawing/2014/main" id="{6D3EBCAB-70E5-47DF-AA06-7E68AA8CA94C}"/>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53C523D-32C5-4C9A-936F-A70FDE9F1B8E}"/>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79B1EDDB-308F-4A64-9D68-45E7AA20B9B1}"/>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3B4AF928-2030-4BE3-8405-8022697688DC}"/>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17</a:t>
            </a:r>
          </a:p>
        </p:txBody>
      </p:sp>
      <p:graphicFrame>
        <p:nvGraphicFramePr>
          <p:cNvPr id="9" name="Chart">
            <a:extLst xmlns:a="http://schemas.openxmlformats.org/drawingml/2006/main">
              <a:ext uri="{FF2B5EF4-FFF2-40B4-BE49-F238E27FC236}">
                <a16:creationId xmlns:a16="http://schemas.microsoft.com/office/drawing/2014/main" id="{37D9C173-3440-4A52-8244-2D7E64677020}"/>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021b06880dbd44e9"/>
          </a:graphicData>
        </a:graphic>
      </p:graphicFrame>
      <p:sp>
        <p:nvSpPr>
          <p:cNvPr id="10" name="">
            <a:extLst xmlns:a="http://schemas.openxmlformats.org/drawingml/2006/main">
              <a:ext uri="{FF2B5EF4-FFF2-40B4-BE49-F238E27FC236}">
                <a16:creationId xmlns:a16="http://schemas.microsoft.com/office/drawing/2014/main" id="{FBD991B6-1104-48E2-973F-EAD46EB68520}"/>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BA836B3-AA24-459D-899F-DA521DF424D9}"/>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7DD77076-20FE-4DD4-85B2-34802E68C715}"/>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largest displayed absolute residual is $0.06m.</a:t>
            </a:r>
          </a:p>
        </p:txBody>
      </p:sp>
      <p:sp>
        <p:nvSpPr>
          <p:cNvPr id="13" name="">
            <a:extLst xmlns:a="http://schemas.openxmlformats.org/drawingml/2006/main">
              <a:ext uri="{FF2B5EF4-FFF2-40B4-BE49-F238E27FC236}">
                <a16:creationId xmlns:a16="http://schemas.microsoft.com/office/drawing/2014/main" id="{5F26B9DC-1534-4121-824C-453CC34B54F9}"/>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alternating pattern is deliberate in this teaching example. In a live model, investigate systematic residual structure.</a:t>
            </a:r>
          </a:p>
        </p:txBody>
      </p:sp>
    </p:spTree>
    <p:extLst>
      <p:ext uri="{BB962C8B-B14F-4D97-AF65-F5344CB8AC3E}">
        <p14:creationId xmlns:p14="http://schemas.microsoft.com/office/powerpoint/2010/main" val="146903436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4EEA6EA-9E10-4576-BA6E-0A238DFBEC07}"/>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AE24CD-CD13-437D-B395-372F371B2407}"/>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BBDCE61D-D82D-460B-871A-E61F4897541D}"/>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MODEL VALIDATION</a:t>
            </a:r>
          </a:p>
        </p:txBody>
      </p:sp>
      <p:sp>
        <p:nvSpPr>
          <p:cNvPr id="4" name="">
            <a:extLst xmlns:a="http://schemas.openxmlformats.org/drawingml/2006/main">
              <a:ext uri="{FF2B5EF4-FFF2-40B4-BE49-F238E27FC236}">
                <a16:creationId xmlns:a16="http://schemas.microsoft.com/office/drawing/2014/main" id="{48287DDD-7240-4522-92B9-572EB6E5AD4A}"/>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Use ranges to show uncertainty in the recommendation</a:t>
            </a:r>
          </a:p>
        </p:txBody>
      </p:sp>
      <p:sp>
        <p:nvSpPr>
          <p:cNvPr id="5" name="">
            <a:extLst xmlns:a="http://schemas.openxmlformats.org/drawingml/2006/main">
              <a:ext uri="{FF2B5EF4-FFF2-40B4-BE49-F238E27FC236}">
                <a16:creationId xmlns:a16="http://schemas.microsoft.com/office/drawing/2014/main" id="{6CC3640C-32F8-4891-B165-2519B9102682}"/>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5E3B207-40C1-46B4-8857-10A73F740AFC}"/>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C94CA942-393B-4A5B-A606-E88896CF23CB}"/>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E2E5D7F6-0927-4CF8-977A-E3B1036ECEE1}"/>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18</a:t>
            </a:r>
          </a:p>
        </p:txBody>
      </p:sp>
      <p:graphicFrame>
        <p:nvGraphicFramePr>
          <p:cNvPr id="9" name="">
            <a:extLst xmlns:a="http://schemas.openxmlformats.org/drawingml/2006/main">
              <a:ext uri="{FF2B5EF4-FFF2-40B4-BE49-F238E27FC236}">
                <a16:creationId xmlns:a16="http://schemas.microsoft.com/office/drawing/2014/main" id="{FACE2AF1-ACEC-4D83-B1D1-C854E56D27B2}"/>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000250"/>
                <a:gridCol w="2000250"/>
                <a:gridCol w="2000250"/>
                <a:gridCol w="2000250"/>
              </a:tblGrid>
              <a:tr h="693964">
                <a:tc>
                  <a:txBody>
                    <a:bodyPr/>
                    <a:lstStyle/>
                    <a:p>
                      <a:r>
                        <a:rPr sz="1500" b="1">
                          <a:solidFill>
                            <a:srgbClr val="FFFFFF"/>
                          </a:solidFill>
                          <a:latin typeface="Aptos"/>
                          <a:ea typeface="Aptos"/>
                          <a:cs typeface="Aptos"/>
                        </a:rPr>
                        <a:t>Channel</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Central mROAS</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Low assumption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High assumption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Action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93964">
                <a:tc>
                  <a:txBody>
                    <a:bodyPr/>
                    <a:lstStyle/>
                    <a:p>
                      <a:r>
                        <a:rPr sz="1500" b="1">
                          <a:solidFill>
                            <a:srgbClr val="14283A"/>
                          </a:solidFill>
                          <a:latin typeface="Aptos"/>
                          <a:ea typeface="Aptos"/>
                          <a:cs typeface="Aptos"/>
                        </a:rPr>
                        <a:t>Search</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1.80×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1.30×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2.20×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Stage the increase</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500" b="1">
                          <a:solidFill>
                            <a:srgbClr val="14283A"/>
                          </a:solidFill>
                          <a:latin typeface="Aptos"/>
                          <a:ea typeface="Aptos"/>
                          <a:cs typeface="Aptos"/>
                        </a:rPr>
                        <a:t>Paid social</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0.70×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0.40×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1.10×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Reduce and test</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500" b="1">
                          <a:solidFill>
                            <a:srgbClr val="14283A"/>
                          </a:solidFill>
                          <a:latin typeface="Aptos"/>
                          <a:ea typeface="Aptos"/>
                          <a:cs typeface="Aptos"/>
                        </a:rPr>
                        <a:t>Video</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1.50×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0.90×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2.00×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Protect a learning budget</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500" b="1">
                          <a:solidFill>
                            <a:srgbClr val="14283A"/>
                          </a:solidFill>
                          <a:latin typeface="Aptos"/>
                          <a:ea typeface="Aptos"/>
                          <a:cs typeface="Aptos"/>
                        </a:rPr>
                        <a:t>Regional</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1.90×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1.20×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2.40×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Validate local capacity</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500" b="1">
                          <a:solidFill>
                            <a:srgbClr val="14283A"/>
                          </a:solidFill>
                          <a:latin typeface="Aptos"/>
                          <a:ea typeface="Aptos"/>
                          <a:cs typeface="Aptos"/>
                        </a:rPr>
                        <a:t>Creators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1.70×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0.80×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2.50×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Retain with measurement</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500" b="1">
                          <a:solidFill>
                            <a:srgbClr val="14283A"/>
                          </a:solidFill>
                          <a:latin typeface="Aptos"/>
                          <a:ea typeface="Aptos"/>
                          <a:cs typeface="Aptos"/>
                        </a:rPr>
                        <a:t>Affiliates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0.40×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0.10×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0.90×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Audit partner incrementality</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9AE4E23D-9A16-4371-B1FF-33F42443F155}"/>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93A9B9-CA00-4D54-B736-C668A7F9B1EB}"/>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67416480-F4B8-4D5F-9F8D-817E820234FC}"/>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These are scenario assumptions, not confidence or credible intervals.</a:t>
            </a:r>
          </a:p>
        </p:txBody>
      </p:sp>
      <p:sp>
        <p:nvSpPr>
          <p:cNvPr id="13" name="">
            <a:extLst xmlns:a="http://schemas.openxmlformats.org/drawingml/2006/main">
              <a:ext uri="{FF2B5EF4-FFF2-40B4-BE49-F238E27FC236}">
                <a16:creationId xmlns:a16="http://schemas.microsoft.com/office/drawing/2014/main" id="{CE698419-59BD-405F-94E8-5BEB8A74BB5D}"/>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 live engagement would derive uncertainty from the chosen model and supporting experiments.</a:t>
            </a:r>
          </a:p>
        </p:txBody>
      </p:sp>
    </p:spTree>
    <p:extLst>
      <p:ext uri="{BB962C8B-B14F-4D97-AF65-F5344CB8AC3E}">
        <p14:creationId xmlns:p14="http://schemas.microsoft.com/office/powerpoint/2010/main" val="44415641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AA2B28-F724-4472-8B05-28FD1AA3926A}"/>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E188AB-921E-4889-8C11-6C71B78296F6}"/>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75ED93D6-E2D9-4FFA-827B-3CEF83F3882C}"/>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RESPONSE CURVES</a:t>
            </a:r>
          </a:p>
        </p:txBody>
      </p:sp>
      <p:sp>
        <p:nvSpPr>
          <p:cNvPr id="4" name="">
            <a:extLst xmlns:a="http://schemas.openxmlformats.org/drawingml/2006/main">
              <a:ext uri="{FF2B5EF4-FFF2-40B4-BE49-F238E27FC236}">
                <a16:creationId xmlns:a16="http://schemas.microsoft.com/office/drawing/2014/main" id="{77AD6F1D-12A7-4662-AC8D-1A54462A7280}"/>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Carryover changes when marketing effects appear</a:t>
            </a:r>
          </a:p>
        </p:txBody>
      </p:sp>
      <p:sp>
        <p:nvSpPr>
          <p:cNvPr id="5" name="">
            <a:extLst xmlns:a="http://schemas.openxmlformats.org/drawingml/2006/main">
              <a:ext uri="{FF2B5EF4-FFF2-40B4-BE49-F238E27FC236}">
                <a16:creationId xmlns:a16="http://schemas.microsoft.com/office/drawing/2014/main" id="{65DC044E-7112-4C74-9610-D230F5AE9D3E}"/>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6F296DE-214D-4F6D-BD15-02216AC03ED7}"/>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88062B30-66E7-400E-A982-5874C91E6BE9}"/>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6A888AF3-3A07-40D7-AC9B-E782F3477492}"/>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19</a:t>
            </a:r>
          </a:p>
        </p:txBody>
      </p:sp>
      <p:graphicFrame>
        <p:nvGraphicFramePr>
          <p:cNvPr id="9" name="Chart">
            <a:extLst xmlns:a="http://schemas.openxmlformats.org/drawingml/2006/main">
              <a:ext uri="{FF2B5EF4-FFF2-40B4-BE49-F238E27FC236}">
                <a16:creationId xmlns:a16="http://schemas.microsoft.com/office/drawing/2014/main" id="{725EAE38-2F32-43AB-8B3C-199CB7FFF228}"/>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d6bb2c2154cd4161"/>
          </a:graphicData>
        </a:graphic>
      </p:graphicFrame>
      <p:sp>
        <p:nvSpPr>
          <p:cNvPr id="10" name="">
            <a:extLst xmlns:a="http://schemas.openxmlformats.org/drawingml/2006/main">
              <a:ext uri="{FF2B5EF4-FFF2-40B4-BE49-F238E27FC236}">
                <a16:creationId xmlns:a16="http://schemas.microsoft.com/office/drawing/2014/main" id="{EA9A6805-4A3F-40A1-97D1-BDFC5F344999}"/>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E0ECE00-F8EE-4DF0-80C6-5B2D47FE773A}"/>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56138FCF-EE3E-4FDF-888D-0873AEE9715E}"/>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Geometric illustration: each week retains θ of the previous week’s effect.</a:t>
            </a:r>
          </a:p>
        </p:txBody>
      </p:sp>
      <p:sp>
        <p:nvSpPr>
          <p:cNvPr id="13" name="">
            <a:extLst xmlns:a="http://schemas.openxmlformats.org/drawingml/2006/main">
              <a:ext uri="{FF2B5EF4-FFF2-40B4-BE49-F238E27FC236}">
                <a16:creationId xmlns:a16="http://schemas.microsoft.com/office/drawing/2014/main" id="{B238570A-C2BB-4FEA-9131-E6D5E7D0755A}"/>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Do not select a long carryover solely to increase the attributed value of a channel.</a:t>
            </a:r>
          </a:p>
        </p:txBody>
      </p:sp>
    </p:spTree>
    <p:extLst>
      <p:ext uri="{BB962C8B-B14F-4D97-AF65-F5344CB8AC3E}">
        <p14:creationId xmlns:p14="http://schemas.microsoft.com/office/powerpoint/2010/main" val="9489162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D8ED4C5-1C24-46AA-BB8F-4145B1BB2C9F}"/>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938609-D4F2-4A51-8E0E-1C1D2F5EAEC5}"/>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D1D0CD40-F899-49B4-B068-31B697414740}"/>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RESPONSE CURVES</a:t>
            </a:r>
          </a:p>
        </p:txBody>
      </p:sp>
      <p:sp>
        <p:nvSpPr>
          <p:cNvPr id="4" name="">
            <a:extLst xmlns:a="http://schemas.openxmlformats.org/drawingml/2006/main">
              <a:ext uri="{FF2B5EF4-FFF2-40B4-BE49-F238E27FC236}">
                <a16:creationId xmlns:a16="http://schemas.microsoft.com/office/drawing/2014/main" id="{D2605059-6FCE-4213-B358-2B97321F7C28}"/>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Response curves make diminishing returns visible</a:t>
            </a:r>
          </a:p>
        </p:txBody>
      </p:sp>
      <p:sp>
        <p:nvSpPr>
          <p:cNvPr id="5" name="">
            <a:extLst xmlns:a="http://schemas.openxmlformats.org/drawingml/2006/main">
              <a:ext uri="{FF2B5EF4-FFF2-40B4-BE49-F238E27FC236}">
                <a16:creationId xmlns:a16="http://schemas.microsoft.com/office/drawing/2014/main" id="{73C0CD4F-1DEF-4F57-B51F-AF05E640328C}"/>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723DF9F-6CF7-4854-BB95-DCA29CB87D67}"/>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5E3759FB-3831-4791-8F85-723AB1CBA8FD}"/>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8970E158-C769-4E71-B666-ECEBC6478685}"/>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20</a:t>
            </a:r>
          </a:p>
        </p:txBody>
      </p:sp>
      <p:graphicFrame>
        <p:nvGraphicFramePr>
          <p:cNvPr id="9" name="Chart">
            <a:extLst xmlns:a="http://schemas.openxmlformats.org/drawingml/2006/main">
              <a:ext uri="{FF2B5EF4-FFF2-40B4-BE49-F238E27FC236}">
                <a16:creationId xmlns:a16="http://schemas.microsoft.com/office/drawing/2014/main" id="{9B28398E-65F3-4D61-8608-2912B9514027}"/>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b73eb35142ad4c93"/>
          </a:graphicData>
        </a:graphic>
      </p:graphicFrame>
      <p:sp>
        <p:nvSpPr>
          <p:cNvPr id="10" name="">
            <a:extLst xmlns:a="http://schemas.openxmlformats.org/drawingml/2006/main">
              <a:ext uri="{FF2B5EF4-FFF2-40B4-BE49-F238E27FC236}">
                <a16:creationId xmlns:a16="http://schemas.microsoft.com/office/drawing/2014/main" id="{1ED3D26D-6AE2-45AF-9921-54C56C56235D}"/>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63E55A0-E644-417C-A360-34000C0A2AFF}"/>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EC72C570-1679-4B59-A809-58737489071D}"/>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Search retains more response at the current budget in this example.</a:t>
            </a:r>
          </a:p>
        </p:txBody>
      </p:sp>
      <p:sp>
        <p:nvSpPr>
          <p:cNvPr id="13" name="">
            <a:extLst xmlns:a="http://schemas.openxmlformats.org/drawingml/2006/main">
              <a:ext uri="{FF2B5EF4-FFF2-40B4-BE49-F238E27FC236}">
                <a16:creationId xmlns:a16="http://schemas.microsoft.com/office/drawing/2014/main" id="{F75F0A06-9A06-4061-833F-6A90C0F32920}"/>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Curves are illustrative saturating functions. Large changes require a full model scenario, not a straight-line extrapolation.</a:t>
            </a:r>
          </a:p>
        </p:txBody>
      </p:sp>
    </p:spTree>
    <p:extLst>
      <p:ext uri="{BB962C8B-B14F-4D97-AF65-F5344CB8AC3E}">
        <p14:creationId xmlns:p14="http://schemas.microsoft.com/office/powerpoint/2010/main" val="4803441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9DBFE09-C289-4BF2-9BEC-EF3524F181BB}"/>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8A8A3B-321F-4F90-8934-319E696E7FDE}"/>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689E9A05-02F8-4F1F-A117-8FD68FA4268E}"/>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BUDGET ALLOCATION</a:t>
            </a:r>
          </a:p>
        </p:txBody>
      </p:sp>
      <p:sp>
        <p:nvSpPr>
          <p:cNvPr id="4" name="">
            <a:extLst xmlns:a="http://schemas.openxmlformats.org/drawingml/2006/main">
              <a:ext uri="{FF2B5EF4-FFF2-40B4-BE49-F238E27FC236}">
                <a16:creationId xmlns:a16="http://schemas.microsoft.com/office/drawing/2014/main" id="{8E6CA458-9A2C-4B3B-BC35-775549D5CEB4}"/>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Move $0.50m while keeping the media budget at $4.00m</a:t>
            </a:r>
          </a:p>
        </p:txBody>
      </p:sp>
      <p:sp>
        <p:nvSpPr>
          <p:cNvPr id="5" name="">
            <a:extLst xmlns:a="http://schemas.openxmlformats.org/drawingml/2006/main">
              <a:ext uri="{FF2B5EF4-FFF2-40B4-BE49-F238E27FC236}">
                <a16:creationId xmlns:a16="http://schemas.microsoft.com/office/drawing/2014/main" id="{D1C3AFAA-28CD-45BB-B14B-890192F27F56}"/>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30F46D9-727D-491A-AAC0-EC1CB228B368}"/>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31C9BC9B-D3CE-43D4-83EA-395BC08906EF}"/>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F3DB16B0-431E-4A23-9B75-2F08677226CF}"/>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21</a:t>
            </a:r>
          </a:p>
        </p:txBody>
      </p:sp>
      <p:graphicFrame>
        <p:nvGraphicFramePr>
          <p:cNvPr id="9" name="">
            <a:extLst xmlns:a="http://schemas.openxmlformats.org/drawingml/2006/main">
              <a:ext uri="{FF2B5EF4-FFF2-40B4-BE49-F238E27FC236}">
                <a16:creationId xmlns:a16="http://schemas.microsoft.com/office/drawing/2014/main" id="{09C9EF86-7F59-4462-85C2-19D7A7CB5514}"/>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000250"/>
                <a:gridCol w="2000250"/>
                <a:gridCol w="2000250"/>
                <a:gridCol w="2000250"/>
              </a:tblGrid>
              <a:tr h="693964">
                <a:tc>
                  <a:txBody>
                    <a:bodyPr/>
                    <a:lstStyle/>
                    <a:p>
                      <a:r>
                        <a:rPr sz="1500" b="1">
                          <a:solidFill>
                            <a:srgbClr val="FFFFFF"/>
                          </a:solidFill>
                          <a:latin typeface="Aptos"/>
                          <a:ea typeface="Aptos"/>
                          <a:cs typeface="Aptos"/>
                        </a:rPr>
                        <a:t>Channel</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Current $m</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Plan $m</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Change $m</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Local NGR Δ $m</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93964">
                <a:tc>
                  <a:txBody>
                    <a:bodyPr/>
                    <a:lstStyle/>
                    <a:p>
                      <a:r>
                        <a:rPr sz="1500" b="1">
                          <a:solidFill>
                            <a:srgbClr val="14283A"/>
                          </a:solidFill>
                          <a:latin typeface="Aptos"/>
                          <a:ea typeface="Aptos"/>
                          <a:cs typeface="Aptos"/>
                        </a:rPr>
                        <a:t>Search</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1.20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1.50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0.30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0.540</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500" b="1">
                          <a:solidFill>
                            <a:srgbClr val="14283A"/>
                          </a:solidFill>
                          <a:latin typeface="Aptos"/>
                          <a:ea typeface="Aptos"/>
                          <a:cs typeface="Aptos"/>
                        </a:rPr>
                        <a:t>Paid social</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0.90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0.60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-0.30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-0.210</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500" b="1">
                          <a:solidFill>
                            <a:srgbClr val="14283A"/>
                          </a:solidFill>
                          <a:latin typeface="Aptos"/>
                          <a:ea typeface="Aptos"/>
                          <a:cs typeface="Aptos"/>
                        </a:rPr>
                        <a:t>Video</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0.70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0.75</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0.05</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0.075</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500" b="1">
                          <a:solidFill>
                            <a:srgbClr val="14283A"/>
                          </a:solidFill>
                          <a:latin typeface="Aptos"/>
                          <a:ea typeface="Aptos"/>
                          <a:cs typeface="Aptos"/>
                        </a:rPr>
                        <a:t>Regional</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0.50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0.65</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0.15</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0.285</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500" b="1">
                          <a:solidFill>
                            <a:srgbClr val="14283A"/>
                          </a:solidFill>
                          <a:latin typeface="Aptos"/>
                          <a:ea typeface="Aptos"/>
                          <a:cs typeface="Aptos"/>
                        </a:rPr>
                        <a:t>Creators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0.40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0.40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0.000</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500" b="1">
                          <a:solidFill>
                            <a:srgbClr val="14283A"/>
                          </a:solidFill>
                          <a:latin typeface="Aptos"/>
                          <a:ea typeface="Aptos"/>
                          <a:cs typeface="Aptos"/>
                        </a:rPr>
                        <a:t>Affiliates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0.30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0.10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-0.20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-0.080</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C4C0F70B-78A6-4C6A-B655-1CD3F346BFED}"/>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C5F922-FA0A-47BB-A636-0CAEA611C2F2}"/>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42C169F3-CDF0-4F07-9569-737095B94BDC}"/>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Add $0.30m search, $0.15m regional and $0.05m video. Fund with $0.30m social and $0.20m affiliates.</a:t>
            </a:r>
          </a:p>
        </p:txBody>
      </p:sp>
      <p:sp>
        <p:nvSpPr>
          <p:cNvPr id="13" name="">
            <a:extLst xmlns:a="http://schemas.openxmlformats.org/drawingml/2006/main">
              <a:ext uri="{FF2B5EF4-FFF2-40B4-BE49-F238E27FC236}">
                <a16:creationId xmlns:a16="http://schemas.microsoft.com/office/drawing/2014/main" id="{35935F98-85FC-4368-9FCF-09F1084789F4}"/>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Local marginal arithmetic gives +$0.61m NGR. This is a first-pass scenario, not an optimiser forecast.</a:t>
            </a:r>
          </a:p>
        </p:txBody>
      </p:sp>
    </p:spTree>
    <p:extLst>
      <p:ext uri="{BB962C8B-B14F-4D97-AF65-F5344CB8AC3E}">
        <p14:creationId xmlns:p14="http://schemas.microsoft.com/office/powerpoint/2010/main" val="174973224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54C4BA2-427E-4C0D-9539-7940FAE1AADD}"/>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614FFE-854B-4A59-8700-FC392FF2FDE7}"/>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3C237D43-5891-45FE-AC0B-CDDCABD81D10}"/>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BUDGET ALLOCATION</a:t>
            </a:r>
          </a:p>
        </p:txBody>
      </p:sp>
      <p:sp>
        <p:nvSpPr>
          <p:cNvPr id="4" name="">
            <a:extLst xmlns:a="http://schemas.openxmlformats.org/drawingml/2006/main">
              <a:ext uri="{FF2B5EF4-FFF2-40B4-BE49-F238E27FC236}">
                <a16:creationId xmlns:a16="http://schemas.microsoft.com/office/drawing/2014/main" id="{9DE197A0-2094-481E-8BDA-243C3B17C877}"/>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The funded plan shifts spend toward stronger local returns</a:t>
            </a:r>
          </a:p>
        </p:txBody>
      </p:sp>
      <p:sp>
        <p:nvSpPr>
          <p:cNvPr id="5" name="">
            <a:extLst xmlns:a="http://schemas.openxmlformats.org/drawingml/2006/main">
              <a:ext uri="{FF2B5EF4-FFF2-40B4-BE49-F238E27FC236}">
                <a16:creationId xmlns:a16="http://schemas.microsoft.com/office/drawing/2014/main" id="{64D31038-9765-4793-8D19-CC7CA5F30955}"/>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A7CD178-0B97-4AD7-ADD8-AD27178C9F5F}"/>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F70BAE8B-9455-4AA8-B637-DE6CCEF80FB7}"/>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BC1552E3-F6AE-4FF1-AB9D-DD3C168A2CAD}"/>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22</a:t>
            </a:r>
          </a:p>
        </p:txBody>
      </p:sp>
      <p:graphicFrame>
        <p:nvGraphicFramePr>
          <p:cNvPr id="9" name="Chart">
            <a:extLst xmlns:a="http://schemas.openxmlformats.org/drawingml/2006/main">
              <a:ext uri="{FF2B5EF4-FFF2-40B4-BE49-F238E27FC236}">
                <a16:creationId xmlns:a16="http://schemas.microsoft.com/office/drawing/2014/main" id="{6ED1C43E-10AA-4A06-81C9-0287C07FEF54}"/>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131643b4039347a2"/>
          </a:graphicData>
        </a:graphic>
      </p:graphicFrame>
      <p:sp>
        <p:nvSpPr>
          <p:cNvPr id="10" name="">
            <a:extLst xmlns:a="http://schemas.openxmlformats.org/drawingml/2006/main">
              <a:ext uri="{FF2B5EF4-FFF2-40B4-BE49-F238E27FC236}">
                <a16:creationId xmlns:a16="http://schemas.microsoft.com/office/drawing/2014/main" id="{9E95F496-D1A7-4FD8-8D89-90E5B1C24561}"/>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B2E9BCE-0223-4EBC-9AE5-6CD4A029A554}"/>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B7520547-5A59-45D8-A36A-264F25AE36C7}"/>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Total media spend remains $4.00m.</a:t>
            </a:r>
          </a:p>
        </p:txBody>
      </p:sp>
      <p:sp>
        <p:nvSpPr>
          <p:cNvPr id="13" name="">
            <a:extLst xmlns:a="http://schemas.openxmlformats.org/drawingml/2006/main">
              <a:ext uri="{FF2B5EF4-FFF2-40B4-BE49-F238E27FC236}">
                <a16:creationId xmlns:a16="http://schemas.microsoft.com/office/drawing/2014/main" id="{55B0B8F3-8E90-400F-BDE8-88F5E90BF235}"/>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Hold creator spend while improving measurement. Negotiate affiliate commitments before cutting allocations.</a:t>
            </a:r>
          </a:p>
        </p:txBody>
      </p:sp>
    </p:spTree>
    <p:extLst>
      <p:ext uri="{BB962C8B-B14F-4D97-AF65-F5344CB8AC3E}">
        <p14:creationId xmlns:p14="http://schemas.microsoft.com/office/powerpoint/2010/main" val="213920642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556847A-2127-4DDE-AA32-718199EA1C18}"/>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FAF396-5C48-4053-8B52-BB573B806E9B}"/>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849D46E3-0494-413A-9D3F-C79882F975CF}"/>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BUDGET ALLOCATION</a:t>
            </a:r>
          </a:p>
        </p:txBody>
      </p:sp>
      <p:sp>
        <p:nvSpPr>
          <p:cNvPr id="4" name="">
            <a:extLst xmlns:a="http://schemas.openxmlformats.org/drawingml/2006/main">
              <a:ext uri="{FF2B5EF4-FFF2-40B4-BE49-F238E27FC236}">
                <a16:creationId xmlns:a16="http://schemas.microsoft.com/office/drawing/2014/main" id="{ADB648FD-5146-4511-8FD7-B38A33A7772C}"/>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Translate the revenue scenario into contribution</a:t>
            </a:r>
          </a:p>
        </p:txBody>
      </p:sp>
      <p:sp>
        <p:nvSpPr>
          <p:cNvPr id="5" name="">
            <a:extLst xmlns:a="http://schemas.openxmlformats.org/drawingml/2006/main">
              <a:ext uri="{FF2B5EF4-FFF2-40B4-BE49-F238E27FC236}">
                <a16:creationId xmlns:a16="http://schemas.microsoft.com/office/drawing/2014/main" id="{F0A94524-6BDD-44CD-8494-74F136A2D2D5}"/>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8074CF-A227-46EF-BB57-F499BA23C094}"/>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45151392-3A90-4813-8CF5-19353D813CE3}"/>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0EC9E526-71DC-4513-9734-BA4CA7C27ED5}"/>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23</a:t>
            </a:r>
          </a:p>
        </p:txBody>
      </p:sp>
      <p:graphicFrame>
        <p:nvGraphicFramePr>
          <p:cNvPr id="9" name="">
            <a:extLst xmlns:a="http://schemas.openxmlformats.org/drawingml/2006/main">
              <a:ext uri="{FF2B5EF4-FFF2-40B4-BE49-F238E27FC236}">
                <a16:creationId xmlns:a16="http://schemas.microsoft.com/office/drawing/2014/main" id="{1E5FD3C5-D0AB-4A02-AD44-10C336745C38}"/>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667000"/>
                <a:gridCol w="2667000"/>
                <a:gridCol w="2667000"/>
              </a:tblGrid>
              <a:tr h="809625">
                <a:tc>
                  <a:txBody>
                    <a:bodyPr/>
                    <a:lstStyle/>
                    <a:p>
                      <a:r>
                        <a:rPr sz="1650" b="1">
                          <a:solidFill>
                            <a:srgbClr val="FFFFFF"/>
                          </a:solidFill>
                          <a:latin typeface="Aptos"/>
                          <a:ea typeface="Aptos"/>
                          <a:cs typeface="Aptos"/>
                        </a:rPr>
                        <a:t>Measure</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Current</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Scenario</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Change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NGR</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$20.00m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$20.61m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+$0.61m</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Variable costs at 35% of NGR</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$7.00m</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$7.21m</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+$0.21m</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Contribution before media</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$13.00m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$13.40m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+$0.40m</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Media spend</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$4.00m</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$4.00m</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$0.00m</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Contribution after media</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$9.00m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$9.40m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+$0.40m</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42E440EF-B831-4FF3-9709-9CD82801F1FE}"/>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2570F75-EFB6-454E-9EC6-19E3AC5422CB}"/>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3FE0A355-6B52-41F6-B61B-E5EF095B7688}"/>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$0.40m is before fixed costs and tax, using an assumed 65% contribution margin.</a:t>
            </a:r>
          </a:p>
        </p:txBody>
      </p:sp>
      <p:sp>
        <p:nvSpPr>
          <p:cNvPr id="13" name="">
            <a:extLst xmlns:a="http://schemas.openxmlformats.org/drawingml/2006/main">
              <a:ext uri="{FF2B5EF4-FFF2-40B4-BE49-F238E27FC236}">
                <a16:creationId xmlns:a16="http://schemas.microsoft.com/office/drawing/2014/main" id="{A9A84EB9-576E-45EB-9E90-A13374D0E915}"/>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Do not present +$0.61m NGR as +$0.61m profit. Values are rounded.</a:t>
            </a:r>
          </a:p>
        </p:txBody>
      </p:sp>
    </p:spTree>
    <p:extLst>
      <p:ext uri="{BB962C8B-B14F-4D97-AF65-F5344CB8AC3E}">
        <p14:creationId xmlns:p14="http://schemas.microsoft.com/office/powerpoint/2010/main" val="144167232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194A731-1159-4BD9-AAD3-F5C69C6FC369}"/>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E47528-735A-43E5-8D55-02CF26DC6B92}"/>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531BD64E-1FEF-4E78-926E-B1D8B2CD523A}"/>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BUDGET ALLOCATION</a:t>
            </a:r>
          </a:p>
        </p:txBody>
      </p:sp>
      <p:sp>
        <p:nvSpPr>
          <p:cNvPr id="4" name="">
            <a:extLst xmlns:a="http://schemas.openxmlformats.org/drawingml/2006/main">
              <a:ext uri="{FF2B5EF4-FFF2-40B4-BE49-F238E27FC236}">
                <a16:creationId xmlns:a16="http://schemas.microsoft.com/office/drawing/2014/main" id="{BC00B4A5-3B1E-4B2B-8EC2-A2315A0F61B7}"/>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Check whether the plan survives weaker response assumptions</a:t>
            </a:r>
          </a:p>
        </p:txBody>
      </p:sp>
      <p:sp>
        <p:nvSpPr>
          <p:cNvPr id="5" name="">
            <a:extLst xmlns:a="http://schemas.openxmlformats.org/drawingml/2006/main">
              <a:ext uri="{FF2B5EF4-FFF2-40B4-BE49-F238E27FC236}">
                <a16:creationId xmlns:a16="http://schemas.microsoft.com/office/drawing/2014/main" id="{788EE94B-71CB-4C75-A879-BD5DB2CE68E7}"/>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972401-9F83-4165-B77E-3E2C4F7163E0}"/>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52DE5C59-5A80-4E41-8F45-7084352A9BF0}"/>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D3AC1B6E-E466-401B-9026-FA307865CA04}"/>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24</a:t>
            </a:r>
          </a:p>
        </p:txBody>
      </p:sp>
      <p:graphicFrame>
        <p:nvGraphicFramePr>
          <p:cNvPr id="9" name="">
            <a:extLst xmlns:a="http://schemas.openxmlformats.org/drawingml/2006/main">
              <a:ext uri="{FF2B5EF4-FFF2-40B4-BE49-F238E27FC236}">
                <a16:creationId xmlns:a16="http://schemas.microsoft.com/office/drawing/2014/main" id="{B2E802B3-519C-4016-A220-0B8A0C887AB4}"/>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667000"/>
                <a:gridCol w="2667000"/>
                <a:gridCol w="2667000"/>
              </a:tblGrid>
              <a:tr h="971550">
                <a:tc>
                  <a:txBody>
                    <a:bodyPr/>
                    <a:lstStyle/>
                    <a:p>
                      <a:r>
                        <a:rPr sz="1650" b="1">
                          <a:solidFill>
                            <a:srgbClr val="FFFFFF"/>
                          </a:solidFill>
                          <a:latin typeface="Aptos"/>
                          <a:ea typeface="Aptos"/>
                          <a:cs typeface="Aptos"/>
                        </a:rPr>
                        <a:t>Case</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NGR change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Contribution change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Interpretation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971550">
                <a:tc>
                  <a:txBody>
                    <a:bodyPr/>
                    <a:lstStyle/>
                    <a:p>
                      <a:r>
                        <a:rPr sz="1650" b="1">
                          <a:solidFill>
                            <a:srgbClr val="14283A"/>
                          </a:solidFill>
                          <a:latin typeface="Aptos"/>
                          <a:ea typeface="Aptos"/>
                          <a:cs typeface="Aptos"/>
                        </a:rPr>
                        <a:t>Low response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+$0.30m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+$0.20m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Smaller benefits, same $4m budget</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Central local scenario</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+$0.61m</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+$0.40m</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Marginal arithmetic at current spend</a:t>
                      </a:r>
                    </a:p>
                  </a:txBody>
                  <a:tcPr marL="95250" marR="76200" marT="9525" marB="9525">
                    <a:lnR w="4763">
                      <a:solidFill>
                        <a:srgbClr val="DBE4E8"/>
                      </a:solidFill>
                      <a:prstDash val="solid"/>
                    </a:lnR>
                    <a:lnB w="4763">
                      <a:solidFill>
                        <a:srgbClr val="DBE4E8"/>
                      </a:solidFill>
                      <a:prstDash val="solid"/>
                    </a:lnB>
                    <a:solidFill>
                      <a:srgbClr val="F0F5F7"/>
                    </a:solidFill>
                  </a:tcPr>
                </a:tc>
              </a:tr>
              <a:tr h="971550">
                <a:tc>
                  <a:txBody>
                    <a:bodyPr/>
                    <a:lstStyle/>
                    <a:p>
                      <a:r>
                        <a:rPr sz="1650" b="1">
                          <a:solidFill>
                            <a:srgbClr val="14283A"/>
                          </a:solidFill>
                          <a:latin typeface="Aptos"/>
                          <a:ea typeface="Aptos"/>
                          <a:cs typeface="Aptos"/>
                        </a:rPr>
                        <a:t>High response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+$0.90m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+$0.59m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Stronger response, not a forecast promise</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No incremental response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$0.00m</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$0.00m</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No benefit from the budget change</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279EB81B-7CA7-4797-BB32-6B2605A120C0}"/>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61D3C35-25EC-46E5-9086-9EAF15939108}"/>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F6A762BC-37DD-421F-BC3C-AD9122DC27FD}"/>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These are sensitivity cases, not probability-weighted forecasts.</a:t>
            </a:r>
          </a:p>
        </p:txBody>
      </p:sp>
      <p:sp>
        <p:nvSpPr>
          <p:cNvPr id="13" name="">
            <a:extLst xmlns:a="http://schemas.openxmlformats.org/drawingml/2006/main">
              <a:ext uri="{FF2B5EF4-FFF2-40B4-BE49-F238E27FC236}">
                <a16:creationId xmlns:a16="http://schemas.microsoft.com/office/drawing/2014/main" id="{61671736-FAEB-46E7-B746-9E46C5BF233F}"/>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Use a staged release with pre-agreed evidence thresholds and stop rules.</a:t>
            </a:r>
          </a:p>
        </p:txBody>
      </p:sp>
    </p:spTree>
    <p:extLst>
      <p:ext uri="{BB962C8B-B14F-4D97-AF65-F5344CB8AC3E}">
        <p14:creationId xmlns:p14="http://schemas.microsoft.com/office/powerpoint/2010/main" val="14351725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8AF3339-B410-448D-AD48-2D5079EB4F5D}"/>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F76D9A-BB34-4CA8-AB70-A7535DF46721}"/>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A9920924-F40E-4C53-A298-ABF40011499F}"/>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BUDGET ALLOCATION</a:t>
            </a:r>
          </a:p>
        </p:txBody>
      </p:sp>
      <p:sp>
        <p:nvSpPr>
          <p:cNvPr id="4" name="">
            <a:extLst xmlns:a="http://schemas.openxmlformats.org/drawingml/2006/main">
              <a:ext uri="{FF2B5EF4-FFF2-40B4-BE49-F238E27FC236}">
                <a16:creationId xmlns:a16="http://schemas.microsoft.com/office/drawing/2014/main" id="{59DF5818-6392-4A98-A4F9-9F47C1E30AEE}"/>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Optimisation needs operational constraints, not just a target</a:t>
            </a:r>
          </a:p>
        </p:txBody>
      </p:sp>
      <p:sp>
        <p:nvSpPr>
          <p:cNvPr id="5" name="">
            <a:extLst xmlns:a="http://schemas.openxmlformats.org/drawingml/2006/main">
              <a:ext uri="{FF2B5EF4-FFF2-40B4-BE49-F238E27FC236}">
                <a16:creationId xmlns:a16="http://schemas.microsoft.com/office/drawing/2014/main" id="{DF139B8D-7187-4821-879E-3C2890CFE04B}"/>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E680A6-4A91-449F-B089-7D64DAC8C4CF}"/>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D20E7C48-1E5C-4E06-A2DF-D7F34FAEFD24}"/>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94A75148-C960-4207-8AC5-657B2FC4C59C}"/>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25</a:t>
            </a:r>
          </a:p>
        </p:txBody>
      </p:sp>
      <p:graphicFrame>
        <p:nvGraphicFramePr>
          <p:cNvPr id="9" name="">
            <a:extLst xmlns:a="http://schemas.openxmlformats.org/drawingml/2006/main">
              <a:ext uri="{FF2B5EF4-FFF2-40B4-BE49-F238E27FC236}">
                <a16:creationId xmlns:a16="http://schemas.microsoft.com/office/drawing/2014/main" id="{191CE436-F9C3-44F9-91B1-1F04D5CBFB4B}"/>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693964">
                <a:tc>
                  <a:txBody>
                    <a:bodyPr/>
                    <a:lstStyle/>
                    <a:p>
                      <a:r>
                        <a:rPr sz="1650" b="1">
                          <a:solidFill>
                            <a:srgbClr val="FFFFFF"/>
                          </a:solidFill>
                          <a:latin typeface="Aptos"/>
                          <a:ea typeface="Aptos"/>
                          <a:cs typeface="Aptos"/>
                        </a:rPr>
                        <a:t>Constraint</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Illustrative implementation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Why it matters</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93964">
                <a:tc>
                  <a:txBody>
                    <a:bodyPr/>
                    <a:lstStyle/>
                    <a:p>
                      <a:r>
                        <a:rPr sz="1650" b="1">
                          <a:solidFill>
                            <a:srgbClr val="14283A"/>
                          </a:solidFill>
                          <a:latin typeface="Aptos"/>
                          <a:ea typeface="Aptos"/>
                          <a:cs typeface="Aptos"/>
                        </a:rPr>
                        <a:t>Budget conservation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Sum of channel spend equals $4.00m</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Prevents unfunded recommendations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Channel limits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Respect contracts, capacity and historical support</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Avoids infeasible or extreme solutions</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Brand protection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Set a minimum after a brand-search test</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Avoids indiscriminate cuts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Learning reserve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Keep a controlled test allocation</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Improves future estimates</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Eligibility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Approved markets and eligible adult audiences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Respects operating permissions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Objective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Contribution after agreed costs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Aligns marketing with finance</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C614417F-5CC0-48C7-B300-F5C02E6B1B83}"/>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A2C9D3E-A3AC-4B0B-8D31-AF51C6FF1B8A}"/>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CD68CB42-3EC3-4E18-8B57-19E293310127}"/>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Target contributions in the video are useful scenario inputs. A budget recommendation still needs constraints.</a:t>
            </a:r>
          </a:p>
        </p:txBody>
      </p:sp>
      <p:sp>
        <p:nvSpPr>
          <p:cNvPr id="13" name="">
            <a:extLst xmlns:a="http://schemas.openxmlformats.org/drawingml/2006/main">
              <a:ext uri="{FF2B5EF4-FFF2-40B4-BE49-F238E27FC236}">
                <a16:creationId xmlns:a16="http://schemas.microsoft.com/office/drawing/2014/main" id="{8D510C55-D819-4C79-9878-CA1F7D7E0677}"/>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Do not equate a desired contribution share with a proven attainable outcome.</a:t>
            </a:r>
          </a:p>
        </p:txBody>
      </p:sp>
    </p:spTree>
    <p:extLst>
      <p:ext uri="{BB962C8B-B14F-4D97-AF65-F5344CB8AC3E}">
        <p14:creationId xmlns:p14="http://schemas.microsoft.com/office/powerpoint/2010/main" val="122486557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C7AC390-8E6E-426C-B914-DC4F55F3C86B}"/>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1C358D-1B71-439B-990F-F659C3EE4462}"/>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3EF51D61-1990-4589-B3F0-FC0D319A1B28}"/>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BUDGET ALLOCATION</a:t>
            </a:r>
          </a:p>
        </p:txBody>
      </p:sp>
      <p:sp>
        <p:nvSpPr>
          <p:cNvPr id="4" name="">
            <a:extLst xmlns:a="http://schemas.openxmlformats.org/drawingml/2006/main">
              <a:ext uri="{FF2B5EF4-FFF2-40B4-BE49-F238E27FC236}">
                <a16:creationId xmlns:a16="http://schemas.microsoft.com/office/drawing/2014/main" id="{8760AA28-FC91-4598-8F7E-56BA70AC108E}"/>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Plan around sports peaks without confusing hold with demand</a:t>
            </a:r>
          </a:p>
        </p:txBody>
      </p:sp>
      <p:sp>
        <p:nvSpPr>
          <p:cNvPr id="5" name="">
            <a:extLst xmlns:a="http://schemas.openxmlformats.org/drawingml/2006/main">
              <a:ext uri="{FF2B5EF4-FFF2-40B4-BE49-F238E27FC236}">
                <a16:creationId xmlns:a16="http://schemas.microsoft.com/office/drawing/2014/main" id="{1ED57297-4328-47EC-8C6A-96CB9C2EDE8C}"/>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3BC6B8B-D218-4865-9E83-2DDFC8BAEAB8}"/>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56F58706-627F-4439-9417-1DC8236E9140}"/>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40C55AD6-3A82-4B6F-8E4C-3D0FA3A1768E}"/>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26</a:t>
            </a:r>
          </a:p>
        </p:txBody>
      </p:sp>
      <p:graphicFrame>
        <p:nvGraphicFramePr>
          <p:cNvPr id="9" name="">
            <a:extLst xmlns:a="http://schemas.openxmlformats.org/drawingml/2006/main">
              <a:ext uri="{FF2B5EF4-FFF2-40B4-BE49-F238E27FC236}">
                <a16:creationId xmlns:a16="http://schemas.microsoft.com/office/drawing/2014/main" id="{E6D08787-9992-405C-A1C6-344F2F419C9F}"/>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809625">
                <a:tc>
                  <a:txBody>
                    <a:bodyPr/>
                    <a:lstStyle/>
                    <a:p>
                      <a:r>
                        <a:rPr sz="1650" b="1">
                          <a:solidFill>
                            <a:srgbClr val="FFFFFF"/>
                          </a:solidFill>
                          <a:latin typeface="Aptos"/>
                          <a:ea typeface="Aptos"/>
                          <a:cs typeface="Aptos"/>
                        </a:rPr>
                        <a:t>Situation</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Potential distortion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Model response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Major tournament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Media and demand rise together</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Include calendar controls and compare suitable weeks</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Favourite-heavy results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Actual sportsbook hold changes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Separate expected and realised hold</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Casino release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New game mix changes margin</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Track product mix and launch dates</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Large bonus campaign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Gross activity rises while NGR falls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Model bonus economics explicitly</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Payment outage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Conversions fall despite unchanged demand</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Include availability and recovery effects</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BA470966-4F3D-42B1-B459-079491317922}"/>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F4E21EC-7350-440C-8F3A-8D71B24353C3}"/>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BEAAFBDB-A55A-4B71-A11E-42743847AB28}"/>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Normalised sportsbook revenue is a sensitivity view, not a substitute for reported finance numbers.</a:t>
            </a:r>
          </a:p>
        </p:txBody>
      </p:sp>
      <p:sp>
        <p:nvSpPr>
          <p:cNvPr id="13" name="">
            <a:extLst xmlns:a="http://schemas.openxmlformats.org/drawingml/2006/main">
              <a:ext uri="{FF2B5EF4-FFF2-40B4-BE49-F238E27FC236}">
                <a16:creationId xmlns:a16="http://schemas.microsoft.com/office/drawing/2014/main" id="{5ED1D31E-8258-4DA5-8A4B-AE64CA175539}"/>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Keep calendar effects fixed when comparing budget-only scenarios.</a:t>
            </a:r>
          </a:p>
        </p:txBody>
      </p:sp>
    </p:spTree>
    <p:extLst>
      <p:ext uri="{BB962C8B-B14F-4D97-AF65-F5344CB8AC3E}">
        <p14:creationId xmlns:p14="http://schemas.microsoft.com/office/powerpoint/2010/main" val="32037238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3883D03-6C69-4D15-B98D-2BAC9B76C645}"/>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B8C599-1F6F-4FBD-A747-DF93A9AF8F8D}"/>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FD01C621-E7AB-49A4-A841-33EFA8313197}"/>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COMPETITIVE SEARCH</a:t>
            </a:r>
          </a:p>
        </p:txBody>
      </p:sp>
      <p:sp>
        <p:nvSpPr>
          <p:cNvPr id="4" name="">
            <a:extLst xmlns:a="http://schemas.openxmlformats.org/drawingml/2006/main">
              <a:ext uri="{FF2B5EF4-FFF2-40B4-BE49-F238E27FC236}">
                <a16:creationId xmlns:a16="http://schemas.microsoft.com/office/drawing/2014/main" id="{AB6D0EE9-7E25-468B-B18C-A820DDF7E9AB}"/>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Nova relies on brand while Peer A has broader search coverage</a:t>
            </a:r>
          </a:p>
        </p:txBody>
      </p:sp>
      <p:sp>
        <p:nvSpPr>
          <p:cNvPr id="5" name="">
            <a:extLst xmlns:a="http://schemas.openxmlformats.org/drawingml/2006/main">
              <a:ext uri="{FF2B5EF4-FFF2-40B4-BE49-F238E27FC236}">
                <a16:creationId xmlns:a16="http://schemas.microsoft.com/office/drawing/2014/main" id="{0FAFF41C-C599-4AF2-B5A7-013CDC35584A}"/>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D58F854-630C-493C-B15F-3D819D42B441}"/>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434EB0B2-5FB6-4FE4-8D85-6AFD9493E840}"/>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DE47B7B9-1A88-4D35-8800-DFB1EC1D1933}"/>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27</a:t>
            </a:r>
          </a:p>
        </p:txBody>
      </p:sp>
      <p:graphicFrame>
        <p:nvGraphicFramePr>
          <p:cNvPr id="9" name="">
            <a:extLst xmlns:a="http://schemas.openxmlformats.org/drawingml/2006/main">
              <a:ext uri="{FF2B5EF4-FFF2-40B4-BE49-F238E27FC236}">
                <a16:creationId xmlns:a16="http://schemas.microsoft.com/office/drawing/2014/main" id="{6A5B91DD-8038-47B5-8929-A62E9FD733E0}"/>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952750"/>
                <a:gridCol w="1524000"/>
                <a:gridCol w="1524000"/>
                <a:gridCol w="1524000"/>
                <a:gridCol w="1524000"/>
                <a:gridCol w="1524000"/>
              </a:tblGrid>
              <a:tr h="809625">
                <a:tc>
                  <a:txBody>
                    <a:bodyPr/>
                    <a:lstStyle/>
                    <a:p>
                      <a:r>
                        <a:rPr sz="1500" b="1">
                          <a:solidFill>
                            <a:srgbClr val="FFFFFF"/>
                          </a:solidFill>
                          <a:latin typeface="Aptos"/>
                          <a:ea typeface="Aptos"/>
                          <a:cs typeface="Aptos"/>
                        </a:rPr>
                        <a:t>Metric</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Nova</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Peer A</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Peer B</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Peer C</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Peer D</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500" b="1">
                          <a:solidFill>
                            <a:srgbClr val="14283A"/>
                          </a:solidFill>
                          <a:latin typeface="Aptos"/>
                          <a:ea typeface="Aptos"/>
                          <a:cs typeface="Aptos"/>
                        </a:rPr>
                        <a:t>Branded share of paid traffic</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72%</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48%</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55%</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40%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60%</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500" b="1">
                          <a:solidFill>
                            <a:srgbClr val="14283A"/>
                          </a:solidFill>
                          <a:latin typeface="Aptos"/>
                          <a:ea typeface="Aptos"/>
                          <a:cs typeface="Aptos"/>
                        </a:rPr>
                        <a:t>Organic keyword count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10,300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14,450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9,046</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6,353</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2,739</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500" b="1">
                          <a:solidFill>
                            <a:srgbClr val="14283A"/>
                          </a:solidFill>
                          <a:latin typeface="Aptos"/>
                          <a:ea typeface="Aptos"/>
                          <a:cs typeface="Aptos"/>
                        </a:rPr>
                        <a:t>Search interest index</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54</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71</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62</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48</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30</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500" b="1">
                          <a:solidFill>
                            <a:srgbClr val="14283A"/>
                          </a:solidFill>
                          <a:latin typeface="Aptos"/>
                          <a:ea typeface="Aptos"/>
                          <a:cs typeface="Aptos"/>
                        </a:rPr>
                        <a:t>Observed Nova-brand ad terms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34</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21</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12</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5</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500" b="1">
                          <a:solidFill>
                            <a:srgbClr val="14283A"/>
                          </a:solidFill>
                          <a:latin typeface="Aptos"/>
                          <a:ea typeface="Aptos"/>
                          <a:cs typeface="Aptos"/>
                        </a:rPr>
                        <a:t>Follow share of backlinks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53%</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53%</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48%</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53%</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51%</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A2605EC7-C7DD-43C7-9D53-7DA8EC4F1BFB}"/>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588A8BF-4709-4528-9C1D-9F41819851A6}"/>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9CE8D8F3-C3E2-4893-8267-643A172CE656}"/>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Illustrative competitor inputs adapted from the supplied gaming sample. All names are fictional.</a:t>
            </a:r>
          </a:p>
        </p:txBody>
      </p:sp>
      <p:sp>
        <p:nvSpPr>
          <p:cNvPr id="13" name="">
            <a:extLst xmlns:a="http://schemas.openxmlformats.org/drawingml/2006/main">
              <a:ext uri="{FF2B5EF4-FFF2-40B4-BE49-F238E27FC236}">
                <a16:creationId xmlns:a16="http://schemas.microsoft.com/office/drawing/2014/main" id="{7AE525EE-1322-44C3-B293-D8581439CE7A}"/>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Keyword counts, traffic estimates and search interest measure different things. None equals market share.</a:t>
            </a:r>
          </a:p>
        </p:txBody>
      </p:sp>
    </p:spTree>
    <p:extLst>
      <p:ext uri="{BB962C8B-B14F-4D97-AF65-F5344CB8AC3E}">
        <p14:creationId xmlns:p14="http://schemas.microsoft.com/office/powerpoint/2010/main" val="186004848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CE1A502-00AC-4163-B86C-A4A8577A4B83}"/>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0D03A6-8B8A-48E2-A97C-B35733E871DF}"/>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96004AC2-78E0-4602-BD3B-B68E3316C504}"/>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COMPETITIVE SEARCH</a:t>
            </a:r>
          </a:p>
        </p:txBody>
      </p:sp>
      <p:sp>
        <p:nvSpPr>
          <p:cNvPr id="4" name="">
            <a:extLst xmlns:a="http://schemas.openxmlformats.org/drawingml/2006/main">
              <a:ext uri="{FF2B5EF4-FFF2-40B4-BE49-F238E27FC236}">
                <a16:creationId xmlns:a16="http://schemas.microsoft.com/office/drawing/2014/main" id="{F4239397-3578-4BE3-B560-6AC66610133D}"/>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Non-brand visibility is the larger acquisition gap</a:t>
            </a:r>
          </a:p>
        </p:txBody>
      </p:sp>
      <p:sp>
        <p:nvSpPr>
          <p:cNvPr id="5" name="">
            <a:extLst xmlns:a="http://schemas.openxmlformats.org/drawingml/2006/main">
              <a:ext uri="{FF2B5EF4-FFF2-40B4-BE49-F238E27FC236}">
                <a16:creationId xmlns:a16="http://schemas.microsoft.com/office/drawing/2014/main" id="{86A2B5A5-1875-4E3C-8AC8-3BEAC8AA4C8B}"/>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1C558B3-00B7-4E6F-A2E8-74C0F93EA934}"/>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FADEBCF7-B1ED-4913-A90A-B83E6E48CEAA}"/>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6C1169BD-3675-4919-84CB-2F54C2843258}"/>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28</a:t>
            </a:r>
          </a:p>
        </p:txBody>
      </p:sp>
      <p:graphicFrame>
        <p:nvGraphicFramePr>
          <p:cNvPr id="9" name="Chart">
            <a:extLst xmlns:a="http://schemas.openxmlformats.org/drawingml/2006/main">
              <a:ext uri="{FF2B5EF4-FFF2-40B4-BE49-F238E27FC236}">
                <a16:creationId xmlns:a16="http://schemas.microsoft.com/office/drawing/2014/main" id="{12C95B8B-327D-481D-8594-8E112F0FD557}"/>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a84a5d1e8f734916"/>
          </a:graphicData>
        </a:graphic>
      </p:graphicFrame>
      <p:sp>
        <p:nvSpPr>
          <p:cNvPr id="10" name="">
            <a:extLst xmlns:a="http://schemas.openxmlformats.org/drawingml/2006/main">
              <a:ext uri="{FF2B5EF4-FFF2-40B4-BE49-F238E27FC236}">
                <a16:creationId xmlns:a16="http://schemas.microsoft.com/office/drawing/2014/main" id="{7E3F957B-FFB1-46CC-A8A3-2DA2EAD73A2C}"/>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531F6A5-7B8B-497E-A3B4-7CB8079F07EC}"/>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DCD3817F-BC59-44BC-9DE5-FA277DCF9894}"/>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Nova has 28% non-brand paid traffic share versus 52% for Peer A.</a:t>
            </a:r>
          </a:p>
        </p:txBody>
      </p:sp>
      <p:sp>
        <p:nvSpPr>
          <p:cNvPr id="13" name="">
            <a:extLst xmlns:a="http://schemas.openxmlformats.org/drawingml/2006/main">
              <a:ext uri="{FF2B5EF4-FFF2-40B4-BE49-F238E27FC236}">
                <a16:creationId xmlns:a16="http://schemas.microsoft.com/office/drawing/2014/main" id="{44291E90-69AF-4AC9-A603-A9AD3A6A0DA7}"/>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Validate query intent and incremental conversions before increasing non-brand investment.</a:t>
            </a:r>
          </a:p>
        </p:txBody>
      </p:sp>
    </p:spTree>
    <p:extLst>
      <p:ext uri="{BB962C8B-B14F-4D97-AF65-F5344CB8AC3E}">
        <p14:creationId xmlns:p14="http://schemas.microsoft.com/office/powerpoint/2010/main" val="211682202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759776F-39A3-4E8D-94BF-E10895224CCF}"/>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34EB9A-5425-43E4-BBFD-A0C347F74570}"/>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96554CF0-EDAA-4506-84ED-78CC16EF8767}"/>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COMPETITIVE SEARCH</a:t>
            </a:r>
          </a:p>
        </p:txBody>
      </p:sp>
      <p:sp>
        <p:nvSpPr>
          <p:cNvPr id="4" name="">
            <a:extLst xmlns:a="http://schemas.openxmlformats.org/drawingml/2006/main">
              <a:ext uri="{FF2B5EF4-FFF2-40B4-BE49-F238E27FC236}">
                <a16:creationId xmlns:a16="http://schemas.microsoft.com/office/drawing/2014/main" id="{A0FEAE92-0534-4E00-B7C3-192668933377}"/>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Separate brand defence from category expansion</a:t>
            </a:r>
          </a:p>
        </p:txBody>
      </p:sp>
      <p:sp>
        <p:nvSpPr>
          <p:cNvPr id="5" name="">
            <a:extLst xmlns:a="http://schemas.openxmlformats.org/drawingml/2006/main">
              <a:ext uri="{FF2B5EF4-FFF2-40B4-BE49-F238E27FC236}">
                <a16:creationId xmlns:a16="http://schemas.microsoft.com/office/drawing/2014/main" id="{7BC1A7C0-6B70-4EB3-8CD2-301B37CB4EEF}"/>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DDA8CD2-4117-4DF6-A1EF-143119D972C2}"/>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3B69DF49-F480-44AF-A65B-3128E53200B2}"/>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21213F5E-9960-4CBA-A17E-E4BA6BC76D27}"/>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29</a:t>
            </a:r>
          </a:p>
        </p:txBody>
      </p:sp>
      <p:graphicFrame>
        <p:nvGraphicFramePr>
          <p:cNvPr id="9" name="">
            <a:extLst xmlns:a="http://schemas.openxmlformats.org/drawingml/2006/main">
              <a:ext uri="{FF2B5EF4-FFF2-40B4-BE49-F238E27FC236}">
                <a16:creationId xmlns:a16="http://schemas.microsoft.com/office/drawing/2014/main" id="{2234D382-42CF-43E9-A2C5-F614BE4E1783}"/>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667000"/>
                <a:gridCol w="2667000"/>
                <a:gridCol w="2667000"/>
              </a:tblGrid>
              <a:tr h="809625">
                <a:tc>
                  <a:txBody>
                    <a:bodyPr/>
                    <a:lstStyle/>
                    <a:p>
                      <a:r>
                        <a:rPr sz="1650" b="1">
                          <a:solidFill>
                            <a:srgbClr val="FFFFFF"/>
                          </a:solidFill>
                          <a:latin typeface="Aptos"/>
                          <a:ea typeface="Aptos"/>
                          <a:cs typeface="Aptos"/>
                        </a:rPr>
                        <a:t>Search cluster</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Example query intent</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Analysis</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Decision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Brand</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Operator name / login</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Competitor ads, organic coverage</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Test defensive coverage</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Product category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Sportsbook / casino comparison</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Coverage, CPC, qualified conversion</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Prioritise eligible high-intent terms</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Sports event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Tournament or match information</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Seasonality and content relevance</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Plan approved contextual content</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Trust and utility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Withdrawal time / payment methods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Content gaps and support friction</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Improve factual information</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Competitor brand</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Alternative provider searches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Economics, rules and trademark review</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Use only where permitted</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0535D5EC-DE1B-41E5-BFC9-75DC195F7CC0}"/>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7121B98-B9A9-4ADB-9548-FC58F46DB7B3}"/>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0DF67455-1D27-49C1-888A-D3A39F45B595}"/>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deck does not recommend unrestricted competitor bidding.</a:t>
            </a:r>
          </a:p>
        </p:txBody>
      </p:sp>
      <p:sp>
        <p:nvSpPr>
          <p:cNvPr id="13" name="">
            <a:extLst xmlns:a="http://schemas.openxmlformats.org/drawingml/2006/main">
              <a:ext uri="{FF2B5EF4-FFF2-40B4-BE49-F238E27FC236}">
                <a16:creationId xmlns:a16="http://schemas.microsoft.com/office/drawing/2014/main" id="{A963A7F6-6D74-45B1-9013-26604FB945D1}"/>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Build a query-level profit view from actual accounts rather than treating estimated search volume as revenue.</a:t>
            </a:r>
          </a:p>
        </p:txBody>
      </p:sp>
    </p:spTree>
    <p:extLst>
      <p:ext uri="{BB962C8B-B14F-4D97-AF65-F5344CB8AC3E}">
        <p14:creationId xmlns:p14="http://schemas.microsoft.com/office/powerpoint/2010/main" val="58014013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DB73726-2E22-4A84-A0A2-4CF234CA9B10}"/>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065256-AA8F-44B1-86FC-193BBC667C54}"/>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5D12E572-9381-49C6-AC35-B72ECB9EBFF8}"/>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COMPETITIVE SEARCH</a:t>
            </a:r>
          </a:p>
        </p:txBody>
      </p:sp>
      <p:sp>
        <p:nvSpPr>
          <p:cNvPr id="4" name="">
            <a:extLst xmlns:a="http://schemas.openxmlformats.org/drawingml/2006/main">
              <a:ext uri="{FF2B5EF4-FFF2-40B4-BE49-F238E27FC236}">
                <a16:creationId xmlns:a16="http://schemas.microsoft.com/office/drawing/2014/main" id="{EDECCFFD-32A0-444F-B04E-A512A02DC432}"/>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Rank keyword opportunities by economics and evidence</a:t>
            </a:r>
          </a:p>
        </p:txBody>
      </p:sp>
      <p:sp>
        <p:nvSpPr>
          <p:cNvPr id="5" name="">
            <a:extLst xmlns:a="http://schemas.openxmlformats.org/drawingml/2006/main">
              <a:ext uri="{FF2B5EF4-FFF2-40B4-BE49-F238E27FC236}">
                <a16:creationId xmlns:a16="http://schemas.microsoft.com/office/drawing/2014/main" id="{00C0524C-3CD0-4CF3-AC54-A6B697A4BD0D}"/>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B3EFDC3-31CF-4F55-B50B-D68FD24DC952}"/>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33270C34-C9F9-4874-A4B7-29E5002DE19F}"/>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D63B443D-5114-4580-A7AC-3E8A76B8A996}"/>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30</a:t>
            </a:r>
          </a:p>
        </p:txBody>
      </p:sp>
      <p:graphicFrame>
        <p:nvGraphicFramePr>
          <p:cNvPr id="9" name="">
            <a:extLst xmlns:a="http://schemas.openxmlformats.org/drawingml/2006/main">
              <a:ext uri="{FF2B5EF4-FFF2-40B4-BE49-F238E27FC236}">
                <a16:creationId xmlns:a16="http://schemas.microsoft.com/office/drawing/2014/main" id="{F0AA1F71-CC8D-468A-8D32-CD6A7D89E0FF}"/>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000250"/>
                <a:gridCol w="2000250"/>
                <a:gridCol w="2000250"/>
                <a:gridCol w="2000250"/>
              </a:tblGrid>
              <a:tr h="809625">
                <a:tc>
                  <a:txBody>
                    <a:bodyPr/>
                    <a:lstStyle/>
                    <a:p>
                      <a:r>
                        <a:rPr sz="1500" b="1">
                          <a:solidFill>
                            <a:srgbClr val="FFFFFF"/>
                          </a:solidFill>
                          <a:latin typeface="Aptos"/>
                          <a:ea typeface="Aptos"/>
                          <a:cs typeface="Aptos"/>
                        </a:rPr>
                        <a:t>Cluster</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Monthly searches*</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CPC*</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FTD rate*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Priority</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500" b="1">
                          <a:solidFill>
                            <a:srgbClr val="14283A"/>
                          </a:solidFill>
                          <a:latin typeface="Aptos"/>
                          <a:ea typeface="Aptos"/>
                          <a:cs typeface="Aptos"/>
                        </a:rPr>
                        <a:t>Category comparison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45,000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$4.80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2.4%</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Pilot</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500" b="1">
                          <a:solidFill>
                            <a:srgbClr val="14283A"/>
                          </a:solidFill>
                          <a:latin typeface="Aptos"/>
                          <a:ea typeface="Aptos"/>
                          <a:cs typeface="Aptos"/>
                        </a:rPr>
                        <a:t>Payment information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18,000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$2.10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1.8%</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Content first</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500" b="1">
                          <a:solidFill>
                            <a:srgbClr val="14283A"/>
                          </a:solidFill>
                          <a:latin typeface="Aptos"/>
                          <a:ea typeface="Aptos"/>
                          <a:cs typeface="Aptos"/>
                        </a:rPr>
                        <a:t>Event information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120,000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$1.60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0.5%</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Seasonal test</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500" b="1">
                          <a:solidFill>
                            <a:srgbClr val="14283A"/>
                          </a:solidFill>
                          <a:latin typeface="Aptos"/>
                          <a:ea typeface="Aptos"/>
                          <a:cs typeface="Aptos"/>
                        </a:rPr>
                        <a:t>Brand navigation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70,000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$0.90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5.0%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Incrementality test</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500" b="1">
                          <a:solidFill>
                            <a:srgbClr val="14283A"/>
                          </a:solidFill>
                          <a:latin typeface="Aptos"/>
                          <a:ea typeface="Aptos"/>
                          <a:cs typeface="Aptos"/>
                        </a:rPr>
                        <a:t>General entertainment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200,000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$0.70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0.1%</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Deprioritise</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43DA9690-F0AD-4101-AB57-24F918911BD6}"/>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6DDEF59-E625-4032-95F1-154AEA27C094}"/>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150AF7B0-6D33-4455-ADCD-A47050DA2B84}"/>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*Synthetic inputs. FTD rate uses paid clicks as denominator.</a:t>
            </a:r>
          </a:p>
        </p:txBody>
      </p:sp>
      <p:sp>
        <p:nvSpPr>
          <p:cNvPr id="13" name="">
            <a:extLst xmlns:a="http://schemas.openxmlformats.org/drawingml/2006/main">
              <a:ext uri="{FF2B5EF4-FFF2-40B4-BE49-F238E27FC236}">
                <a16:creationId xmlns:a16="http://schemas.microsoft.com/office/drawing/2014/main" id="{C07A1BEF-A6C0-475F-8D4C-D157A7CE774E}"/>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High search volume can conceal poor qualification. Validate economics at cohort level.</a:t>
            </a:r>
          </a:p>
        </p:txBody>
      </p:sp>
    </p:spTree>
    <p:extLst>
      <p:ext uri="{BB962C8B-B14F-4D97-AF65-F5344CB8AC3E}">
        <p14:creationId xmlns:p14="http://schemas.microsoft.com/office/powerpoint/2010/main" val="151093454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C7E01BD-BA37-4CCF-9BDC-747C27E6D441}"/>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449597-79FF-46B2-9EF9-08CE62728464}"/>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43335E39-C8F1-468A-82AF-4DEA980AC1BA}"/>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COMPETITIVE SEARCH</a:t>
            </a:r>
          </a:p>
        </p:txBody>
      </p:sp>
      <p:sp>
        <p:nvSpPr>
          <p:cNvPr id="4" name="">
            <a:extLst xmlns:a="http://schemas.openxmlformats.org/drawingml/2006/main">
              <a:ext uri="{FF2B5EF4-FFF2-40B4-BE49-F238E27FC236}">
                <a16:creationId xmlns:a16="http://schemas.microsoft.com/office/drawing/2014/main" id="{19042BF3-8BF4-45EF-A507-5B8BC753FB86}"/>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Track search interest consistently across the peer set</a:t>
            </a:r>
          </a:p>
        </p:txBody>
      </p:sp>
      <p:sp>
        <p:nvSpPr>
          <p:cNvPr id="5" name="">
            <a:extLst xmlns:a="http://schemas.openxmlformats.org/drawingml/2006/main">
              <a:ext uri="{FF2B5EF4-FFF2-40B4-BE49-F238E27FC236}">
                <a16:creationId xmlns:a16="http://schemas.microsoft.com/office/drawing/2014/main" id="{608B8D1C-5AB0-4FCB-ACFB-ABA27EB2B150}"/>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9F6AF04-5AD8-4FB8-AE53-AF45F4CF40A4}"/>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819461E5-9B84-4CB1-A619-03E4A33FFCDB}"/>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DC8AC164-E559-4941-A0E1-893921B03FEE}"/>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31</a:t>
            </a:r>
          </a:p>
        </p:txBody>
      </p:sp>
      <p:graphicFrame>
        <p:nvGraphicFramePr>
          <p:cNvPr id="9" name="Chart">
            <a:extLst xmlns:a="http://schemas.openxmlformats.org/drawingml/2006/main">
              <a:ext uri="{FF2B5EF4-FFF2-40B4-BE49-F238E27FC236}">
                <a16:creationId xmlns:a16="http://schemas.microsoft.com/office/drawing/2014/main" id="{9B05C6ED-8499-46AA-B305-15E9A9A80CC1}"/>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19adc56c178c42e7"/>
          </a:graphicData>
        </a:graphic>
      </p:graphicFrame>
      <p:sp>
        <p:nvSpPr>
          <p:cNvPr id="10" name="">
            <a:extLst xmlns:a="http://schemas.openxmlformats.org/drawingml/2006/main">
              <a:ext uri="{FF2B5EF4-FFF2-40B4-BE49-F238E27FC236}">
                <a16:creationId xmlns:a16="http://schemas.microsoft.com/office/drawing/2014/main" id="{409257C0-6742-4176-97A1-58459239C329}"/>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F2B6A66-C6B1-4505-A911-ED3F9B8B6B7E}"/>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55695A73-DBCE-4BED-8BC3-2830FB1BF274}"/>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Use the same query set, geography, period and extraction method.</a:t>
            </a:r>
          </a:p>
        </p:txBody>
      </p:sp>
      <p:sp>
        <p:nvSpPr>
          <p:cNvPr id="13" name="">
            <a:extLst xmlns:a="http://schemas.openxmlformats.org/drawingml/2006/main">
              <a:ext uri="{FF2B5EF4-FFF2-40B4-BE49-F238E27FC236}">
                <a16:creationId xmlns:a16="http://schemas.microsoft.com/office/drawing/2014/main" id="{9CDAFB15-D525-4D18-8007-07CF7EBE99A6}"/>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An indexed series shows relative interest, not absolute search volume or revenue.</a:t>
            </a:r>
          </a:p>
        </p:txBody>
      </p:sp>
    </p:spTree>
    <p:extLst>
      <p:ext uri="{BB962C8B-B14F-4D97-AF65-F5344CB8AC3E}">
        <p14:creationId xmlns:p14="http://schemas.microsoft.com/office/powerpoint/2010/main" val="51687367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56DB912-4A14-4426-96EE-E16FE826E546}"/>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0E6937-CA8D-4DF2-8F81-ACC12E2F5E6B}"/>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7777E705-6923-4775-A771-C5969E9B3592}"/>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SEO DUE DILIGENCE</a:t>
            </a:r>
          </a:p>
        </p:txBody>
      </p:sp>
      <p:sp>
        <p:nvSpPr>
          <p:cNvPr id="4" name="">
            <a:extLst xmlns:a="http://schemas.openxmlformats.org/drawingml/2006/main">
              <a:ext uri="{FF2B5EF4-FFF2-40B4-BE49-F238E27FC236}">
                <a16:creationId xmlns:a16="http://schemas.microsoft.com/office/drawing/2014/main" id="{EF65D7D7-8164-4B8E-A1A4-A3B7FFBD4324}"/>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Find where organic visibility fails to reach useful pages</a:t>
            </a:r>
          </a:p>
        </p:txBody>
      </p:sp>
      <p:sp>
        <p:nvSpPr>
          <p:cNvPr id="5" name="">
            <a:extLst xmlns:a="http://schemas.openxmlformats.org/drawingml/2006/main">
              <a:ext uri="{FF2B5EF4-FFF2-40B4-BE49-F238E27FC236}">
                <a16:creationId xmlns:a16="http://schemas.microsoft.com/office/drawing/2014/main" id="{2B06294E-25E4-4F75-BBD6-9387ABE8BFD6}"/>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F3E68D8-77EA-46CE-815E-259D4F7B53E9}"/>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4D4323D3-F67C-44D9-8E2B-79A95C9206E3}"/>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13B551B7-611E-4879-BAAA-6F21FDF91AAD}"/>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32</a:t>
            </a:r>
          </a:p>
        </p:txBody>
      </p:sp>
      <p:graphicFrame>
        <p:nvGraphicFramePr>
          <p:cNvPr id="9" name="">
            <a:extLst xmlns:a="http://schemas.openxmlformats.org/drawingml/2006/main">
              <a:ext uri="{FF2B5EF4-FFF2-40B4-BE49-F238E27FC236}">
                <a16:creationId xmlns:a16="http://schemas.microsoft.com/office/drawing/2014/main" id="{6934D2EA-74DC-4EB5-99A5-EAE885809C9D}"/>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667000"/>
                <a:gridCol w="2667000"/>
                <a:gridCol w="2667000"/>
              </a:tblGrid>
              <a:tr h="693964">
                <a:tc>
                  <a:txBody>
                    <a:bodyPr/>
                    <a:lstStyle/>
                    <a:p>
                      <a:r>
                        <a:rPr sz="1650" b="1">
                          <a:solidFill>
                            <a:srgbClr val="FFFFFF"/>
                          </a:solidFill>
                          <a:latin typeface="Aptos"/>
                          <a:ea typeface="Aptos"/>
                          <a:cs typeface="Aptos"/>
                        </a:rPr>
                        <a:t>Metric</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Nova</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Peer A</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Review action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93964">
                <a:tc>
                  <a:txBody>
                    <a:bodyPr/>
                    <a:lstStyle/>
                    <a:p>
                      <a:r>
                        <a:rPr sz="1650" b="1">
                          <a:solidFill>
                            <a:srgbClr val="14283A"/>
                          </a:solidFill>
                          <a:latin typeface="Aptos"/>
                          <a:ea typeface="Aptos"/>
                          <a:cs typeface="Aptos"/>
                        </a:rPr>
                        <a:t>Ranking keywords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10,300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14,450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Separate branded and non-branded terms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Top-3 keyword share*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12%</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20%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Prioritise high-intent gaps</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Top-10 keyword share*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31%</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46%</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Improve near-page-one content</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Indexed utility pages*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420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610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Inspect indexation and duplication</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Pages with missing titles*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38</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12</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Repair priority templates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Broken internal links*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74</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21</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Fix paths to important pages</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42538BB1-925E-4B41-BE6A-954AF3A741F6}"/>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8CC08DB-FDB1-4370-AADB-F79E7C20E02C}"/>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6C473778-B44D-4D98-BAA1-BAEFAAB21117}"/>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*Additional synthetic diagnostics. Counts require a consistent crawl scope.</a:t>
            </a:r>
          </a:p>
        </p:txBody>
      </p:sp>
      <p:sp>
        <p:nvSpPr>
          <p:cNvPr id="13" name="">
            <a:extLst xmlns:a="http://schemas.openxmlformats.org/drawingml/2006/main">
              <a:ext uri="{FF2B5EF4-FFF2-40B4-BE49-F238E27FC236}">
                <a16:creationId xmlns:a16="http://schemas.microsoft.com/office/drawing/2014/main" id="{319ABD90-729A-4E39-9B72-510BA8D1BFA5}"/>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Use useful content and sound architecture. More pages alone are not an SEO strategy.</a:t>
            </a:r>
          </a:p>
        </p:txBody>
      </p:sp>
    </p:spTree>
    <p:extLst>
      <p:ext uri="{BB962C8B-B14F-4D97-AF65-F5344CB8AC3E}">
        <p14:creationId xmlns:p14="http://schemas.microsoft.com/office/powerpoint/2010/main" val="202327205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04668A8-B625-4926-87AE-83C2DE524DE5}"/>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C3D282-375F-44E2-91D0-54746CBD37C3}"/>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29251A6C-5CF8-4F1B-B7F3-58EB2DCA25E6}"/>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SEO DUE DILIGENCE</a:t>
            </a:r>
          </a:p>
        </p:txBody>
      </p:sp>
      <p:sp>
        <p:nvSpPr>
          <p:cNvPr id="4" name="">
            <a:extLst xmlns:a="http://schemas.openxmlformats.org/drawingml/2006/main">
              <a:ext uri="{FF2B5EF4-FFF2-40B4-BE49-F238E27FC236}">
                <a16:creationId xmlns:a16="http://schemas.microsoft.com/office/drawing/2014/main" id="{F6AA32D3-C6FC-4861-90A1-D719E5CA9876}"/>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Backlink composition is a starting point, not a quality verdict</a:t>
            </a:r>
          </a:p>
        </p:txBody>
      </p:sp>
      <p:sp>
        <p:nvSpPr>
          <p:cNvPr id="5" name="">
            <a:extLst xmlns:a="http://schemas.openxmlformats.org/drawingml/2006/main">
              <a:ext uri="{FF2B5EF4-FFF2-40B4-BE49-F238E27FC236}">
                <a16:creationId xmlns:a16="http://schemas.microsoft.com/office/drawing/2014/main" id="{1E66E5C1-566D-45FA-86AC-134020FE6FF2}"/>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4179362-7274-4F63-B72B-7980FDE27595}"/>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A51E3F58-5F74-41F4-AA80-19A73B7BDE23}"/>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7BEC51ED-36CB-4DAC-B9FB-CDE3FCF663CB}"/>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33</a:t>
            </a:r>
          </a:p>
        </p:txBody>
      </p:sp>
      <p:graphicFrame>
        <p:nvGraphicFramePr>
          <p:cNvPr id="9" name="Chart">
            <a:extLst xmlns:a="http://schemas.openxmlformats.org/drawingml/2006/main">
              <a:ext uri="{FF2B5EF4-FFF2-40B4-BE49-F238E27FC236}">
                <a16:creationId xmlns:a16="http://schemas.microsoft.com/office/drawing/2014/main" id="{AC5D5530-3E80-4B24-B25E-3985BF7B22BC}"/>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5db8a819a183441a"/>
          </a:graphicData>
        </a:graphic>
      </p:graphicFrame>
      <p:sp>
        <p:nvSpPr>
          <p:cNvPr id="10" name="">
            <a:extLst xmlns:a="http://schemas.openxmlformats.org/drawingml/2006/main">
              <a:ext uri="{FF2B5EF4-FFF2-40B4-BE49-F238E27FC236}">
                <a16:creationId xmlns:a16="http://schemas.microsoft.com/office/drawing/2014/main" id="{983F626A-17BC-4D9D-A712-7909AB4BED99}"/>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86020A3-2AA6-4349-9B8D-A0B40F86CDFA}"/>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2AFA2D0E-5592-41AF-BBF6-6E0081BC38F1}"/>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Nova does not lead follow share in this example; it ties several peers.</a:t>
            </a:r>
          </a:p>
        </p:txBody>
      </p:sp>
      <p:sp>
        <p:nvSpPr>
          <p:cNvPr id="13" name="">
            <a:extLst xmlns:a="http://schemas.openxmlformats.org/drawingml/2006/main">
              <a:ext uri="{FF2B5EF4-FFF2-40B4-BE49-F238E27FC236}">
                <a16:creationId xmlns:a16="http://schemas.microsoft.com/office/drawing/2014/main" id="{E3FCFF99-D120-488A-9BAE-6E12AC2D6622}"/>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Assess referring-domain relevance, acquisition patterns and suspicious links before drawing quality conclusions.</a:t>
            </a:r>
          </a:p>
        </p:txBody>
      </p:sp>
    </p:spTree>
    <p:extLst>
      <p:ext uri="{BB962C8B-B14F-4D97-AF65-F5344CB8AC3E}">
        <p14:creationId xmlns:p14="http://schemas.microsoft.com/office/powerpoint/2010/main" val="192336516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0D7B73B-36FE-4BEC-9966-3A7024CCA0D0}"/>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D8A856-CF71-4DDD-8133-9011BA45CB1D}"/>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399D5D7E-BD21-49B0-B3EC-F8EA8C98A5BD}"/>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SEO DUE DILIGENCE</a:t>
            </a:r>
          </a:p>
        </p:txBody>
      </p:sp>
      <p:sp>
        <p:nvSpPr>
          <p:cNvPr id="4" name="">
            <a:extLst xmlns:a="http://schemas.openxmlformats.org/drawingml/2006/main">
              <a:ext uri="{FF2B5EF4-FFF2-40B4-BE49-F238E27FC236}">
                <a16:creationId xmlns:a16="http://schemas.microsoft.com/office/drawing/2014/main" id="{D4E2B91E-9C88-47BA-8C27-403BF7D93372}"/>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Audit the links that can change a diligence conclusion</a:t>
            </a:r>
          </a:p>
        </p:txBody>
      </p:sp>
      <p:sp>
        <p:nvSpPr>
          <p:cNvPr id="5" name="">
            <a:extLst xmlns:a="http://schemas.openxmlformats.org/drawingml/2006/main">
              <a:ext uri="{FF2B5EF4-FFF2-40B4-BE49-F238E27FC236}">
                <a16:creationId xmlns:a16="http://schemas.microsoft.com/office/drawing/2014/main" id="{91822C8E-C24A-49F9-9856-3EA4AB513070}"/>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A1DA80D-9739-435E-BB1C-053E4D258147}"/>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CAF13369-1847-4292-8EE0-B0B1BC576597}"/>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1547F355-52F7-4B2F-9400-32BE4A97D3B5}"/>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34</a:t>
            </a:r>
          </a:p>
        </p:txBody>
      </p:sp>
      <p:graphicFrame>
        <p:nvGraphicFramePr>
          <p:cNvPr id="9" name="">
            <a:extLst xmlns:a="http://schemas.openxmlformats.org/drawingml/2006/main">
              <a:ext uri="{FF2B5EF4-FFF2-40B4-BE49-F238E27FC236}">
                <a16:creationId xmlns:a16="http://schemas.microsoft.com/office/drawing/2014/main" id="{6A5AAAE6-B9EF-4988-9E95-6F410AF8C923}"/>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809625">
                <a:tc>
                  <a:txBody>
                    <a:bodyPr/>
                    <a:lstStyle/>
                    <a:p>
                      <a:r>
                        <a:rPr sz="1650" b="1">
                          <a:solidFill>
                            <a:srgbClr val="FFFFFF"/>
                          </a:solidFill>
                          <a:latin typeface="Aptos"/>
                          <a:ea typeface="Aptos"/>
                          <a:cs typeface="Aptos"/>
                        </a:rPr>
                        <a:t>Review</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Evidence required</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Decision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Referring-domain concentration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Top domains and share of links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Reduce dependence on a few sources</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Relevance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Editorial context and topic fit</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Prioritise credible relevant coverage</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New / lost domains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Consistent monthly export</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Investigate losses and unusual spikes</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Link attributes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Follow, nofollow, sponsored and UGC</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Interpret composition in context</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Destination quality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Broken pages, redirects, indexability</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Recover lost value where appropriate</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9F3D6ADB-BFDF-46DB-9DE6-351F9ABC0052}"/>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F54C204-0DAF-4562-90B0-D92B92B7AE99}"/>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2593C4ED-4A45-4E1F-98A5-B7FAC8BF94D2}"/>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Link ratios alone do not establish authority or a causal acquisition effect.</a:t>
            </a:r>
          </a:p>
        </p:txBody>
      </p:sp>
      <p:sp>
        <p:nvSpPr>
          <p:cNvPr id="13" name="">
            <a:extLst xmlns:a="http://schemas.openxmlformats.org/drawingml/2006/main">
              <a:ext uri="{FF2B5EF4-FFF2-40B4-BE49-F238E27FC236}">
                <a16:creationId xmlns:a16="http://schemas.microsoft.com/office/drawing/2014/main" id="{B0BC88E8-36A4-4785-81E0-691A7D16A565}"/>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Keep paid placements and editorial coverage distinguishable in reporting.</a:t>
            </a:r>
          </a:p>
        </p:txBody>
      </p:sp>
    </p:spTree>
    <p:extLst>
      <p:ext uri="{BB962C8B-B14F-4D97-AF65-F5344CB8AC3E}">
        <p14:creationId xmlns:p14="http://schemas.microsoft.com/office/powerpoint/2010/main" val="209448190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FAEC280-F807-427D-9DDE-420F284216B8}"/>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7D6773-D330-4C57-8343-01C9FF09120D}"/>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D14406B0-0F9F-4B85-B74A-BDE100767296}"/>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APP INTELLIGENCE</a:t>
            </a:r>
          </a:p>
        </p:txBody>
      </p:sp>
      <p:sp>
        <p:nvSpPr>
          <p:cNvPr id="4" name="">
            <a:extLst xmlns:a="http://schemas.openxmlformats.org/drawingml/2006/main">
              <a:ext uri="{FF2B5EF4-FFF2-40B4-BE49-F238E27FC236}">
                <a16:creationId xmlns:a16="http://schemas.microsoft.com/office/drawing/2014/main" id="{047BC558-853F-47C4-A858-A46161C9818B}"/>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Compare app momentum, then connect it to first-party economics</a:t>
            </a:r>
          </a:p>
        </p:txBody>
      </p:sp>
      <p:sp>
        <p:nvSpPr>
          <p:cNvPr id="5" name="">
            <a:extLst xmlns:a="http://schemas.openxmlformats.org/drawingml/2006/main">
              <a:ext uri="{FF2B5EF4-FFF2-40B4-BE49-F238E27FC236}">
                <a16:creationId xmlns:a16="http://schemas.microsoft.com/office/drawing/2014/main" id="{976D6F2C-B8B2-4D68-B913-16DC9AED9EC5}"/>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38A215A-A444-4523-BC4D-882976BD553B}"/>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4A869EE1-F1F0-4106-93DB-DC90B249111E}"/>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8E71D958-0C2F-44CB-BB1C-E88C7DA4AD79}"/>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35</a:t>
            </a:r>
          </a:p>
        </p:txBody>
      </p:sp>
      <p:graphicFrame>
        <p:nvGraphicFramePr>
          <p:cNvPr id="9" name="">
            <a:extLst xmlns:a="http://schemas.openxmlformats.org/drawingml/2006/main">
              <a:ext uri="{FF2B5EF4-FFF2-40B4-BE49-F238E27FC236}">
                <a16:creationId xmlns:a16="http://schemas.microsoft.com/office/drawing/2014/main" id="{DE3DCF68-17F3-4087-AC6B-0A05674B4CAE}"/>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000250"/>
                <a:gridCol w="2000250"/>
                <a:gridCol w="2000250"/>
                <a:gridCol w="2000250"/>
              </a:tblGrid>
              <a:tr h="809625">
                <a:tc>
                  <a:txBody>
                    <a:bodyPr/>
                    <a:lstStyle/>
                    <a:p>
                      <a:r>
                        <a:rPr sz="1500" b="1">
                          <a:solidFill>
                            <a:srgbClr val="FFFFFF"/>
                          </a:solidFill>
                          <a:latin typeface="Aptos"/>
                          <a:ea typeface="Aptos"/>
                          <a:cs typeface="Aptos"/>
                        </a:rPr>
                        <a:t>Metric / period</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Nova</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Peer A</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Peer B</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Interpretation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500" b="1">
                          <a:solidFill>
                            <a:srgbClr val="14283A"/>
                          </a:solidFill>
                          <a:latin typeface="Aptos"/>
                          <a:ea typeface="Aptos"/>
                          <a:cs typeface="Aptos"/>
                        </a:rPr>
                        <a:t>Estimated downloads / month</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180k</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260k</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210k</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Third-party-style acquisition signal</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500" b="1">
                          <a:solidFill>
                            <a:srgbClr val="14283A"/>
                          </a:solidFill>
                          <a:latin typeface="Aptos"/>
                          <a:ea typeface="Aptos"/>
                          <a:cs typeface="Aptos"/>
                        </a:rPr>
                        <a:t>Estimated active users / month</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520k</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760k</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610k</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Definition and coverage must match</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500" b="1">
                          <a:solidFill>
                            <a:srgbClr val="14283A"/>
                          </a:solidFill>
                          <a:latin typeface="Aptos"/>
                          <a:ea typeface="Aptos"/>
                          <a:cs typeface="Aptos"/>
                        </a:rPr>
                        <a:t>Store rating / 5</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4.1</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4.5</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4.2</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Read recent reviews by version</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500" b="1">
                          <a:solidFill>
                            <a:srgbClr val="14283A"/>
                          </a:solidFill>
                          <a:latin typeface="Aptos"/>
                          <a:ea typeface="Aptos"/>
                          <a:cs typeface="Aptos"/>
                        </a:rPr>
                        <a:t>First-party install → FTD</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8.0%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Unavailable</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Unavailable</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Do not invent competitor funnel data</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500" b="1">
                          <a:solidFill>
                            <a:srgbClr val="14283A"/>
                          </a:solidFill>
                          <a:latin typeface="Aptos"/>
                          <a:ea typeface="Aptos"/>
                          <a:cs typeface="Aptos"/>
                        </a:rPr>
                        <a:t>First-party 90-day contribution / FTD</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$96</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Unavailable</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Unavailable</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Use internal cohorts for value</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E2022BEE-63A8-49C6-972A-3435746D52BD}"/>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C27904E-D829-47E1-B3CE-CC69B39B9ED6}"/>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1BDD4B64-14CF-459B-BB77-179C176B281B}"/>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These are synthetic app examples, not Sensor Tower extracts.</a:t>
            </a:r>
          </a:p>
        </p:txBody>
      </p:sp>
      <p:sp>
        <p:nvSpPr>
          <p:cNvPr id="13" name="">
            <a:extLst xmlns:a="http://schemas.openxmlformats.org/drawingml/2006/main">
              <a:ext uri="{FF2B5EF4-FFF2-40B4-BE49-F238E27FC236}">
                <a16:creationId xmlns:a16="http://schemas.microsoft.com/office/drawing/2014/main" id="{57F252C0-22AB-4437-A3A4-38F751403E0C}"/>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App-store spending estimates are not sportsbook stakes, deposits or NGR.</a:t>
            </a:r>
          </a:p>
        </p:txBody>
      </p:sp>
    </p:spTree>
    <p:extLst>
      <p:ext uri="{BB962C8B-B14F-4D97-AF65-F5344CB8AC3E}">
        <p14:creationId xmlns:p14="http://schemas.microsoft.com/office/powerpoint/2010/main" val="103292247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A703518-B031-4D57-BF98-634E347046BD}"/>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D184B8-EFD0-4C6D-9866-68952C31B63C}"/>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7262A018-820D-4090-9F0E-AE9F7150A874}"/>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APP INTELLIGENCE</a:t>
            </a:r>
          </a:p>
        </p:txBody>
      </p:sp>
      <p:sp>
        <p:nvSpPr>
          <p:cNvPr id="4" name="">
            <a:extLst xmlns:a="http://schemas.openxmlformats.org/drawingml/2006/main">
              <a:ext uri="{FF2B5EF4-FFF2-40B4-BE49-F238E27FC236}">
                <a16:creationId xmlns:a16="http://schemas.microsoft.com/office/drawing/2014/main" id="{516357BF-7263-46B6-BDB6-02BD150288EA}"/>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An install spike is useful only if customer quality holds</a:t>
            </a:r>
          </a:p>
        </p:txBody>
      </p:sp>
      <p:sp>
        <p:nvSpPr>
          <p:cNvPr id="5" name="">
            <a:extLst xmlns:a="http://schemas.openxmlformats.org/drawingml/2006/main">
              <a:ext uri="{FF2B5EF4-FFF2-40B4-BE49-F238E27FC236}">
                <a16:creationId xmlns:a16="http://schemas.microsoft.com/office/drawing/2014/main" id="{3D842574-2032-437F-B8B2-184698AC049F}"/>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FBB9111-7DD7-4998-8FF1-038E3A9EC15E}"/>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811F74CD-F8DB-4915-828E-EF0FD11C5F25}"/>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18DCF9B4-CEDA-4014-9DD8-11AA521529DD}"/>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36</a:t>
            </a:r>
          </a:p>
        </p:txBody>
      </p:sp>
      <p:graphicFrame>
        <p:nvGraphicFramePr>
          <p:cNvPr id="9" name="Chart">
            <a:extLst xmlns:a="http://schemas.openxmlformats.org/drawingml/2006/main">
              <a:ext uri="{FF2B5EF4-FFF2-40B4-BE49-F238E27FC236}">
                <a16:creationId xmlns:a16="http://schemas.microsoft.com/office/drawing/2014/main" id="{EE7695E5-391D-4A3E-8B13-ECE37F561AC4}"/>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1f13e1545ea748e5"/>
          </a:graphicData>
        </a:graphic>
      </p:graphicFrame>
      <p:sp>
        <p:nvSpPr>
          <p:cNvPr id="10" name="">
            <a:extLst xmlns:a="http://schemas.openxmlformats.org/drawingml/2006/main">
              <a:ext uri="{FF2B5EF4-FFF2-40B4-BE49-F238E27FC236}">
                <a16:creationId xmlns:a16="http://schemas.microsoft.com/office/drawing/2014/main" id="{E1135FEE-B505-4A3F-83D4-18F3E2C754D5}"/>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F633024-6428-438E-A80E-0FC0AB17418F}"/>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89DF79BE-6FAB-4A2F-8737-2D12DC68EF1A}"/>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Inspect release, campaign and store-feature dates around the July spike.</a:t>
            </a:r>
          </a:p>
        </p:txBody>
      </p:sp>
      <p:sp>
        <p:nvSpPr>
          <p:cNvPr id="13" name="">
            <a:extLst xmlns:a="http://schemas.openxmlformats.org/drawingml/2006/main">
              <a:ext uri="{FF2B5EF4-FFF2-40B4-BE49-F238E27FC236}">
                <a16:creationId xmlns:a16="http://schemas.microsoft.com/office/drawing/2014/main" id="{6FFF8B9A-3B8D-48B1-837E-424F375D33E0}"/>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Then follow the same cohorts through verification, deposits and contribution.</a:t>
            </a:r>
          </a:p>
        </p:txBody>
      </p:sp>
    </p:spTree>
    <p:extLst>
      <p:ext uri="{BB962C8B-B14F-4D97-AF65-F5344CB8AC3E}">
        <p14:creationId xmlns:p14="http://schemas.microsoft.com/office/powerpoint/2010/main" val="139615440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E32AACD-8BB4-4E83-A1E4-147158CE79C3}"/>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546E88-32AA-4ECB-8071-E0AEB48D2602}"/>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40AFE607-22A9-4A6F-818E-684FE0D35FF4}"/>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APP INTELLIGENCE</a:t>
            </a:r>
          </a:p>
        </p:txBody>
      </p:sp>
      <p:sp>
        <p:nvSpPr>
          <p:cNvPr id="4" name="">
            <a:extLst xmlns:a="http://schemas.openxmlformats.org/drawingml/2006/main">
              <a:ext uri="{FF2B5EF4-FFF2-40B4-BE49-F238E27FC236}">
                <a16:creationId xmlns:a16="http://schemas.microsoft.com/office/drawing/2014/main" id="{7D1EE5A3-6167-4189-9C8E-20BF71583E3B}"/>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Turn store and product evidence into a test backlog</a:t>
            </a:r>
          </a:p>
        </p:txBody>
      </p:sp>
      <p:sp>
        <p:nvSpPr>
          <p:cNvPr id="5" name="">
            <a:extLst xmlns:a="http://schemas.openxmlformats.org/drawingml/2006/main">
              <a:ext uri="{FF2B5EF4-FFF2-40B4-BE49-F238E27FC236}">
                <a16:creationId xmlns:a16="http://schemas.microsoft.com/office/drawing/2014/main" id="{D18250CA-D9C8-49F7-ADF2-20C68D91191E}"/>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7320EF9-D844-4956-A238-78480ABA80D9}"/>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0594532C-5F57-4C8D-9D3B-39FC09A87564}"/>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989CC26E-8C2D-4BFE-9327-17C92EC187EB}"/>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37</a:t>
            </a:r>
          </a:p>
        </p:txBody>
      </p:sp>
      <p:graphicFrame>
        <p:nvGraphicFramePr>
          <p:cNvPr id="9" name="">
            <a:extLst xmlns:a="http://schemas.openxmlformats.org/drawingml/2006/main">
              <a:ext uri="{FF2B5EF4-FFF2-40B4-BE49-F238E27FC236}">
                <a16:creationId xmlns:a16="http://schemas.microsoft.com/office/drawing/2014/main" id="{4AFD632A-F623-4112-A409-F2D4D7FE8473}"/>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809625">
                <a:tc>
                  <a:txBody>
                    <a:bodyPr/>
                    <a:lstStyle/>
                    <a:p>
                      <a:r>
                        <a:rPr sz="1650" b="1">
                          <a:solidFill>
                            <a:srgbClr val="FFFFFF"/>
                          </a:solidFill>
                          <a:latin typeface="Aptos"/>
                          <a:ea typeface="Aptos"/>
                          <a:cs typeface="Aptos"/>
                        </a:rPr>
                        <a:t>Signal</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Possible explanation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Validation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High installs, low registration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Weak intent or first-session friction</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Segment sources and inspect onboarding</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Rating declines after release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Crash, payment or navigation issue</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Compare review themes with telemetry</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Store views, low install rate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Weak proposition or unclear screenshots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Controlled store-listing test</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Strong installs, poor 90-day value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Low-quality acquisition or bonus dependence</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Compare mature cohorts</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Peer release gains visibility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Product or distribution change</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Track timing; avoid assuming causality</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AE88EE0-16B3-4C64-A6E4-BF7B27860941}"/>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6C43B16-F677-4F2E-B5E1-32331E585BE1}"/>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01B046C8-0DEB-4262-8083-6907FB480CEA}"/>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Mobile-game monetisation and gambling economics need separate interpretation.</a:t>
            </a:r>
          </a:p>
        </p:txBody>
      </p:sp>
      <p:sp>
        <p:nvSpPr>
          <p:cNvPr id="13" name="">
            <a:extLst xmlns:a="http://schemas.openxmlformats.org/drawingml/2006/main">
              <a:ext uri="{FF2B5EF4-FFF2-40B4-BE49-F238E27FC236}">
                <a16:creationId xmlns:a16="http://schemas.microsoft.com/office/drawing/2014/main" id="{C3400D70-BA1E-44BE-A554-206FEFD09E6B}"/>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Use app intelligence to generate hypotheses, then validate with internal events.</a:t>
            </a:r>
          </a:p>
        </p:txBody>
      </p:sp>
    </p:spTree>
    <p:extLst>
      <p:ext uri="{BB962C8B-B14F-4D97-AF65-F5344CB8AC3E}">
        <p14:creationId xmlns:p14="http://schemas.microsoft.com/office/powerpoint/2010/main" val="99235268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1ED0918-3362-4189-A4F0-B071D3E545B7}"/>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799695-42E8-487C-8959-F334D8DB2B85}"/>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48AB165F-AA58-433C-BBDC-26EBBB9E5219}"/>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SOCIAL AND VIDEO</a:t>
            </a:r>
          </a:p>
        </p:txBody>
      </p:sp>
      <p:sp>
        <p:nvSpPr>
          <p:cNvPr id="4" name="">
            <a:extLst xmlns:a="http://schemas.openxmlformats.org/drawingml/2006/main">
              <a:ext uri="{FF2B5EF4-FFF2-40B4-BE49-F238E27FC236}">
                <a16:creationId xmlns:a16="http://schemas.microsoft.com/office/drawing/2014/main" id="{872E28B1-56E9-49AF-86C0-6DA35D7A430C}"/>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Audience size and engagement can tell different stories</a:t>
            </a:r>
          </a:p>
        </p:txBody>
      </p:sp>
      <p:sp>
        <p:nvSpPr>
          <p:cNvPr id="5" name="">
            <a:extLst xmlns:a="http://schemas.openxmlformats.org/drawingml/2006/main">
              <a:ext uri="{FF2B5EF4-FFF2-40B4-BE49-F238E27FC236}">
                <a16:creationId xmlns:a16="http://schemas.microsoft.com/office/drawing/2014/main" id="{13AC20B5-6581-4D5A-A2EB-3AB4A6FB5194}"/>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D8F44B5-331A-4F75-A6B0-A732D2920082}"/>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00E964AD-A1BD-4744-8387-5F383CAC07C0}"/>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5DE16319-5DE5-46B5-BE89-681187B3F0BF}"/>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38</a:t>
            </a:r>
          </a:p>
        </p:txBody>
      </p:sp>
      <p:graphicFrame>
        <p:nvGraphicFramePr>
          <p:cNvPr id="9" name="Chart">
            <a:extLst xmlns:a="http://schemas.openxmlformats.org/drawingml/2006/main">
              <a:ext uri="{FF2B5EF4-FFF2-40B4-BE49-F238E27FC236}">
                <a16:creationId xmlns:a16="http://schemas.microsoft.com/office/drawing/2014/main" id="{DD1848F0-5090-48F6-BB20-FC755CD1471C}"/>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f1699c93c5424e62"/>
          </a:graphicData>
        </a:graphic>
      </p:graphicFrame>
      <p:sp>
        <p:nvSpPr>
          <p:cNvPr id="10" name="">
            <a:extLst xmlns:a="http://schemas.openxmlformats.org/drawingml/2006/main">
              <a:ext uri="{FF2B5EF4-FFF2-40B4-BE49-F238E27FC236}">
                <a16:creationId xmlns:a16="http://schemas.microsoft.com/office/drawing/2014/main" id="{5DFB3C34-34D1-4C9E-B81A-BD7B86BEFC53}"/>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BB6CF8C-BAB2-4F07-987D-C395CC35F907}"/>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41975201-B01D-482B-ADB8-D65CAA3C4399}"/>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Specify the denominator and platform definition before comparing engagement rates.</a:t>
            </a:r>
          </a:p>
        </p:txBody>
      </p:sp>
      <p:sp>
        <p:nvSpPr>
          <p:cNvPr id="13" name="">
            <a:extLst xmlns:a="http://schemas.openxmlformats.org/drawingml/2006/main">
              <a:ext uri="{FF2B5EF4-FFF2-40B4-BE49-F238E27FC236}">
                <a16:creationId xmlns:a16="http://schemas.microsoft.com/office/drawing/2014/main" id="{3F92875C-1097-4C5A-B1C0-0F67C7B12913}"/>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Reach does not establish incremental acquisition. Use approved adult-oriented placements and measured tests.</a:t>
            </a:r>
          </a:p>
        </p:txBody>
      </p:sp>
    </p:spTree>
    <p:extLst>
      <p:ext uri="{BB962C8B-B14F-4D97-AF65-F5344CB8AC3E}">
        <p14:creationId xmlns:p14="http://schemas.microsoft.com/office/powerpoint/2010/main" val="156754826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1C1A911-CDBA-412B-8672-E9D27F06B0FC}"/>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D17BC7-9556-429B-B7A2-1D34E520BF9D}"/>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EB8C752B-F1EB-4DF8-8D25-95DFF2AC5F81}"/>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SOCIAL AND VIDEO</a:t>
            </a:r>
          </a:p>
        </p:txBody>
      </p:sp>
      <p:sp>
        <p:nvSpPr>
          <p:cNvPr id="4" name="">
            <a:extLst xmlns:a="http://schemas.openxmlformats.org/drawingml/2006/main">
              <a:ext uri="{FF2B5EF4-FFF2-40B4-BE49-F238E27FC236}">
                <a16:creationId xmlns:a16="http://schemas.microsoft.com/office/drawing/2014/main" id="{10B0444E-CC68-4160-9082-AB898CAABDEA}"/>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Assess creative and creators beyond follower counts</a:t>
            </a:r>
          </a:p>
        </p:txBody>
      </p:sp>
      <p:sp>
        <p:nvSpPr>
          <p:cNvPr id="5" name="">
            <a:extLst xmlns:a="http://schemas.openxmlformats.org/drawingml/2006/main">
              <a:ext uri="{FF2B5EF4-FFF2-40B4-BE49-F238E27FC236}">
                <a16:creationId xmlns:a16="http://schemas.microsoft.com/office/drawing/2014/main" id="{D0636032-FE2B-4B61-B7C8-B61AC3C065FC}"/>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597CFA5-F81B-40BC-A2A4-D93747EDF013}"/>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6CA12DB3-3206-4EFD-9C43-388A54DECB97}"/>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D1C64AE1-C649-43FA-BD00-854D07BD0F71}"/>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39</a:t>
            </a:r>
          </a:p>
        </p:txBody>
      </p:sp>
      <p:graphicFrame>
        <p:nvGraphicFramePr>
          <p:cNvPr id="9" name="">
            <a:extLst xmlns:a="http://schemas.openxmlformats.org/drawingml/2006/main">
              <a:ext uri="{FF2B5EF4-FFF2-40B4-BE49-F238E27FC236}">
                <a16:creationId xmlns:a16="http://schemas.microsoft.com/office/drawing/2014/main" id="{86F273E2-53EC-4548-B1C5-25CD2EB02F53}"/>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809625">
                <a:tc>
                  <a:txBody>
                    <a:bodyPr/>
                    <a:lstStyle/>
                    <a:p>
                      <a:r>
                        <a:rPr sz="1650" b="1">
                          <a:solidFill>
                            <a:srgbClr val="FFFFFF"/>
                          </a:solidFill>
                          <a:latin typeface="Aptos"/>
                          <a:ea typeface="Aptos"/>
                          <a:cs typeface="Aptos"/>
                        </a:rPr>
                        <a:t>Dimension</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Evidence to collect</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Business use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Audience fit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Eligible geography, adult composition, authenticity</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Avoid unqualified reach</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Content response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Views, completion, engagement by format</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Improve creative selection</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Commercial delivery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Deliverables, CPM, usage rights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Compare effective costs</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Incremental outcome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Test design and matched timing</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Estimate business effect</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Brand and operating rules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Approved claims and placement suitability</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Determine whether a test can run</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209FF4D5-C8DB-4831-B77A-513E03D3075D}"/>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FCE084E-A084-4F68-AB60-714D47FBF51D}"/>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4D764FE1-CFBC-494B-AF78-96E8FEB84D83}"/>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Granular campaign, format and audience work is an optional extension, not a verified feature of the recorded engine.</a:t>
            </a:r>
          </a:p>
        </p:txBody>
      </p:sp>
      <p:sp>
        <p:nvSpPr>
          <p:cNvPr id="13" name="">
            <a:extLst xmlns:a="http://schemas.openxmlformats.org/drawingml/2006/main">
              <a:ext uri="{FF2B5EF4-FFF2-40B4-BE49-F238E27FC236}">
                <a16:creationId xmlns:a16="http://schemas.microsoft.com/office/drawing/2014/main" id="{D977991D-524C-44FF-9089-FF0DB60CC70F}"/>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Do not treat creator discount-code attribution as complete incrementality.</a:t>
            </a:r>
          </a:p>
        </p:txBody>
      </p:sp>
    </p:spTree>
    <p:extLst>
      <p:ext uri="{BB962C8B-B14F-4D97-AF65-F5344CB8AC3E}">
        <p14:creationId xmlns:p14="http://schemas.microsoft.com/office/powerpoint/2010/main" val="147317053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3F65B8A-F52B-4BA6-80F7-CFAFD6FA9182}"/>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3C834D-AF3A-45BA-B942-FE5870A5B2FA}"/>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268F103B-FFBD-423A-B6F7-BC049F5820C2}"/>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WEBSITE EXPERIENCE</a:t>
            </a:r>
          </a:p>
        </p:txBody>
      </p:sp>
      <p:sp>
        <p:nvSpPr>
          <p:cNvPr id="4" name="">
            <a:extLst xmlns:a="http://schemas.openxmlformats.org/drawingml/2006/main">
              <a:ext uri="{FF2B5EF4-FFF2-40B4-BE49-F238E27FC236}">
                <a16:creationId xmlns:a16="http://schemas.microsoft.com/office/drawing/2014/main" id="{DC5409F9-BC0B-4F27-96CC-1B345879CD93}"/>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Mobile experience creates a testable conversion hypothesis</a:t>
            </a:r>
          </a:p>
        </p:txBody>
      </p:sp>
      <p:sp>
        <p:nvSpPr>
          <p:cNvPr id="5" name="">
            <a:extLst xmlns:a="http://schemas.openxmlformats.org/drawingml/2006/main">
              <a:ext uri="{FF2B5EF4-FFF2-40B4-BE49-F238E27FC236}">
                <a16:creationId xmlns:a16="http://schemas.microsoft.com/office/drawing/2014/main" id="{19FC7BF9-A330-4BC8-AF88-24C22F1B98BF}"/>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3A95885-85C6-48C3-857D-33B85EECCAE8}"/>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BCA4BDD7-0DBE-46EC-BFF8-1123929BB168}"/>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88FA7157-6963-435F-8A12-B49089F21040}"/>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40</a:t>
            </a:r>
          </a:p>
        </p:txBody>
      </p:sp>
      <p:graphicFrame>
        <p:nvGraphicFramePr>
          <p:cNvPr id="9" name="">
            <a:extLst xmlns:a="http://schemas.openxmlformats.org/drawingml/2006/main">
              <a:ext uri="{FF2B5EF4-FFF2-40B4-BE49-F238E27FC236}">
                <a16:creationId xmlns:a16="http://schemas.microsoft.com/office/drawing/2014/main" id="{F9E68CA6-77CE-4681-83C8-A1B216DAA3FC}"/>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667000"/>
                <a:gridCol w="2667000"/>
                <a:gridCol w="2667000"/>
              </a:tblGrid>
              <a:tr h="809625">
                <a:tc>
                  <a:txBody>
                    <a:bodyPr/>
                    <a:lstStyle/>
                    <a:p>
                      <a:r>
                        <a:rPr sz="1650" b="1">
                          <a:solidFill>
                            <a:srgbClr val="FFFFFF"/>
                          </a:solidFill>
                          <a:latin typeface="Aptos"/>
                          <a:ea typeface="Aptos"/>
                          <a:cs typeface="Aptos"/>
                        </a:rPr>
                        <a:t>Metric</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Nova mobile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Peer A mobile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Reference for good</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LCP, 75th percentile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3.8s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2.2s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≤2.5s</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INP, 75th percentile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310ms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180ms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≤200ms</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CLS, 75th percentile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0.12</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0.07</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≤0.10</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Lab Speed Index</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6.2s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3.1s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Separate diagnostic</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Lab performance score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45 / 100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88 / 100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Separate diagnostic</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113352AB-8A81-4455-8A3F-457387EF3629}"/>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1D10685-74D0-4A45-80CC-FCC96156436E}"/>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91887625-4440-4DBA-B2F2-D384AFEF2CBC}"/>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Core Web Vitals are LCP, INP and CLS. Speed Index is a separate lab metric.</a:t>
            </a:r>
          </a:p>
        </p:txBody>
      </p:sp>
      <p:sp>
        <p:nvSpPr>
          <p:cNvPr id="13" name="">
            <a:extLst xmlns:a="http://schemas.openxmlformats.org/drawingml/2006/main">
              <a:ext uri="{FF2B5EF4-FFF2-40B4-BE49-F238E27FC236}">
                <a16:creationId xmlns:a16="http://schemas.microsoft.com/office/drawing/2014/main" id="{5906BFBA-B902-4AD2-8159-0BD5833EB12E}"/>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benchmark is synthetic. Faster pages may help conversion, but quantify the effect in a controlled test.</a:t>
            </a:r>
          </a:p>
        </p:txBody>
      </p:sp>
      <p:sp>
        <p:nvSpPr>
          <p:cNvPr id="14" name="">
            <a:extLst xmlns:a="http://schemas.openxmlformats.org/drawingml/2006/main">
              <a:ext uri="{FF2B5EF4-FFF2-40B4-BE49-F238E27FC236}">
                <a16:creationId xmlns:a16="http://schemas.microsoft.com/office/drawing/2014/main" id="{A7865B0C-7A7B-4701-BF4E-4505015D34C3}"/>
              </a:ext>
            </a:extLst>
          </p:cNvPr>
          <p:cNvSpPr>
            <a:spLocks xmlns:a="http://schemas.openxmlformats.org/drawingml/2006/main" noGrp="1"/>
          </p:cNvSpPr>
          <p:nvPr/>
        </p:nvSpPr>
        <p:spPr>
          <a:xfrm xmlns:a="http://schemas.openxmlformats.org/drawingml/2006/main">
            <a:off x="476250" y="74009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Definitions: web.dev/articles/vitals. Illustrative operator values.</a:t>
            </a:r>
          </a:p>
        </p:txBody>
      </p:sp>
    </p:spTree>
    <p:extLst>
      <p:ext uri="{BB962C8B-B14F-4D97-AF65-F5344CB8AC3E}">
        <p14:creationId xmlns:p14="http://schemas.microsoft.com/office/powerpoint/2010/main" val="136716587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8AF7B46-3BCC-4700-B8D6-F22B5E491EE2}"/>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90F8A3-17C3-4647-8235-2E444D35297B}"/>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95809855-428B-4E44-A230-9E3D99F136B0}"/>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WEBSITE EXPERIENCE</a:t>
            </a:r>
          </a:p>
        </p:txBody>
      </p:sp>
      <p:sp>
        <p:nvSpPr>
          <p:cNvPr id="4" name="">
            <a:extLst xmlns:a="http://schemas.openxmlformats.org/drawingml/2006/main">
              <a:ext uri="{FF2B5EF4-FFF2-40B4-BE49-F238E27FC236}">
                <a16:creationId xmlns:a16="http://schemas.microsoft.com/office/drawing/2014/main" id="{F704CB80-B3B0-4740-A54B-6375CEFDD61E}"/>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Find friction between landing and first deposit</a:t>
            </a:r>
          </a:p>
        </p:txBody>
      </p:sp>
      <p:sp>
        <p:nvSpPr>
          <p:cNvPr id="5" name="">
            <a:extLst xmlns:a="http://schemas.openxmlformats.org/drawingml/2006/main">
              <a:ext uri="{FF2B5EF4-FFF2-40B4-BE49-F238E27FC236}">
                <a16:creationId xmlns:a16="http://schemas.microsoft.com/office/drawing/2014/main" id="{8618F941-6A3F-4035-8352-D3C0F9506FAB}"/>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661F38B-6CE9-40CF-B0B6-0B99A7D0782F}"/>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08B5D81E-6DE0-4143-BABC-0B7F76EA6BBA}"/>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6693D64B-537A-472A-8F25-682F6C9FF5DF}"/>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41</a:t>
            </a:r>
          </a:p>
        </p:txBody>
      </p:sp>
      <p:graphicFrame>
        <p:nvGraphicFramePr>
          <p:cNvPr id="9" name="">
            <a:extLst xmlns:a="http://schemas.openxmlformats.org/drawingml/2006/main">
              <a:ext uri="{FF2B5EF4-FFF2-40B4-BE49-F238E27FC236}">
                <a16:creationId xmlns:a16="http://schemas.microsoft.com/office/drawing/2014/main" id="{EA6DD7EC-5AD6-4E3B-B388-4AB5E770880F}"/>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667000"/>
                <a:gridCol w="2667000"/>
                <a:gridCol w="2667000"/>
              </a:tblGrid>
              <a:tr h="809625">
                <a:tc>
                  <a:txBody>
                    <a:bodyPr/>
                    <a:lstStyle/>
                    <a:p>
                      <a:r>
                        <a:rPr sz="1650" b="1">
                          <a:solidFill>
                            <a:srgbClr val="FFFFFF"/>
                          </a:solidFill>
                          <a:latin typeface="Aptos"/>
                          <a:ea typeface="Aptos"/>
                          <a:cs typeface="Aptos"/>
                        </a:rPr>
                        <a:t>Stage</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Quarterly count</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Conversion from prior stage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Drop-off</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Eligible landing sessions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2,000,000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Registration started</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200,000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10.0%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90.0%</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Registration complete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140,000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70.0%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30.0%</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Verification approved</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112,000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80.0%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20.0%</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First deposit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84,000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75.0%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25.0%</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D223ABEA-2970-4BCE-88B2-0C46295CB54A}"/>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AD0261-1BBC-4C0A-B76B-E43FE8BCD52C}"/>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8A28D82C-0473-48AF-964A-7B4617954369}"/>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synthetic funnel ends with 84,000 FTDs. These totals include all acquisition sources.</a:t>
            </a:r>
          </a:p>
        </p:txBody>
      </p:sp>
      <p:sp>
        <p:nvSpPr>
          <p:cNvPr id="13" name="">
            <a:extLst xmlns:a="http://schemas.openxmlformats.org/drawingml/2006/main">
              <a:ext uri="{FF2B5EF4-FFF2-40B4-BE49-F238E27FC236}">
                <a16:creationId xmlns:a16="http://schemas.microsoft.com/office/drawing/2014/main" id="{863229B2-BFC5-4543-8DA8-B6F05457F1FD}"/>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Do not divide total paid-media spend by all-source FTDs and label the result incremental CAC.</a:t>
            </a:r>
          </a:p>
        </p:txBody>
      </p:sp>
    </p:spTree>
    <p:extLst>
      <p:ext uri="{BB962C8B-B14F-4D97-AF65-F5344CB8AC3E}">
        <p14:creationId xmlns:p14="http://schemas.microsoft.com/office/powerpoint/2010/main" val="162884398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B37D18E-C99B-49AE-8E70-2F5DABC0988E}"/>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2040E9-BAC9-4F20-8383-ED3D0192D69C}"/>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A503F47B-7669-4EE9-B3D4-131BE6363892}"/>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WEBSITE EXPERIENCE</a:t>
            </a:r>
          </a:p>
        </p:txBody>
      </p:sp>
      <p:sp>
        <p:nvSpPr>
          <p:cNvPr id="4" name="">
            <a:extLst xmlns:a="http://schemas.openxmlformats.org/drawingml/2006/main">
              <a:ext uri="{FF2B5EF4-FFF2-40B4-BE49-F238E27FC236}">
                <a16:creationId xmlns:a16="http://schemas.microsoft.com/office/drawing/2014/main" id="{14FF2661-C5F0-4D46-B796-A1DEF7F212C3}"/>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Payment and verification improvements need separate tests</a:t>
            </a:r>
          </a:p>
        </p:txBody>
      </p:sp>
      <p:sp>
        <p:nvSpPr>
          <p:cNvPr id="5" name="">
            <a:extLst xmlns:a="http://schemas.openxmlformats.org/drawingml/2006/main">
              <a:ext uri="{FF2B5EF4-FFF2-40B4-BE49-F238E27FC236}">
                <a16:creationId xmlns:a16="http://schemas.microsoft.com/office/drawing/2014/main" id="{E6550815-A49B-47E3-8192-20A4EC7285D8}"/>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E50EE23-59EC-4557-A70F-4150CC28E9BE}"/>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05E18B6B-CB58-4D03-8747-928BDB382953}"/>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C05C03AA-D6CD-481C-9EBF-A94F2B54B441}"/>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42</a:t>
            </a:r>
          </a:p>
        </p:txBody>
      </p:sp>
      <p:graphicFrame>
        <p:nvGraphicFramePr>
          <p:cNvPr id="9" name="">
            <a:extLst xmlns:a="http://schemas.openxmlformats.org/drawingml/2006/main">
              <a:ext uri="{FF2B5EF4-FFF2-40B4-BE49-F238E27FC236}">
                <a16:creationId xmlns:a16="http://schemas.microsoft.com/office/drawing/2014/main" id="{F277326D-4F4C-42B3-B0A6-2A24B0253C60}"/>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667000"/>
                <a:gridCol w="2667000"/>
                <a:gridCol w="2667000"/>
              </a:tblGrid>
              <a:tr h="971550">
                <a:tc>
                  <a:txBody>
                    <a:bodyPr/>
                    <a:lstStyle/>
                    <a:p>
                      <a:r>
                        <a:rPr sz="1650" b="1">
                          <a:solidFill>
                            <a:srgbClr val="FFFFFF"/>
                          </a:solidFill>
                          <a:latin typeface="Aptos"/>
                          <a:ea typeface="Aptos"/>
                          <a:cs typeface="Aptos"/>
                        </a:rPr>
                        <a:t>Hypothesis</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Primary measure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Guardrail</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Next action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971550">
                <a:tc>
                  <a:txBody>
                    <a:bodyPr/>
                    <a:lstStyle/>
                    <a:p>
                      <a:r>
                        <a:rPr sz="1650" b="1">
                          <a:solidFill>
                            <a:srgbClr val="14283A"/>
                          </a:solidFill>
                          <a:latin typeface="Aptos"/>
                          <a:ea typeface="Aptos"/>
                          <a:cs typeface="Aptos"/>
                        </a:rPr>
                        <a:t>Clearer registration form</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Registration completion</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Fraud and duplicate accounts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A/B test form changes</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Better document guidance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Verification completion time</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Approval standards unchanged</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Test guidance, not lower standards</a:t>
                      </a:r>
                    </a:p>
                  </a:txBody>
                  <a:tcPr marL="95250" marR="76200" marT="9525" marB="9525">
                    <a:lnR w="4763">
                      <a:solidFill>
                        <a:srgbClr val="DBE4E8"/>
                      </a:solidFill>
                      <a:prstDash val="solid"/>
                    </a:lnR>
                    <a:lnB w="4763">
                      <a:solidFill>
                        <a:srgbClr val="DBE4E8"/>
                      </a:solidFill>
                      <a:prstDash val="solid"/>
                    </a:lnB>
                    <a:solidFill>
                      <a:srgbClr val="F0F5F7"/>
                    </a:solidFill>
                  </a:tcPr>
                </a:tc>
              </a:tr>
              <a:tr h="971550">
                <a:tc>
                  <a:txBody>
                    <a:bodyPr/>
                    <a:lstStyle/>
                    <a:p>
                      <a:r>
                        <a:rPr sz="1650" b="1">
                          <a:solidFill>
                            <a:srgbClr val="14283A"/>
                          </a:solidFill>
                          <a:latin typeface="Aptos"/>
                          <a:ea typeface="Aptos"/>
                          <a:cs typeface="Aptos"/>
                        </a:rPr>
                        <a:t>Payment reliability fix</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Successful eligible deposits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Chargebacks and failed retries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Stage a technical rollout</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Faster landing page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Qualified registration rate</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Accessibility and content parity</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Randomised page-performance test</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BDA82F6C-8EBF-4672-B2D1-20B6BF4FFBD5}"/>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840A59A-0492-43C4-A992-C7509A6DED54}"/>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571F8C30-61DD-493B-8E70-45980A9A8857}"/>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Operational improvements can raise the return on existing traffic.</a:t>
            </a:r>
          </a:p>
        </p:txBody>
      </p:sp>
      <p:sp>
        <p:nvSpPr>
          <p:cNvPr id="13" name="">
            <a:extLst xmlns:a="http://schemas.openxmlformats.org/drawingml/2006/main">
              <a:ext uri="{FF2B5EF4-FFF2-40B4-BE49-F238E27FC236}">
                <a16:creationId xmlns:a16="http://schemas.microsoft.com/office/drawing/2014/main" id="{B3442173-B873-40D4-BFB7-62F64F144923}"/>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Do not count the same uplift in both the product forecast and the media model without reconciliation.</a:t>
            </a:r>
          </a:p>
        </p:txBody>
      </p:sp>
    </p:spTree>
    <p:extLst>
      <p:ext uri="{BB962C8B-B14F-4D97-AF65-F5344CB8AC3E}">
        <p14:creationId xmlns:p14="http://schemas.microsoft.com/office/powerpoint/2010/main" val="29748589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E7A76B-5CFF-413E-9598-ED68EF4F326A}"/>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5AB5CB-2BC4-4841-BB09-944A8D2B291A}"/>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E6DB51B4-4ACC-4BDF-BB45-A987F41B857D}"/>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CUSTOMER ECONOMICS</a:t>
            </a:r>
          </a:p>
        </p:txBody>
      </p:sp>
      <p:sp>
        <p:nvSpPr>
          <p:cNvPr id="4" name="">
            <a:extLst xmlns:a="http://schemas.openxmlformats.org/drawingml/2006/main">
              <a:ext uri="{FF2B5EF4-FFF2-40B4-BE49-F238E27FC236}">
                <a16:creationId xmlns:a16="http://schemas.microsoft.com/office/drawing/2014/main" id="{F185BF05-7592-45D2-94E8-2568BE65BD6E}"/>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Retention quality determines whether acquisition scales</a:t>
            </a:r>
          </a:p>
        </p:txBody>
      </p:sp>
      <p:sp>
        <p:nvSpPr>
          <p:cNvPr id="5" name="">
            <a:extLst xmlns:a="http://schemas.openxmlformats.org/drawingml/2006/main">
              <a:ext uri="{FF2B5EF4-FFF2-40B4-BE49-F238E27FC236}">
                <a16:creationId xmlns:a16="http://schemas.microsoft.com/office/drawing/2014/main" id="{F9A84CC4-4897-4AAE-914B-B85410CA4D22}"/>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4576AA5-8857-4577-946F-6EF41DB872DD}"/>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19148A4C-B501-43E9-8A34-C8472E200467}"/>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E68ACEB1-7EDD-4A84-AE16-AA6529159BD3}"/>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43</a:t>
            </a:r>
          </a:p>
        </p:txBody>
      </p:sp>
      <p:graphicFrame>
        <p:nvGraphicFramePr>
          <p:cNvPr id="9" name="Chart">
            <a:extLst xmlns:a="http://schemas.openxmlformats.org/drawingml/2006/main">
              <a:ext uri="{FF2B5EF4-FFF2-40B4-BE49-F238E27FC236}">
                <a16:creationId xmlns:a16="http://schemas.microsoft.com/office/drawing/2014/main" id="{B01B450D-2469-4834-86E1-89C255E3CC85}"/>
              </a:ext>
            </a:extLst>
          </p:cNvPr>
          <p:cNvGraphicFramePr/>
          <p:nvPr/>
        </p:nvGraphicFramePr>
        <p:xfrm>
          <a:off xmlns:a="http://schemas.openxmlformats.org/drawingml/2006/main" x="476250" y="2133600"/>
          <a:ext xmlns:a="http://schemas.openxmlformats.org/drawingml/2006/main" cx="10572750" cy="5048250"/>
        </p:xfrm>
        <a:graphic xmlns:a="http://schemas.openxmlformats.org/drawingml/2006/main">
          <a:graphicData uri="http://schemas.openxmlformats.org/drawingml/2006/chart">
            <c:chart xmlns:r="http://schemas.openxmlformats.org/officeDocument/2006/relationships" xmlns:c="http://schemas.openxmlformats.org/drawingml/2006/chart" r:id="R00b8b9514855439b"/>
          </a:graphicData>
        </a:graphic>
      </p:graphicFrame>
      <p:sp>
        <p:nvSpPr>
          <p:cNvPr id="10" name="">
            <a:extLst xmlns:a="http://schemas.openxmlformats.org/drawingml/2006/main">
              <a:ext uri="{FF2B5EF4-FFF2-40B4-BE49-F238E27FC236}">
                <a16:creationId xmlns:a16="http://schemas.microsoft.com/office/drawing/2014/main" id="{1C4A8BEF-B59A-46E7-BD3C-6FFA58FA2356}"/>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BD3C79-2F98-4710-B343-2D6839B30368}"/>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542B8961-C9CD-4245-934E-898977A31CA2}"/>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Compare cohorts with the same maturity, market and eligibility definitions.</a:t>
            </a:r>
          </a:p>
        </p:txBody>
      </p:sp>
      <p:sp>
        <p:nvSpPr>
          <p:cNvPr id="13" name="">
            <a:extLst xmlns:a="http://schemas.openxmlformats.org/drawingml/2006/main">
              <a:ext uri="{FF2B5EF4-FFF2-40B4-BE49-F238E27FC236}">
                <a16:creationId xmlns:a16="http://schemas.microsoft.com/office/drawing/2014/main" id="{B78F993F-DB5D-4A24-B9D1-C4865DE24985}"/>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Retention is descriptive here. Differences may reflect audience mix, incentives or product experience.</a:t>
            </a:r>
          </a:p>
        </p:txBody>
      </p:sp>
    </p:spTree>
    <p:extLst>
      <p:ext uri="{BB962C8B-B14F-4D97-AF65-F5344CB8AC3E}">
        <p14:creationId xmlns:p14="http://schemas.microsoft.com/office/powerpoint/2010/main" val="50798588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F50B0A0-69E4-4610-86BA-283EF1BB5739}"/>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9114AD-CD52-45E6-9C56-260203D9072D}"/>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2EB9D2E9-FABA-467C-9293-2DBE304CC376}"/>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CUSTOMER ECONOMICS</a:t>
            </a:r>
          </a:p>
        </p:txBody>
      </p:sp>
      <p:sp>
        <p:nvSpPr>
          <p:cNvPr id="4" name="">
            <a:extLst xmlns:a="http://schemas.openxmlformats.org/drawingml/2006/main">
              <a:ext uri="{FF2B5EF4-FFF2-40B4-BE49-F238E27FC236}">
                <a16:creationId xmlns:a16="http://schemas.microsoft.com/office/drawing/2014/main" id="{FA6D8EFD-661E-46C3-B9A8-9281209DFFD5}"/>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Compare customer value after bonuses and servicing costs</a:t>
            </a:r>
          </a:p>
        </p:txBody>
      </p:sp>
      <p:sp>
        <p:nvSpPr>
          <p:cNvPr id="5" name="">
            <a:extLst xmlns:a="http://schemas.openxmlformats.org/drawingml/2006/main">
              <a:ext uri="{FF2B5EF4-FFF2-40B4-BE49-F238E27FC236}">
                <a16:creationId xmlns:a16="http://schemas.microsoft.com/office/drawing/2014/main" id="{0B3EE0F4-D690-4418-A0B0-5DE48F1FA939}"/>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5A1ACA2-3367-457B-8150-5D7CCE7302AC}"/>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36DF7AEB-4697-434B-9B55-76FD455F733E}"/>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BD099FE2-90A5-4F1D-BA89-341F39E240DB}"/>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44</a:t>
            </a:r>
          </a:p>
        </p:txBody>
      </p:sp>
      <p:graphicFrame>
        <p:nvGraphicFramePr>
          <p:cNvPr id="9" name="">
            <a:extLst xmlns:a="http://schemas.openxmlformats.org/drawingml/2006/main">
              <a:ext uri="{FF2B5EF4-FFF2-40B4-BE49-F238E27FC236}">
                <a16:creationId xmlns:a16="http://schemas.microsoft.com/office/drawing/2014/main" id="{8A3B8421-8784-41A6-8461-C7731B6BA517}"/>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000250"/>
                <a:gridCol w="2000250"/>
                <a:gridCol w="2000250"/>
                <a:gridCol w="2000250"/>
              </a:tblGrid>
              <a:tr h="971550">
                <a:tc>
                  <a:txBody>
                    <a:bodyPr/>
                    <a:lstStyle/>
                    <a:p>
                      <a:r>
                        <a:rPr sz="1500" b="1">
                          <a:solidFill>
                            <a:srgbClr val="FFFFFF"/>
                          </a:solidFill>
                          <a:latin typeface="Aptos"/>
                          <a:ea typeface="Aptos"/>
                          <a:cs typeface="Aptos"/>
                        </a:rPr>
                        <a:t>Cohort</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90-day NGR / FTD</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Variable costs</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Contribution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Acquisition cost*</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971550">
                <a:tc>
                  <a:txBody>
                    <a:bodyPr/>
                    <a:lstStyle/>
                    <a:p>
                      <a:r>
                        <a:rPr sz="1500" b="1">
                          <a:solidFill>
                            <a:srgbClr val="14283A"/>
                          </a:solidFill>
                          <a:latin typeface="Aptos"/>
                          <a:ea typeface="Aptos"/>
                          <a:cs typeface="Aptos"/>
                        </a:rPr>
                        <a:t>Search</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$160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$56</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$104</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$70</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500" b="1">
                          <a:solidFill>
                            <a:srgbClr val="14283A"/>
                          </a:solidFill>
                          <a:latin typeface="Aptos"/>
                          <a:ea typeface="Aptos"/>
                          <a:cs typeface="Aptos"/>
                        </a:rPr>
                        <a:t>Paid social</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$110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$39</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$71</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$75</a:t>
                      </a:r>
                    </a:p>
                  </a:txBody>
                  <a:tcPr marL="95250" marR="76200" marT="9525" marB="9525">
                    <a:lnR w="4763">
                      <a:solidFill>
                        <a:srgbClr val="DBE4E8"/>
                      </a:solidFill>
                      <a:prstDash val="solid"/>
                    </a:lnR>
                    <a:lnB w="4763">
                      <a:solidFill>
                        <a:srgbClr val="DBE4E8"/>
                      </a:solidFill>
                      <a:prstDash val="solid"/>
                    </a:lnB>
                    <a:solidFill>
                      <a:srgbClr val="F0F5F7"/>
                    </a:solidFill>
                  </a:tcPr>
                </a:tc>
              </a:tr>
              <a:tr h="971550">
                <a:tc>
                  <a:txBody>
                    <a:bodyPr/>
                    <a:lstStyle/>
                    <a:p>
                      <a:r>
                        <a:rPr sz="1500" b="1">
                          <a:solidFill>
                            <a:srgbClr val="14283A"/>
                          </a:solidFill>
                          <a:latin typeface="Aptos"/>
                          <a:ea typeface="Aptos"/>
                          <a:cs typeface="Aptos"/>
                        </a:rPr>
                        <a:t>Affiliates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$95</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$33</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$62</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$85</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500" b="1">
                          <a:solidFill>
                            <a:srgbClr val="14283A"/>
                          </a:solidFill>
                          <a:latin typeface="Aptos"/>
                          <a:ea typeface="Aptos"/>
                          <a:cs typeface="Aptos"/>
                        </a:rPr>
                        <a:t>Regional</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$150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$53</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$97</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$65</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DCC710FA-0094-418B-BFDD-F9BDFAC922EC}"/>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FB6A37C-A2AE-491F-9FC4-206B786C1C58}"/>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B8DB4762-9CCC-4BCD-8917-1DE21407AC06}"/>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*Synthetic observed cohort acquisition cost, not incremental CAC from MMM.</a:t>
            </a:r>
          </a:p>
        </p:txBody>
      </p:sp>
      <p:sp>
        <p:nvSpPr>
          <p:cNvPr id="13" name="">
            <a:extLst xmlns:a="http://schemas.openxmlformats.org/drawingml/2006/main">
              <a:ext uri="{FF2B5EF4-FFF2-40B4-BE49-F238E27FC236}">
                <a16:creationId xmlns:a16="http://schemas.microsoft.com/office/drawing/2014/main" id="{CE77930A-A0AD-49EC-8970-4BB70FA2811F}"/>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Value at 90 days is not lifetime value. Mature cohorts and uncertainty are needed for a longer forecast.</a:t>
            </a:r>
          </a:p>
        </p:txBody>
      </p:sp>
    </p:spTree>
    <p:extLst>
      <p:ext uri="{BB962C8B-B14F-4D97-AF65-F5344CB8AC3E}">
        <p14:creationId xmlns:p14="http://schemas.microsoft.com/office/powerpoint/2010/main" val="80840819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A1849FC-44D7-4CE5-8ECC-09C0E5A0F289}"/>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507E9F-44AB-4051-9FF8-E2D8D9E776F3}"/>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2E36253F-0785-4A90-AC65-BFBE3D4525A2}"/>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CUSTOMER ECONOMICS</a:t>
            </a:r>
          </a:p>
        </p:txBody>
      </p:sp>
      <p:sp>
        <p:nvSpPr>
          <p:cNvPr id="4" name="">
            <a:extLst xmlns:a="http://schemas.openxmlformats.org/drawingml/2006/main">
              <a:ext uri="{FF2B5EF4-FFF2-40B4-BE49-F238E27FC236}">
                <a16:creationId xmlns:a16="http://schemas.microsoft.com/office/drawing/2014/main" id="{6731FC48-6C2A-4566-B48F-3773E5228FAA}"/>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Bonus-led volume can conceal weak contribution</a:t>
            </a:r>
          </a:p>
        </p:txBody>
      </p:sp>
      <p:sp>
        <p:nvSpPr>
          <p:cNvPr id="5" name="">
            <a:extLst xmlns:a="http://schemas.openxmlformats.org/drawingml/2006/main">
              <a:ext uri="{FF2B5EF4-FFF2-40B4-BE49-F238E27FC236}">
                <a16:creationId xmlns:a16="http://schemas.microsoft.com/office/drawing/2014/main" id="{9D2DD086-C380-4E7F-A215-F2C55DC4BBF1}"/>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A46ADAF-518E-4159-8CCE-883539AACE1E}"/>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A29BEC10-BC53-4185-8257-47EF5EC4AF3F}"/>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1726AC90-D4D7-4298-9D60-6959A7264C6A}"/>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45</a:t>
            </a:r>
          </a:p>
        </p:txBody>
      </p:sp>
      <p:graphicFrame>
        <p:nvGraphicFramePr>
          <p:cNvPr id="9" name="">
            <a:extLst xmlns:a="http://schemas.openxmlformats.org/drawingml/2006/main">
              <a:ext uri="{FF2B5EF4-FFF2-40B4-BE49-F238E27FC236}">
                <a16:creationId xmlns:a16="http://schemas.microsoft.com/office/drawing/2014/main" id="{97484F81-5109-40D2-93F2-B488FF51899F}"/>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000250"/>
                <a:gridCol w="2000250"/>
                <a:gridCol w="2000250"/>
                <a:gridCol w="2000250"/>
              </a:tblGrid>
              <a:tr h="1214438">
                <a:tc>
                  <a:txBody>
                    <a:bodyPr/>
                    <a:lstStyle/>
                    <a:p>
                      <a:r>
                        <a:rPr sz="1500" b="1">
                          <a:solidFill>
                            <a:srgbClr val="FFFFFF"/>
                          </a:solidFill>
                          <a:latin typeface="Aptos"/>
                          <a:ea typeface="Aptos"/>
                          <a:cs typeface="Aptos"/>
                        </a:rPr>
                        <a:t>Illustrative cohort</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NGR / customer</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Contribution before acquisition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Acquisition cost</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Net</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1214438">
                <a:tc>
                  <a:txBody>
                    <a:bodyPr/>
                    <a:lstStyle/>
                    <a:p>
                      <a:r>
                        <a:rPr sz="1500" b="1">
                          <a:solidFill>
                            <a:srgbClr val="14283A"/>
                          </a:solidFill>
                          <a:latin typeface="Aptos"/>
                          <a:ea typeface="Aptos"/>
                          <a:cs typeface="Aptos"/>
                        </a:rPr>
                        <a:t>Standard offer</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$140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$91</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$70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$21</a:t>
                      </a:r>
                    </a:p>
                  </a:txBody>
                  <a:tcPr marL="95250" marR="76200" marT="9525" marB="9525">
                    <a:lnR w="4763">
                      <a:solidFill>
                        <a:srgbClr val="DBE4E8"/>
                      </a:solidFill>
                      <a:prstDash val="solid"/>
                    </a:lnR>
                    <a:lnB w="4763">
                      <a:solidFill>
                        <a:srgbClr val="DBE4E8"/>
                      </a:solidFill>
                      <a:prstDash val="solid"/>
                    </a:lnB>
                    <a:solidFill>
                      <a:srgbClr val="FFFFFF"/>
                    </a:solidFill>
                  </a:tcPr>
                </a:tc>
              </a:tr>
              <a:tr h="1214438">
                <a:tc>
                  <a:txBody>
                    <a:bodyPr/>
                    <a:lstStyle/>
                    <a:p>
                      <a:r>
                        <a:rPr sz="1500" b="1">
                          <a:solidFill>
                            <a:srgbClr val="14283A"/>
                          </a:solidFill>
                          <a:latin typeface="Aptos"/>
                          <a:ea typeface="Aptos"/>
                          <a:cs typeface="Aptos"/>
                        </a:rPr>
                        <a:t>Larger bonus, same quality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$120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$78</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$70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$8</a:t>
                      </a:r>
                    </a:p>
                  </a:txBody>
                  <a:tcPr marL="95250" marR="76200" marT="9525" marB="9525">
                    <a:lnR w="4763">
                      <a:solidFill>
                        <a:srgbClr val="DBE4E8"/>
                      </a:solidFill>
                      <a:prstDash val="solid"/>
                    </a:lnR>
                    <a:lnB w="4763">
                      <a:solidFill>
                        <a:srgbClr val="DBE4E8"/>
                      </a:solidFill>
                      <a:prstDash val="solid"/>
                    </a:lnB>
                    <a:solidFill>
                      <a:srgbClr val="F0F5F7"/>
                    </a:solidFill>
                  </a:tcPr>
                </a:tc>
              </a:tr>
              <a:tr h="1214438">
                <a:tc>
                  <a:txBody>
                    <a:bodyPr/>
                    <a:lstStyle/>
                    <a:p>
                      <a:r>
                        <a:rPr sz="1500" b="1">
                          <a:solidFill>
                            <a:srgbClr val="14283A"/>
                          </a:solidFill>
                          <a:latin typeface="Aptos"/>
                          <a:ea typeface="Aptos"/>
                          <a:cs typeface="Aptos"/>
                        </a:rPr>
                        <a:t>Larger bonus, lower quality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$90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$58.5</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$70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−$11.5</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ED36CA63-4C73-4D02-BBA1-081CC30EA9B0}"/>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7E3EC02-3816-4F77-A440-6BBA7D1DD1FF}"/>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7B2440FA-4B7D-4963-B15C-3F042FFF77C8}"/>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NGR is already after the agreed bonus deductions in this example. Do not subtract them twice.</a:t>
            </a:r>
          </a:p>
        </p:txBody>
      </p:sp>
      <p:sp>
        <p:nvSpPr>
          <p:cNvPr id="13" name="">
            <a:extLst xmlns:a="http://schemas.openxmlformats.org/drawingml/2006/main">
              <a:ext uri="{FF2B5EF4-FFF2-40B4-BE49-F238E27FC236}">
                <a16:creationId xmlns:a16="http://schemas.microsoft.com/office/drawing/2014/main" id="{6307EBB5-20B6-4904-8B99-45D92BE6609B}"/>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Measure the full cohort economics and eligibility rules before expanding an offer.</a:t>
            </a:r>
          </a:p>
        </p:txBody>
      </p:sp>
    </p:spTree>
    <p:extLst>
      <p:ext uri="{BB962C8B-B14F-4D97-AF65-F5344CB8AC3E}">
        <p14:creationId xmlns:p14="http://schemas.microsoft.com/office/powerpoint/2010/main" val="163692252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51F2FBE-BBA5-4EBC-A370-3BDE16578AF9}"/>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F7DB9D-198E-407B-9CEF-EC70AB9B42A6}"/>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EA9596F9-0829-4056-8E34-CC1FA0BDA821}"/>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AFFILIATE DILIGENCE</a:t>
            </a:r>
          </a:p>
        </p:txBody>
      </p:sp>
      <p:sp>
        <p:nvSpPr>
          <p:cNvPr id="4" name="">
            <a:extLst xmlns:a="http://schemas.openxmlformats.org/drawingml/2006/main">
              <a:ext uri="{FF2B5EF4-FFF2-40B4-BE49-F238E27FC236}">
                <a16:creationId xmlns:a16="http://schemas.microsoft.com/office/drawing/2014/main" id="{15E22F58-A565-40F7-AC95-E7064C6296E6}"/>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Partner economics require more than last-click conversions</a:t>
            </a:r>
          </a:p>
        </p:txBody>
      </p:sp>
      <p:sp>
        <p:nvSpPr>
          <p:cNvPr id="5" name="">
            <a:extLst xmlns:a="http://schemas.openxmlformats.org/drawingml/2006/main">
              <a:ext uri="{FF2B5EF4-FFF2-40B4-BE49-F238E27FC236}">
                <a16:creationId xmlns:a16="http://schemas.microsoft.com/office/drawing/2014/main" id="{1B7437C1-7E00-421A-9578-D86BD9852108}"/>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AC57767-EFF3-44CF-AC59-8B3A6A0D8CE1}"/>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E750C050-C9FB-4AE1-9D45-7F63BBA44B68}"/>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7BE6444A-3D36-4510-96F8-C76E4AADD6DB}"/>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46</a:t>
            </a:r>
          </a:p>
        </p:txBody>
      </p:sp>
      <p:graphicFrame>
        <p:nvGraphicFramePr>
          <p:cNvPr id="9" name="">
            <a:extLst xmlns:a="http://schemas.openxmlformats.org/drawingml/2006/main">
              <a:ext uri="{FF2B5EF4-FFF2-40B4-BE49-F238E27FC236}">
                <a16:creationId xmlns:a16="http://schemas.microsoft.com/office/drawing/2014/main" id="{D2F64B24-1BE5-413E-9407-30373235D77F}"/>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667000"/>
                <a:gridCol w="2667000"/>
                <a:gridCol w="2667000"/>
              </a:tblGrid>
              <a:tr h="971550">
                <a:tc>
                  <a:txBody>
                    <a:bodyPr/>
                    <a:lstStyle/>
                    <a:p>
                      <a:r>
                        <a:rPr sz="1650" b="1">
                          <a:solidFill>
                            <a:srgbClr val="FFFFFF"/>
                          </a:solidFill>
                          <a:latin typeface="Aptos"/>
                          <a:ea typeface="Aptos"/>
                          <a:cs typeface="Aptos"/>
                        </a:rPr>
                        <a:t>Partner type</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Potential issue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Evidence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Decision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971550">
                <a:tc>
                  <a:txBody>
                    <a:bodyPr/>
                    <a:lstStyle/>
                    <a:p>
                      <a:r>
                        <a:rPr sz="1650" b="1">
                          <a:solidFill>
                            <a:srgbClr val="14283A"/>
                          </a:solidFill>
                          <a:latin typeface="Aptos"/>
                          <a:ea typeface="Aptos"/>
                          <a:cs typeface="Aptos"/>
                        </a:rPr>
                        <a:t>Comparison publisher</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Brand capture versus new demand</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New-to-brand cohorts and test design</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Measure incremental value</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CPA network</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Quality and fraud differences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Verified FTDs and mature NGR</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Adjust payouts to quality</a:t>
                      </a:r>
                    </a:p>
                  </a:txBody>
                  <a:tcPr marL="95250" marR="76200" marT="9525" marB="9525">
                    <a:lnR w="4763">
                      <a:solidFill>
                        <a:srgbClr val="DBE4E8"/>
                      </a:solidFill>
                      <a:prstDash val="solid"/>
                    </a:lnR>
                    <a:lnB w="4763">
                      <a:solidFill>
                        <a:srgbClr val="DBE4E8"/>
                      </a:solidFill>
                      <a:prstDash val="solid"/>
                    </a:lnB>
                    <a:solidFill>
                      <a:srgbClr val="F0F5F7"/>
                    </a:solidFill>
                  </a:tcPr>
                </a:tc>
              </a:tr>
              <a:tr h="971550">
                <a:tc>
                  <a:txBody>
                    <a:bodyPr/>
                    <a:lstStyle/>
                    <a:p>
                      <a:r>
                        <a:rPr sz="1650" b="1">
                          <a:solidFill>
                            <a:srgbClr val="14283A"/>
                          </a:solidFill>
                          <a:latin typeface="Aptos"/>
                          <a:ea typeface="Aptos"/>
                          <a:cs typeface="Aptos"/>
                        </a:rPr>
                        <a:t>Revenue share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Long-tail cost exposure</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Lifetime obligations and margin</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Model contractual economics</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Sub-affiliate network</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Limited placement visibility</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Traffic-source transparency</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Set audit requirements</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70A21C92-9F53-445E-B982-BD5139116D66}"/>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923B300-0C9C-4308-A518-E645095094CA}"/>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0E6AE480-52A1-480C-9310-5D7C11686890}"/>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sample budget reduction is not a blanket recommendation against affiliates.</a:t>
            </a:r>
          </a:p>
        </p:txBody>
      </p:sp>
      <p:sp>
        <p:nvSpPr>
          <p:cNvPr id="13" name="">
            <a:extLst xmlns:a="http://schemas.openxmlformats.org/drawingml/2006/main">
              <a:ext uri="{FF2B5EF4-FFF2-40B4-BE49-F238E27FC236}">
                <a16:creationId xmlns:a16="http://schemas.microsoft.com/office/drawing/2014/main" id="{E371F95C-022F-4569-B647-D9CC32078AD3}"/>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Separate contractual commitments from discretionary acquisition spend.</a:t>
            </a:r>
          </a:p>
        </p:txBody>
      </p:sp>
    </p:spTree>
    <p:extLst>
      <p:ext uri="{BB962C8B-B14F-4D97-AF65-F5344CB8AC3E}">
        <p14:creationId xmlns:p14="http://schemas.microsoft.com/office/powerpoint/2010/main" val="1673456995"/>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B6D6CF2-5E70-442C-AD1D-857DE077162D}"/>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59F257-7D55-47DC-A984-2C54CF3D21FD}"/>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5E028FE3-3249-452D-A269-D9805595DE9E}"/>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MARKET PRIORITISATION</a:t>
            </a:r>
          </a:p>
        </p:txBody>
      </p:sp>
      <p:sp>
        <p:nvSpPr>
          <p:cNvPr id="4" name="">
            <a:extLst xmlns:a="http://schemas.openxmlformats.org/drawingml/2006/main">
              <a:ext uri="{FF2B5EF4-FFF2-40B4-BE49-F238E27FC236}">
                <a16:creationId xmlns:a16="http://schemas.microsoft.com/office/drawing/2014/main" id="{5B69A555-058E-4C87-949E-FB7B2E3C12C1}"/>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Expand only where economics and operating readiness align</a:t>
            </a:r>
          </a:p>
        </p:txBody>
      </p:sp>
      <p:sp>
        <p:nvSpPr>
          <p:cNvPr id="5" name="">
            <a:extLst xmlns:a="http://schemas.openxmlformats.org/drawingml/2006/main">
              <a:ext uri="{FF2B5EF4-FFF2-40B4-BE49-F238E27FC236}">
                <a16:creationId xmlns:a16="http://schemas.microsoft.com/office/drawing/2014/main" id="{816EC512-346E-4EA9-A8BB-50B46EE85FE9}"/>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A2DF5D-D80F-4F84-937F-4EDE8F878915}"/>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D8016679-F754-4BDF-8B31-3168A2969CF6}"/>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9DE68E26-4C20-4D13-B683-808D28A08534}"/>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47</a:t>
            </a:r>
          </a:p>
        </p:txBody>
      </p:sp>
      <p:graphicFrame>
        <p:nvGraphicFramePr>
          <p:cNvPr id="9" name="">
            <a:extLst xmlns:a="http://schemas.openxmlformats.org/drawingml/2006/main">
              <a:ext uri="{FF2B5EF4-FFF2-40B4-BE49-F238E27FC236}">
                <a16:creationId xmlns:a16="http://schemas.microsoft.com/office/drawing/2014/main" id="{416A8057-2DE9-4A9F-A0DE-751802BB0157}"/>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000250"/>
                <a:gridCol w="2000250"/>
                <a:gridCol w="2000250"/>
                <a:gridCol w="2000250"/>
              </a:tblGrid>
              <a:tr h="971550">
                <a:tc>
                  <a:txBody>
                    <a:bodyPr/>
                    <a:lstStyle/>
                    <a:p>
                      <a:r>
                        <a:rPr sz="1500" b="1">
                          <a:solidFill>
                            <a:srgbClr val="FFFFFF"/>
                          </a:solidFill>
                          <a:latin typeface="Aptos"/>
                          <a:ea typeface="Aptos"/>
                          <a:cs typeface="Aptos"/>
                        </a:rPr>
                        <a:t>Illustrative market</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Demand index</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Contribution / FTD</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Readiness</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500" b="1">
                          <a:solidFill>
                            <a:srgbClr val="FFFFFF"/>
                          </a:solidFill>
                          <a:latin typeface="Aptos"/>
                          <a:ea typeface="Aptos"/>
                          <a:cs typeface="Aptos"/>
                        </a:rPr>
                        <a:t>Decision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971550">
                <a:tc>
                  <a:txBody>
                    <a:bodyPr/>
                    <a:lstStyle/>
                    <a:p>
                      <a:r>
                        <a:rPr sz="1500" b="1">
                          <a:solidFill>
                            <a:srgbClr val="14283A"/>
                          </a:solidFill>
                          <a:latin typeface="Aptos"/>
                          <a:ea typeface="Aptos"/>
                          <a:cs typeface="Aptos"/>
                        </a:rPr>
                        <a:t>Market A</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80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$105</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Established</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Prioritise controlled scale</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500" b="1">
                          <a:solidFill>
                            <a:srgbClr val="14283A"/>
                          </a:solidFill>
                          <a:latin typeface="Aptos"/>
                          <a:ea typeface="Aptos"/>
                          <a:cs typeface="Aptos"/>
                        </a:rPr>
                        <a:t>Market B</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65</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$92</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Payment work needed</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Fix before expansion</a:t>
                      </a:r>
                    </a:p>
                  </a:txBody>
                  <a:tcPr marL="95250" marR="76200" marT="9525" marB="9525">
                    <a:lnR w="4763">
                      <a:solidFill>
                        <a:srgbClr val="DBE4E8"/>
                      </a:solidFill>
                      <a:prstDash val="solid"/>
                    </a:lnR>
                    <a:lnB w="4763">
                      <a:solidFill>
                        <a:srgbClr val="DBE4E8"/>
                      </a:solidFill>
                      <a:prstDash val="solid"/>
                    </a:lnB>
                    <a:solidFill>
                      <a:srgbClr val="F0F5F7"/>
                    </a:solidFill>
                  </a:tcPr>
                </a:tc>
              </a:tr>
              <a:tr h="971550">
                <a:tc>
                  <a:txBody>
                    <a:bodyPr/>
                    <a:lstStyle/>
                    <a:p>
                      <a:r>
                        <a:rPr sz="1500" b="1">
                          <a:solidFill>
                            <a:srgbClr val="14283A"/>
                          </a:solidFill>
                          <a:latin typeface="Aptos"/>
                          <a:ea typeface="Aptos"/>
                          <a:cs typeface="Aptos"/>
                        </a:rPr>
                        <a:t>Market C</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90</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$68</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Contract constraints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500" b="0">
                          <a:solidFill>
                            <a:srgbClr val="14283A"/>
                          </a:solidFill>
                          <a:latin typeface="Aptos"/>
                          <a:ea typeface="Aptos"/>
                          <a:cs typeface="Aptos"/>
                        </a:rPr>
                        <a:t>Reassess economics</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500" b="1">
                          <a:solidFill>
                            <a:srgbClr val="14283A"/>
                          </a:solidFill>
                          <a:latin typeface="Aptos"/>
                          <a:ea typeface="Aptos"/>
                          <a:cs typeface="Aptos"/>
                        </a:rPr>
                        <a:t>Market D</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50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$110</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Not yet approved</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500" b="0">
                          <a:solidFill>
                            <a:srgbClr val="14283A"/>
                          </a:solidFill>
                          <a:latin typeface="Aptos"/>
                          <a:ea typeface="Aptos"/>
                          <a:cs typeface="Aptos"/>
                        </a:rPr>
                        <a:t>Outside current allocation</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8B8F1FC5-6066-457C-B7D2-D9CD9F94C903}"/>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DECE3A-27B5-4293-A095-60F1CA686777}"/>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8A596E9B-9E84-4296-862B-7C6FFC074BD1}"/>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Market labels are fictional. This is a decision framework, not a jurisdiction recommendation.</a:t>
            </a:r>
          </a:p>
        </p:txBody>
      </p:sp>
      <p:sp>
        <p:nvSpPr>
          <p:cNvPr id="13" name="">
            <a:extLst xmlns:a="http://schemas.openxmlformats.org/drawingml/2006/main">
              <a:ext uri="{FF2B5EF4-FFF2-40B4-BE49-F238E27FC236}">
                <a16:creationId xmlns:a16="http://schemas.microsoft.com/office/drawing/2014/main" id="{ECB1E2E1-4BDB-4E26-BC7E-39355CF04422}"/>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Eligibility and operating approvals are hard constraints, not scoring trade-offs.</a:t>
            </a:r>
          </a:p>
        </p:txBody>
      </p:sp>
    </p:spTree>
    <p:extLst>
      <p:ext uri="{BB962C8B-B14F-4D97-AF65-F5344CB8AC3E}">
        <p14:creationId xmlns:p14="http://schemas.microsoft.com/office/powerpoint/2010/main" val="39037060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934A560-650D-4D6C-A045-378DD400089F}"/>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B0EBDC-5E17-4732-B7F6-865AD068CDC2}"/>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1EE824F7-ADF7-4850-A308-0AA8AC064251}"/>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INCREMENTALITY</a:t>
            </a:r>
          </a:p>
        </p:txBody>
      </p:sp>
      <p:sp>
        <p:nvSpPr>
          <p:cNvPr id="4" name="">
            <a:extLst xmlns:a="http://schemas.openxmlformats.org/drawingml/2006/main">
              <a:ext uri="{FF2B5EF4-FFF2-40B4-BE49-F238E27FC236}">
                <a16:creationId xmlns:a16="http://schemas.microsoft.com/office/drawing/2014/main" id="{3F0C8A7A-6B09-429C-8551-BF60AD199F03}"/>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Use experiments to resolve the decisions the model cannot</a:t>
            </a:r>
          </a:p>
        </p:txBody>
      </p:sp>
      <p:sp>
        <p:nvSpPr>
          <p:cNvPr id="5" name="">
            <a:extLst xmlns:a="http://schemas.openxmlformats.org/drawingml/2006/main">
              <a:ext uri="{FF2B5EF4-FFF2-40B4-BE49-F238E27FC236}">
                <a16:creationId xmlns:a16="http://schemas.microsoft.com/office/drawing/2014/main" id="{E31078E2-2A06-4E5E-98D4-B3AB6134171B}"/>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3D54519-BA21-488A-94B8-01BC4899485B}"/>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CFB0DDF4-1CC0-4CEE-98B5-A43BE5B6E20A}"/>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CD9AC423-761D-476B-8D3C-D91DB6AF9CBF}"/>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48</a:t>
            </a:r>
          </a:p>
        </p:txBody>
      </p:sp>
      <p:graphicFrame>
        <p:nvGraphicFramePr>
          <p:cNvPr id="9" name="">
            <a:extLst xmlns:a="http://schemas.openxmlformats.org/drawingml/2006/main">
              <a:ext uri="{FF2B5EF4-FFF2-40B4-BE49-F238E27FC236}">
                <a16:creationId xmlns:a16="http://schemas.microsoft.com/office/drawing/2014/main" id="{AB99E146-CE33-40C6-803F-B853C35DA18A}"/>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971550">
                <a:tc>
                  <a:txBody>
                    <a:bodyPr/>
                    <a:lstStyle/>
                    <a:p>
                      <a:r>
                        <a:rPr sz="1650" b="1">
                          <a:solidFill>
                            <a:srgbClr val="FFFFFF"/>
                          </a:solidFill>
                          <a:latin typeface="Aptos"/>
                          <a:ea typeface="Aptos"/>
                          <a:cs typeface="Aptos"/>
                        </a:rPr>
                        <a:t>Question</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Possible design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Primary outcome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971550">
                <a:tc>
                  <a:txBody>
                    <a:bodyPr/>
                    <a:lstStyle/>
                    <a:p>
                      <a:r>
                        <a:rPr sz="1650" b="1">
                          <a:solidFill>
                            <a:srgbClr val="14283A"/>
                          </a:solidFill>
                          <a:latin typeface="Aptos"/>
                          <a:ea typeface="Aptos"/>
                          <a:cs typeface="Aptos"/>
                        </a:rPr>
                        <a:t>Is brand search incremental?</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Approved geo or time-based suppression test</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Incremental contribution with organic substitution</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Does video create delayed value?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Matched geo experiment with lagged follow-up</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Incremental qualified acquisition and NGR</a:t>
                      </a:r>
                    </a:p>
                  </a:txBody>
                  <a:tcPr marL="95250" marR="76200" marT="9525" marB="9525">
                    <a:lnR w="4763">
                      <a:solidFill>
                        <a:srgbClr val="DBE4E8"/>
                      </a:solidFill>
                      <a:prstDash val="solid"/>
                    </a:lnR>
                    <a:lnB w="4763">
                      <a:solidFill>
                        <a:srgbClr val="DBE4E8"/>
                      </a:solidFill>
                      <a:prstDash val="solid"/>
                    </a:lnB>
                    <a:solidFill>
                      <a:srgbClr val="F0F5F7"/>
                    </a:solidFill>
                  </a:tcPr>
                </a:tc>
              </a:tr>
              <a:tr h="971550">
                <a:tc>
                  <a:txBody>
                    <a:bodyPr/>
                    <a:lstStyle/>
                    <a:p>
                      <a:r>
                        <a:rPr sz="1650" b="1">
                          <a:solidFill>
                            <a:srgbClr val="14283A"/>
                          </a:solidFill>
                          <a:latin typeface="Aptos"/>
                          <a:ea typeface="Aptos"/>
                          <a:cs typeface="Aptos"/>
                        </a:rPr>
                        <a:t>Does the new page convert better?</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User-level randomised A/B test</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Qualified registration and FTD rate</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Are partner conversions new demand?</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Partner holdout or matched-market design</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Incremental mature-cohort contribution</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BB2409B1-542F-417C-8344-F897AA7E4822}"/>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61C5819-F113-44C7-A73C-E897F2B00836}"/>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5BE33790-F12B-49A5-9710-BE7891F9B588}"/>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Select designs based on feasibility, power, contamination and customer safeguards.</a:t>
            </a:r>
          </a:p>
        </p:txBody>
      </p:sp>
      <p:sp>
        <p:nvSpPr>
          <p:cNvPr id="13" name="">
            <a:extLst xmlns:a="http://schemas.openxmlformats.org/drawingml/2006/main">
              <a:ext uri="{FF2B5EF4-FFF2-40B4-BE49-F238E27FC236}">
                <a16:creationId xmlns:a16="http://schemas.microsoft.com/office/drawing/2014/main" id="{3CFB8DA7-B301-40EB-A01D-5E4748C529C1}"/>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Do not use this menu as a claim that every design is feasible for every operator.</a:t>
            </a:r>
          </a:p>
        </p:txBody>
      </p:sp>
    </p:spTree>
    <p:extLst>
      <p:ext uri="{BB962C8B-B14F-4D97-AF65-F5344CB8AC3E}">
        <p14:creationId xmlns:p14="http://schemas.microsoft.com/office/powerpoint/2010/main" val="92489869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3BC072F-BEE8-4369-A6CC-B4096641010F}"/>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FC9166-BB41-4E09-9E80-C5FD0DAFB3B6}"/>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E975353D-0658-4134-8F2E-1E3FAC708427}"/>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INCREMENTALITY</a:t>
            </a:r>
          </a:p>
        </p:txBody>
      </p:sp>
      <p:sp>
        <p:nvSpPr>
          <p:cNvPr id="4" name="">
            <a:extLst xmlns:a="http://schemas.openxmlformats.org/drawingml/2006/main">
              <a:ext uri="{FF2B5EF4-FFF2-40B4-BE49-F238E27FC236}">
                <a16:creationId xmlns:a16="http://schemas.microsoft.com/office/drawing/2014/main" id="{BAC7E767-A906-43F7-9A91-12375030AF6D}"/>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Write the experiment decision rule before launch</a:t>
            </a:r>
          </a:p>
        </p:txBody>
      </p:sp>
      <p:sp>
        <p:nvSpPr>
          <p:cNvPr id="5" name="">
            <a:extLst xmlns:a="http://schemas.openxmlformats.org/drawingml/2006/main">
              <a:ext uri="{FF2B5EF4-FFF2-40B4-BE49-F238E27FC236}">
                <a16:creationId xmlns:a16="http://schemas.microsoft.com/office/drawing/2014/main" id="{4B1CC3BC-B130-45E1-B8BE-6C98938A98CC}"/>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7ADED79-21EE-4978-96A8-17811F7A608B}"/>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833859DB-D615-44C6-9E10-A6479AC9766D}"/>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0ACD1E21-65B4-44FF-800F-105B6036C1FE}"/>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49</a:t>
            </a:r>
          </a:p>
        </p:txBody>
      </p:sp>
      <p:graphicFrame>
        <p:nvGraphicFramePr>
          <p:cNvPr id="9" name="">
            <a:extLst xmlns:a="http://schemas.openxmlformats.org/drawingml/2006/main">
              <a:ext uri="{FF2B5EF4-FFF2-40B4-BE49-F238E27FC236}">
                <a16:creationId xmlns:a16="http://schemas.microsoft.com/office/drawing/2014/main" id="{85CF9803-BE5F-4B55-9C6E-89D904940904}"/>
              </a:ext>
            </a:extLst>
          </p:cNvPr>
          <p:cNvGraphicFramePr/>
          <p:nvPr/>
        </p:nvGraphicFramePr>
        <p:xfrm>
          <a:off xmlns:a="http://schemas.openxmlformats.org/drawingml/2006/main" x="476250" y="2190750"/>
          <a:ext xmlns:a="http://schemas.openxmlformats.org/drawingml/2006/main" cx="10572750" cy="5238750"/>
        </p:xfrm>
        <a:graphic xmlns:a="http://schemas.openxmlformats.org/drawingml/2006/main">
          <a:graphicData uri="http://schemas.openxmlformats.org/drawingml/2006/table">
            <a:tbl>
              <a:tblPr/>
              <a:tblGrid>
                <a:gridCol w="2952750"/>
                <a:gridCol w="7620000"/>
              </a:tblGrid>
              <a:tr h="654844">
                <a:tc>
                  <a:txBody>
                    <a:bodyPr/>
                    <a:lstStyle/>
                    <a:p>
                      <a:r>
                        <a:rPr sz="1650" b="1">
                          <a:solidFill>
                            <a:srgbClr val="FFFFFF"/>
                          </a:solidFill>
                          <a:latin typeface="Aptos"/>
                          <a:ea typeface="Aptos"/>
                          <a:cs typeface="Aptos"/>
                        </a:rPr>
                        <a:t>Element</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Example test brief</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54844">
                <a:tc>
                  <a:txBody>
                    <a:bodyPr/>
                    <a:lstStyle/>
                    <a:p>
                      <a:r>
                        <a:rPr sz="1650" b="1">
                          <a:solidFill>
                            <a:srgbClr val="14283A"/>
                          </a:solidFill>
                          <a:latin typeface="Aptos"/>
                          <a:ea typeface="Aptos"/>
                          <a:cs typeface="Aptos"/>
                        </a:rPr>
                        <a:t>Decision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Whether to release the next tranche of regional media</a:t>
                      </a:r>
                    </a:p>
                  </a:txBody>
                  <a:tcPr marL="95250" marR="76200" marT="9525" marB="9525">
                    <a:lnR w="4763">
                      <a:solidFill>
                        <a:srgbClr val="DBE4E8"/>
                      </a:solidFill>
                      <a:prstDash val="solid"/>
                    </a:lnR>
                    <a:lnB w="4763">
                      <a:solidFill>
                        <a:srgbClr val="DBE4E8"/>
                      </a:solidFill>
                      <a:prstDash val="solid"/>
                    </a:lnB>
                    <a:solidFill>
                      <a:srgbClr val="FFFFFF"/>
                    </a:solidFill>
                  </a:tcPr>
                </a:tc>
              </a:tr>
              <a:tr h="654844">
                <a:tc>
                  <a:txBody>
                    <a:bodyPr/>
                    <a:lstStyle/>
                    <a:p>
                      <a:r>
                        <a:rPr sz="1650" b="1">
                          <a:solidFill>
                            <a:srgbClr val="14283A"/>
                          </a:solidFill>
                          <a:latin typeface="Aptos"/>
                          <a:ea typeface="Aptos"/>
                          <a:cs typeface="Aptos"/>
                        </a:rPr>
                        <a:t>Unit and assignment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Comparable eligible geographies, randomised where feasible</a:t>
                      </a:r>
                    </a:p>
                  </a:txBody>
                  <a:tcPr marL="95250" marR="76200" marT="9525" marB="9525">
                    <a:lnR w="4763">
                      <a:solidFill>
                        <a:srgbClr val="DBE4E8"/>
                      </a:solidFill>
                      <a:prstDash val="solid"/>
                    </a:lnR>
                    <a:lnB w="4763">
                      <a:solidFill>
                        <a:srgbClr val="DBE4E8"/>
                      </a:solidFill>
                      <a:prstDash val="solid"/>
                    </a:lnB>
                    <a:solidFill>
                      <a:srgbClr val="F0F5F7"/>
                    </a:solidFill>
                  </a:tcPr>
                </a:tc>
              </a:tr>
              <a:tr h="654844">
                <a:tc>
                  <a:txBody>
                    <a:bodyPr/>
                    <a:lstStyle/>
                    <a:p>
                      <a:r>
                        <a:rPr sz="1650" b="1">
                          <a:solidFill>
                            <a:srgbClr val="14283A"/>
                          </a:solidFill>
                          <a:latin typeface="Aptos"/>
                          <a:ea typeface="Aptos"/>
                          <a:cs typeface="Aptos"/>
                        </a:rPr>
                        <a:t>Primary outcome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Incremental contribution after media</a:t>
                      </a:r>
                    </a:p>
                  </a:txBody>
                  <a:tcPr marL="95250" marR="76200" marT="9525" marB="9525">
                    <a:lnR w="4763">
                      <a:solidFill>
                        <a:srgbClr val="DBE4E8"/>
                      </a:solidFill>
                      <a:prstDash val="solid"/>
                    </a:lnR>
                    <a:lnB w="4763">
                      <a:solidFill>
                        <a:srgbClr val="DBE4E8"/>
                      </a:solidFill>
                      <a:prstDash val="solid"/>
                    </a:lnB>
                    <a:solidFill>
                      <a:srgbClr val="FFFFFF"/>
                    </a:solidFill>
                  </a:tcPr>
                </a:tc>
              </a:tr>
              <a:tr h="654844">
                <a:tc>
                  <a:txBody>
                    <a:bodyPr/>
                    <a:lstStyle/>
                    <a:p>
                      <a:r>
                        <a:rPr sz="1650" b="1">
                          <a:solidFill>
                            <a:srgbClr val="14283A"/>
                          </a:solidFill>
                          <a:latin typeface="Aptos"/>
                          <a:ea typeface="Aptos"/>
                          <a:cs typeface="Aptos"/>
                        </a:rPr>
                        <a:t>Pre-period</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Check baseline balance and seasonal patterns</a:t>
                      </a:r>
                    </a:p>
                  </a:txBody>
                  <a:tcPr marL="95250" marR="76200" marT="9525" marB="9525">
                    <a:lnR w="4763">
                      <a:solidFill>
                        <a:srgbClr val="DBE4E8"/>
                      </a:solidFill>
                      <a:prstDash val="solid"/>
                    </a:lnR>
                    <a:lnB w="4763">
                      <a:solidFill>
                        <a:srgbClr val="DBE4E8"/>
                      </a:solidFill>
                      <a:prstDash val="solid"/>
                    </a:lnB>
                    <a:solidFill>
                      <a:srgbClr val="F0F5F7"/>
                    </a:solidFill>
                  </a:tcPr>
                </a:tc>
              </a:tr>
              <a:tr h="654844">
                <a:tc>
                  <a:txBody>
                    <a:bodyPr/>
                    <a:lstStyle/>
                    <a:p>
                      <a:r>
                        <a:rPr sz="1650" b="1">
                          <a:solidFill>
                            <a:srgbClr val="14283A"/>
                          </a:solidFill>
                          <a:latin typeface="Aptos"/>
                          <a:ea typeface="Aptos"/>
                          <a:cs typeface="Aptos"/>
                        </a:rPr>
                        <a:t>Duration and power</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Set from historical variance and detectable effect</a:t>
                      </a:r>
                    </a:p>
                  </a:txBody>
                  <a:tcPr marL="95250" marR="76200" marT="9525" marB="9525">
                    <a:lnR w="4763">
                      <a:solidFill>
                        <a:srgbClr val="DBE4E8"/>
                      </a:solidFill>
                      <a:prstDash val="solid"/>
                    </a:lnR>
                    <a:lnB w="4763">
                      <a:solidFill>
                        <a:srgbClr val="DBE4E8"/>
                      </a:solidFill>
                      <a:prstDash val="solid"/>
                    </a:lnB>
                    <a:solidFill>
                      <a:srgbClr val="FFFFFF"/>
                    </a:solidFill>
                  </a:tcPr>
                </a:tc>
              </a:tr>
              <a:tr h="654844">
                <a:tc>
                  <a:txBody>
                    <a:bodyPr/>
                    <a:lstStyle/>
                    <a:p>
                      <a:r>
                        <a:rPr sz="1650" b="1">
                          <a:solidFill>
                            <a:srgbClr val="14283A"/>
                          </a:solidFill>
                          <a:latin typeface="Aptos"/>
                          <a:ea typeface="Aptos"/>
                          <a:cs typeface="Aptos"/>
                        </a:rPr>
                        <a:t>Guardrails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Budget, operating eligibility, product reliability</a:t>
                      </a:r>
                    </a:p>
                  </a:txBody>
                  <a:tcPr marL="95250" marR="76200" marT="9525" marB="9525">
                    <a:lnR w="4763">
                      <a:solidFill>
                        <a:srgbClr val="DBE4E8"/>
                      </a:solidFill>
                      <a:prstDash val="solid"/>
                    </a:lnR>
                    <a:lnB w="4763">
                      <a:solidFill>
                        <a:srgbClr val="DBE4E8"/>
                      </a:solidFill>
                      <a:prstDash val="solid"/>
                    </a:lnB>
                    <a:solidFill>
                      <a:srgbClr val="F0F5F7"/>
                    </a:solidFill>
                  </a:tcPr>
                </a:tc>
              </a:tr>
              <a:tr h="654844">
                <a:tc>
                  <a:txBody>
                    <a:bodyPr/>
                    <a:lstStyle/>
                    <a:p>
                      <a:r>
                        <a:rPr sz="1650" b="1">
                          <a:solidFill>
                            <a:srgbClr val="14283A"/>
                          </a:solidFill>
                          <a:latin typeface="Aptos"/>
                          <a:ea typeface="Aptos"/>
                          <a:cs typeface="Aptos"/>
                        </a:rPr>
                        <a:t>Decision rule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Scale only if evidence meets the pre-agreed hurdle</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11C3ED67-A1C9-494D-83C1-4160B8B2A808}"/>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231BEDD-4217-4215-8375-952EEADA88E7}"/>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23D5EFB3-3351-4E96-B52B-7165F5643674}"/>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 positive point estimate alone is not a scaling rule.</a:t>
            </a:r>
          </a:p>
        </p:txBody>
      </p:sp>
      <p:sp>
        <p:nvSpPr>
          <p:cNvPr id="13" name="">
            <a:extLst xmlns:a="http://schemas.openxmlformats.org/drawingml/2006/main">
              <a:ext uri="{FF2B5EF4-FFF2-40B4-BE49-F238E27FC236}">
                <a16:creationId xmlns:a16="http://schemas.microsoft.com/office/drawing/2014/main" id="{03423C3C-7084-4D6E-8A23-18BCA77036C7}"/>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Log concurrent campaigns, events and outages that can affect interpretation.</a:t>
            </a:r>
          </a:p>
        </p:txBody>
      </p:sp>
    </p:spTree>
    <p:extLst>
      <p:ext uri="{BB962C8B-B14F-4D97-AF65-F5344CB8AC3E}">
        <p14:creationId xmlns:p14="http://schemas.microsoft.com/office/powerpoint/2010/main" val="145947569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941C8A6-94C0-47DD-81B6-5A110BAEF67C}"/>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AF3473-2B1F-44C7-AE01-540675E1E4CA}"/>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A4577503-08A9-47E3-ABC9-ADC7B5452EF8}"/>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A59D50C8-879C-42DA-9324-65518234CDA1}"/>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Turn the read-out into a staged 90-day programme</a:t>
            </a:r>
          </a:p>
        </p:txBody>
      </p:sp>
      <p:sp>
        <p:nvSpPr>
          <p:cNvPr id="5" name="">
            <a:extLst xmlns:a="http://schemas.openxmlformats.org/drawingml/2006/main">
              <a:ext uri="{FF2B5EF4-FFF2-40B4-BE49-F238E27FC236}">
                <a16:creationId xmlns:a16="http://schemas.microsoft.com/office/drawing/2014/main" id="{8A20397E-2999-4883-803C-3AD80DF4B0AB}"/>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C904B20-7D59-43F0-BCB5-410F30FE5204}"/>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9278D81A-6651-4EE7-84A7-15C72E7A1A3A}"/>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34FE13DD-EBC0-4D04-BF41-0D57D19C3A10}"/>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50</a:t>
            </a:r>
          </a:p>
        </p:txBody>
      </p:sp>
      <p:graphicFrame>
        <p:nvGraphicFramePr>
          <p:cNvPr id="9" name="">
            <a:extLst xmlns:a="http://schemas.openxmlformats.org/drawingml/2006/main">
              <a:ext uri="{FF2B5EF4-FFF2-40B4-BE49-F238E27FC236}">
                <a16:creationId xmlns:a16="http://schemas.microsoft.com/office/drawing/2014/main" id="{FEB1C9FD-1624-4115-ABB6-815DA0602A46}"/>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971550">
                <a:tc>
                  <a:txBody>
                    <a:bodyPr/>
                    <a:lstStyle/>
                    <a:p>
                      <a:r>
                        <a:rPr sz="1650" b="1">
                          <a:solidFill>
                            <a:srgbClr val="FFFFFF"/>
                          </a:solidFill>
                          <a:latin typeface="Aptos"/>
                          <a:ea typeface="Aptos"/>
                          <a:cs typeface="Aptos"/>
                        </a:rPr>
                        <a:t>Window</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Work</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Decision gate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971550">
                <a:tc>
                  <a:txBody>
                    <a:bodyPr/>
                    <a:lstStyle/>
                    <a:p>
                      <a:r>
                        <a:rPr sz="1650" b="1">
                          <a:solidFill>
                            <a:srgbClr val="14283A"/>
                          </a:solidFill>
                          <a:latin typeface="Aptos"/>
                          <a:ea typeface="Aptos"/>
                          <a:cs typeface="Aptos"/>
                        </a:rPr>
                        <a:t>Days 1–15</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Data inventory, financial definitions, quality review</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Is the data fit for modelling?</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Days 16–35</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Model specifications, diagnostics, market benchmarking</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Are estimates decision-ready?</a:t>
                      </a:r>
                    </a:p>
                  </a:txBody>
                  <a:tcPr marL="95250" marR="76200" marT="9525" marB="9525">
                    <a:lnR w="4763">
                      <a:solidFill>
                        <a:srgbClr val="DBE4E8"/>
                      </a:solidFill>
                      <a:prstDash val="solid"/>
                    </a:lnR>
                    <a:lnB w="4763">
                      <a:solidFill>
                        <a:srgbClr val="DBE4E8"/>
                      </a:solidFill>
                      <a:prstDash val="solid"/>
                    </a:lnB>
                    <a:solidFill>
                      <a:srgbClr val="F0F5F7"/>
                    </a:solidFill>
                  </a:tcPr>
                </a:tc>
              </a:tr>
              <a:tr h="971550">
                <a:tc>
                  <a:txBody>
                    <a:bodyPr/>
                    <a:lstStyle/>
                    <a:p>
                      <a:r>
                        <a:rPr sz="1650" b="1">
                          <a:solidFill>
                            <a:srgbClr val="14283A"/>
                          </a:solidFill>
                          <a:latin typeface="Aptos"/>
                          <a:ea typeface="Aptos"/>
                          <a:cs typeface="Aptos"/>
                        </a:rPr>
                        <a:t>Days 36–55</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Budget scenarios and experiment design</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Approve a bounded test plan</a:t>
                      </a:r>
                    </a:p>
                  </a:txBody>
                  <a:tcPr marL="95250" marR="76200" marT="9525" marB="9525">
                    <a:lnR w="4763">
                      <a:solidFill>
                        <a:srgbClr val="DBE4E8"/>
                      </a:solidFill>
                      <a:prstDash val="solid"/>
                    </a:lnR>
                    <a:lnB w="4763">
                      <a:solidFill>
                        <a:srgbClr val="DBE4E8"/>
                      </a:solidFill>
                      <a:prstDash val="solid"/>
                    </a:lnB>
                    <a:solidFill>
                      <a:srgbClr val="FFFFFF"/>
                    </a:solidFill>
                  </a:tcPr>
                </a:tc>
              </a:tr>
              <a:tr h="971550">
                <a:tc>
                  <a:txBody>
                    <a:bodyPr/>
                    <a:lstStyle/>
                    <a:p>
                      <a:r>
                        <a:rPr sz="1650" b="1">
                          <a:solidFill>
                            <a:srgbClr val="14283A"/>
                          </a:solidFill>
                          <a:latin typeface="Aptos"/>
                          <a:ea typeface="Aptos"/>
                          <a:cs typeface="Aptos"/>
                        </a:rPr>
                        <a:t>Days 56–90</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Run tests, monitor cohorts, refresh the model</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Release, revise or stop the next tranche</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8073EC8A-BB30-4A03-BC1B-BDB43C34714A}"/>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FD063FC-8E6F-43CA-ADE2-E3D920D3CA19}"/>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B4B51F9D-B5F2-43EE-99DD-C4E07DE4145B}"/>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Illustrative delivery sequence, not a contractual timeline.</a:t>
            </a:r>
          </a:p>
        </p:txBody>
      </p:sp>
      <p:sp>
        <p:nvSpPr>
          <p:cNvPr id="13" name="">
            <a:extLst xmlns:a="http://schemas.openxmlformats.org/drawingml/2006/main">
              <a:ext uri="{FF2B5EF4-FFF2-40B4-BE49-F238E27FC236}">
                <a16:creationId xmlns:a16="http://schemas.microsoft.com/office/drawing/2014/main" id="{F0CB7640-9B0F-4BC4-B5D5-35C3288BA260}"/>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Access, data quality and experiment duration determine the actual schedule.</a:t>
            </a:r>
          </a:p>
        </p:txBody>
      </p:sp>
    </p:spTree>
    <p:extLst>
      <p:ext uri="{BB962C8B-B14F-4D97-AF65-F5344CB8AC3E}">
        <p14:creationId xmlns:p14="http://schemas.microsoft.com/office/powerpoint/2010/main" val="88898679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0FBF6A0-57E7-43A3-B31D-634C353FC4B7}"/>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A11F4C-1805-4931-95BE-229A6F3E0FFD}"/>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1288519D-D44B-42F2-B08A-7C3FC12C4840}"/>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243F6777-5F45-42B3-9E38-AF7B8AA5C3DB}"/>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Give each recommendation an owner and a measurable outcome</a:t>
            </a:r>
          </a:p>
        </p:txBody>
      </p:sp>
      <p:sp>
        <p:nvSpPr>
          <p:cNvPr id="5" name="">
            <a:extLst xmlns:a="http://schemas.openxmlformats.org/drawingml/2006/main">
              <a:ext uri="{FF2B5EF4-FFF2-40B4-BE49-F238E27FC236}">
                <a16:creationId xmlns:a16="http://schemas.microsoft.com/office/drawing/2014/main" id="{D1980AB0-443C-4CE8-81F2-FDB14A2EDF25}"/>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BAD45A-05ED-4193-A54B-94C451F28433}"/>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14F7EDCE-A7D0-4CEB-9DFA-333AAFC1421A}"/>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7AFA1BD6-76E8-4CD9-8D55-80F4D51D6A28}"/>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51</a:t>
            </a:r>
          </a:p>
        </p:txBody>
      </p:sp>
      <p:graphicFrame>
        <p:nvGraphicFramePr>
          <p:cNvPr id="9" name="">
            <a:extLst xmlns:a="http://schemas.openxmlformats.org/drawingml/2006/main">
              <a:ext uri="{FF2B5EF4-FFF2-40B4-BE49-F238E27FC236}">
                <a16:creationId xmlns:a16="http://schemas.microsoft.com/office/drawing/2014/main" id="{F1AF6321-DED1-4464-A4E7-0700778468FC}"/>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571750"/>
                <a:gridCol w="2667000"/>
                <a:gridCol w="2667000"/>
                <a:gridCol w="2667000"/>
              </a:tblGrid>
              <a:tr h="809625">
                <a:tc>
                  <a:txBody>
                    <a:bodyPr/>
                    <a:lstStyle/>
                    <a:p>
                      <a:r>
                        <a:rPr sz="1650" b="1">
                          <a:solidFill>
                            <a:srgbClr val="FFFFFF"/>
                          </a:solidFill>
                          <a:latin typeface="Aptos"/>
                          <a:ea typeface="Aptos"/>
                          <a:cs typeface="Aptos"/>
                        </a:rPr>
                        <a:t>Action</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Owner</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Measure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Review rhythm</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Pilot search / regional shift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Growth lead</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Incremental contribution</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Weekly pacing; post-test decision</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Audit affiliate quality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Partnerships + finance</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Mature contribution / acquired customer</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Monthly cohort review</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Fix mobile funnel friction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Product + engineering</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Qualified conversion with guardrails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Experiment read-out</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Close high-intent content gaps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SEO lead</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Qualified non-brand organic visits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Monthly</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Refresh model and scenarios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Analytics + finance</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Stability, validation, realised outcomes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Quarterly or after material change</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79AABDE-FB28-45BB-A401-783499EF8836}"/>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78DE464-4DAA-4DEB-94B6-356D0B25304A}"/>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62B3311B-39CC-47AC-A367-D7B7F6514197}"/>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A recommendation is complete when it names an owner, a test and a decision date.</a:t>
            </a:r>
          </a:p>
        </p:txBody>
      </p:sp>
      <p:sp>
        <p:nvSpPr>
          <p:cNvPr id="13" name="">
            <a:extLst xmlns:a="http://schemas.openxmlformats.org/drawingml/2006/main">
              <a:ext uri="{FF2B5EF4-FFF2-40B4-BE49-F238E27FC236}">
                <a16:creationId xmlns:a16="http://schemas.microsoft.com/office/drawing/2014/main" id="{820F8DCD-5421-41A0-89EC-E6C29A59A27E}"/>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Use a single reconciliation view so finance and marketing discuss the same outcome.</a:t>
            </a:r>
          </a:p>
        </p:txBody>
      </p:sp>
    </p:spTree>
    <p:extLst>
      <p:ext uri="{BB962C8B-B14F-4D97-AF65-F5344CB8AC3E}">
        <p14:creationId xmlns:p14="http://schemas.microsoft.com/office/powerpoint/2010/main" val="197222225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9269AC5-AE4F-4378-8E1C-9503F7B9B489}"/>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ACA72C-A621-4129-B643-920FE7B985E9}"/>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0D2652C9-43AF-4F71-9145-40D76B6CFED2}"/>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ENGAGEMENT OUTPUT</a:t>
            </a:r>
          </a:p>
        </p:txBody>
      </p:sp>
      <p:sp>
        <p:nvSpPr>
          <p:cNvPr id="4" name="">
            <a:extLst xmlns:a="http://schemas.openxmlformats.org/drawingml/2006/main">
              <a:ext uri="{FF2B5EF4-FFF2-40B4-BE49-F238E27FC236}">
                <a16:creationId xmlns:a16="http://schemas.microsoft.com/office/drawing/2014/main" id="{10329850-78B2-4721-84FF-862C12B55823}"/>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A client receives analysis they can inspect and act on</a:t>
            </a:r>
          </a:p>
        </p:txBody>
      </p:sp>
      <p:sp>
        <p:nvSpPr>
          <p:cNvPr id="5" name="">
            <a:extLst xmlns:a="http://schemas.openxmlformats.org/drawingml/2006/main">
              <a:ext uri="{FF2B5EF4-FFF2-40B4-BE49-F238E27FC236}">
                <a16:creationId xmlns:a16="http://schemas.microsoft.com/office/drawing/2014/main" id="{3EEFB804-F7FB-4710-8DC3-6B2FDCCB5FB2}"/>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B7AD059-6E67-4A9C-BDC2-32CB3F356162}"/>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DE11A5E7-3C70-4A8E-8ACA-C16EA713EF25}"/>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33092DBD-EC96-483F-B446-EE00BBD17C1A}"/>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52</a:t>
            </a:r>
          </a:p>
        </p:txBody>
      </p:sp>
      <p:graphicFrame>
        <p:nvGraphicFramePr>
          <p:cNvPr id="9" name="">
            <a:extLst xmlns:a="http://schemas.openxmlformats.org/drawingml/2006/main">
              <a:ext uri="{FF2B5EF4-FFF2-40B4-BE49-F238E27FC236}">
                <a16:creationId xmlns:a16="http://schemas.microsoft.com/office/drawing/2014/main" id="{0CA260A0-2CAD-4E57-AA53-282496D64D8E}"/>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952750"/>
                <a:gridCol w="7620000"/>
              </a:tblGrid>
              <a:tr h="693964">
                <a:tc>
                  <a:txBody>
                    <a:bodyPr/>
                    <a:lstStyle/>
                    <a:p>
                      <a:r>
                        <a:rPr sz="1650" b="1">
                          <a:solidFill>
                            <a:srgbClr val="FFFFFF"/>
                          </a:solidFill>
                          <a:latin typeface="Aptos"/>
                          <a:ea typeface="Aptos"/>
                          <a:cs typeface="Aptos"/>
                        </a:rPr>
                        <a:t>Deliverable</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What it contains</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93964">
                <a:tc>
                  <a:txBody>
                    <a:bodyPr/>
                    <a:lstStyle/>
                    <a:p>
                      <a:r>
                        <a:rPr sz="1650" b="1">
                          <a:solidFill>
                            <a:srgbClr val="14283A"/>
                          </a:solidFill>
                          <a:latin typeface="Aptos"/>
                          <a:ea typeface="Aptos"/>
                          <a:cs typeface="Aptos"/>
                        </a:rPr>
                        <a:t>Executive read-out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Three decisions, quantified scenarios and evidence limits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Model review</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Inputs, specification, diagnostics and sensitivity</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Channel plan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Current versus proposed budget with constraints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Competitive benchmark</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Search, app, social and website observations</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Experiment backlog</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Hypotheses, measurement plans and owners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Refresh package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Definitions, data requirements and update cadence</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480942E6-5D2F-4D59-AAF5-3AD061A18A3F}"/>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0359E1-3D3C-401B-B77A-15425D765B99}"/>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07EE0BF4-3554-4C26-9E5F-00D3C769E62E}"/>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Scope the available provider exports and internal data before committing to every module.</a:t>
            </a:r>
          </a:p>
        </p:txBody>
      </p:sp>
      <p:sp>
        <p:nvSpPr>
          <p:cNvPr id="13" name="">
            <a:extLst xmlns:a="http://schemas.openxmlformats.org/drawingml/2006/main">
              <a:ext uri="{FF2B5EF4-FFF2-40B4-BE49-F238E27FC236}">
                <a16:creationId xmlns:a16="http://schemas.microsoft.com/office/drawing/2014/main" id="{58A768E7-E7E5-4DB8-A2B5-34FD83A5BCA4}"/>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video demonstrates the modelling workbench; the broader diagnostic work is the consulting analysis layer.</a:t>
            </a:r>
          </a:p>
        </p:txBody>
      </p:sp>
    </p:spTree>
    <p:extLst>
      <p:ext uri="{BB962C8B-B14F-4D97-AF65-F5344CB8AC3E}">
        <p14:creationId xmlns:p14="http://schemas.microsoft.com/office/powerpoint/2010/main" val="214314790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E00102F-4B3D-4998-9BD8-8186ACF712AE}"/>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D32853-97A5-4D35-AAE6-2E5346180B7A}"/>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3C4082C7-A1C5-42F9-8B9E-A916AE0F1039}"/>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TECHNICAL APPENDIX</a:t>
            </a:r>
          </a:p>
        </p:txBody>
      </p:sp>
      <p:sp>
        <p:nvSpPr>
          <p:cNvPr id="4" name="">
            <a:extLst xmlns:a="http://schemas.openxmlformats.org/drawingml/2006/main">
              <a:ext uri="{FF2B5EF4-FFF2-40B4-BE49-F238E27FC236}">
                <a16:creationId xmlns:a16="http://schemas.microsoft.com/office/drawing/2014/main" id="{7411A325-890F-41E2-A662-C03086075F2A}"/>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Make the model specification explicit</a:t>
            </a:r>
          </a:p>
        </p:txBody>
      </p:sp>
      <p:sp>
        <p:nvSpPr>
          <p:cNvPr id="5" name="">
            <a:extLst xmlns:a="http://schemas.openxmlformats.org/drawingml/2006/main">
              <a:ext uri="{FF2B5EF4-FFF2-40B4-BE49-F238E27FC236}">
                <a16:creationId xmlns:a16="http://schemas.microsoft.com/office/drawing/2014/main" id="{BB48ED1C-062B-4E39-AA68-ED6F212F6D05}"/>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6A991AC-AA89-4DAB-84A8-BDF830E9E1DD}"/>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C44BF3D3-B685-42C6-ABB1-81EF31F843CD}"/>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8EFFBDAC-D076-4937-9448-51F2E9C5343B}"/>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53</a:t>
            </a:r>
          </a:p>
        </p:txBody>
      </p:sp>
      <p:graphicFrame>
        <p:nvGraphicFramePr>
          <p:cNvPr id="9" name="">
            <a:extLst xmlns:a="http://schemas.openxmlformats.org/drawingml/2006/main">
              <a:ext uri="{FF2B5EF4-FFF2-40B4-BE49-F238E27FC236}">
                <a16:creationId xmlns:a16="http://schemas.microsoft.com/office/drawing/2014/main" id="{7E2050A0-ED7F-43DD-825F-D90475B8BD58}"/>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809625">
                <a:tc>
                  <a:txBody>
                    <a:bodyPr/>
                    <a:lstStyle/>
                    <a:p>
                      <a:r>
                        <a:rPr sz="1650" b="1">
                          <a:solidFill>
                            <a:srgbClr val="FFFFFF"/>
                          </a:solidFill>
                          <a:latin typeface="Aptos"/>
                          <a:ea typeface="Aptos"/>
                          <a:cs typeface="Aptos"/>
                        </a:rPr>
                        <a:t>Component</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Conceptual form</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Review</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Outcome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Weekly NGR by eligible market</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Reconcile to finance</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Baseline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Intercept + justified trend / seasonality</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Avoid absorbing all media variation</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Media</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Coefficient × saturation(carryover(exposure))</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Test lag and response assumptions</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Controls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Events, operations and external drivers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Choose from a causal hypothesis</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Residual</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Observed minus model prediction</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Inspect dependence and instability</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2349F7E6-B426-4CE0-A422-F77851A036A0}"/>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876A47D-1F0C-4ED6-B791-AB3A7CB6D4FC}"/>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8617692E-FEB6-4244-A2F5-CEEF283F6FFC}"/>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This is a conceptual specification, not a statement about the engine’s implementation.</a:t>
            </a:r>
          </a:p>
        </p:txBody>
      </p:sp>
      <p:sp>
        <p:nvSpPr>
          <p:cNvPr id="13" name="">
            <a:extLst xmlns:a="http://schemas.openxmlformats.org/drawingml/2006/main">
              <a:ext uri="{FF2B5EF4-FFF2-40B4-BE49-F238E27FC236}">
                <a16:creationId xmlns:a16="http://schemas.microsoft.com/office/drawing/2014/main" id="{FA854DE4-9346-4E0C-8AED-6910C4A5125E}"/>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Google Meridian is a Bayesian MMM framework. The supplied video does not establish that this engine uses Meridian.</a:t>
            </a:r>
          </a:p>
        </p:txBody>
      </p:sp>
    </p:spTree>
    <p:extLst>
      <p:ext uri="{BB962C8B-B14F-4D97-AF65-F5344CB8AC3E}">
        <p14:creationId xmlns:p14="http://schemas.microsoft.com/office/powerpoint/2010/main" val="1618990803"/>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2EB1BE3-9915-4C11-8220-8A958FD5E852}"/>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04B0E6-639F-4E8B-84E4-A753D7CF0FF4}"/>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C6BC07F0-3CD8-41E8-8F55-1DE8EF33D96F}"/>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TECHNICAL APPENDIX</a:t>
            </a:r>
          </a:p>
        </p:txBody>
      </p:sp>
      <p:sp>
        <p:nvSpPr>
          <p:cNvPr id="4" name="">
            <a:extLst xmlns:a="http://schemas.openxmlformats.org/drawingml/2006/main">
              <a:ext uri="{FF2B5EF4-FFF2-40B4-BE49-F238E27FC236}">
                <a16:creationId xmlns:a16="http://schemas.microsoft.com/office/drawing/2014/main" id="{112AC4A9-6963-4B09-9C56-084505CD3AB7}"/>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Treat correlated channels as an identification problem</a:t>
            </a:r>
          </a:p>
        </p:txBody>
      </p:sp>
      <p:sp>
        <p:nvSpPr>
          <p:cNvPr id="5" name="">
            <a:extLst xmlns:a="http://schemas.openxmlformats.org/drawingml/2006/main">
              <a:ext uri="{FF2B5EF4-FFF2-40B4-BE49-F238E27FC236}">
                <a16:creationId xmlns:a16="http://schemas.microsoft.com/office/drawing/2014/main" id="{74F946AF-A247-4A47-9585-8797F272923E}"/>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64B1CBF-B4BA-49A0-B6C6-2652990EF05A}"/>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A08C1B87-6D61-45C6-A669-49E5E5741E24}"/>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FF760B99-DB55-4B46-A547-BB007BDE18DD}"/>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54</a:t>
            </a:r>
          </a:p>
        </p:txBody>
      </p:sp>
      <p:graphicFrame>
        <p:nvGraphicFramePr>
          <p:cNvPr id="9" name="">
            <a:extLst xmlns:a="http://schemas.openxmlformats.org/drawingml/2006/main">
              <a:ext uri="{FF2B5EF4-FFF2-40B4-BE49-F238E27FC236}">
                <a16:creationId xmlns:a16="http://schemas.microsoft.com/office/drawing/2014/main" id="{48872636-3535-4788-AA3C-1544607BCA34}"/>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809625">
                <a:tc>
                  <a:txBody>
                    <a:bodyPr/>
                    <a:lstStyle/>
                    <a:p>
                      <a:r>
                        <a:rPr sz="1650" b="1">
                          <a:solidFill>
                            <a:srgbClr val="FFFFFF"/>
                          </a:solidFill>
                          <a:latin typeface="Aptos"/>
                          <a:ea typeface="Aptos"/>
                          <a:cs typeface="Aptos"/>
                        </a:rPr>
                        <a:t>Pattern</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Risk</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Response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Search and TV rise together</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Effects can be exchanged between channels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Use variation, experiments or combine channels</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Bonus spend tracks media spend</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Incentive effects may be misallocated</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Model agreed commercial drivers</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SEO clicks react to advertising</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Potential mediator rather than pure control</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Define the causal question first</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Competitor index tracks seasonality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Spurious competitor effect</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Add justified demand controls and sensitivity</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Very sparse channel activity</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Unstable curve estimation</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Use simpler scope and report limits</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6955CB1D-1DFE-46BA-8DD1-E0DC0492AFA0}"/>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12FABBB-D9AB-4A7D-9D33-F7A858A57F84}"/>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7E90C849-0AFF-429A-B77F-D87FD1509262}"/>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More variables do not automatically produce a better model.</a:t>
            </a:r>
          </a:p>
        </p:txBody>
      </p:sp>
      <p:sp>
        <p:nvSpPr>
          <p:cNvPr id="13" name="">
            <a:extLst xmlns:a="http://schemas.openxmlformats.org/drawingml/2006/main">
              <a:ext uri="{FF2B5EF4-FFF2-40B4-BE49-F238E27FC236}">
                <a16:creationId xmlns:a16="http://schemas.microsoft.com/office/drawing/2014/main" id="{3455D901-CEA0-4268-A949-EB0767B2D7C2}"/>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Explain which distinctions the data can support and which require new evidence.</a:t>
            </a:r>
          </a:p>
        </p:txBody>
      </p:sp>
    </p:spTree>
    <p:extLst>
      <p:ext uri="{BB962C8B-B14F-4D97-AF65-F5344CB8AC3E}">
        <p14:creationId xmlns:p14="http://schemas.microsoft.com/office/powerpoint/2010/main" val="92636347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3683115-244A-46E5-9A1C-400B071B7F94}"/>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EBEECC-EB11-464F-A358-66FC99576B6B}"/>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CFF85096-4298-4E60-A0E9-6C1444DE3964}"/>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TECHNICAL APPENDIX</a:t>
            </a:r>
          </a:p>
        </p:txBody>
      </p:sp>
      <p:sp>
        <p:nvSpPr>
          <p:cNvPr id="4" name="">
            <a:extLst xmlns:a="http://schemas.openxmlformats.org/drawingml/2006/main">
              <a:ext uri="{FF2B5EF4-FFF2-40B4-BE49-F238E27FC236}">
                <a16:creationId xmlns:a16="http://schemas.microsoft.com/office/drawing/2014/main" id="{6C13C492-1746-467F-A30D-2F457BC9E7A9}"/>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Define metrics so the result can be reproduced</a:t>
            </a:r>
          </a:p>
        </p:txBody>
      </p:sp>
      <p:sp>
        <p:nvSpPr>
          <p:cNvPr id="5" name="">
            <a:extLst xmlns:a="http://schemas.openxmlformats.org/drawingml/2006/main">
              <a:ext uri="{FF2B5EF4-FFF2-40B4-BE49-F238E27FC236}">
                <a16:creationId xmlns:a16="http://schemas.microsoft.com/office/drawing/2014/main" id="{63CD4D42-E7B2-4B13-819E-7EB6B71DAAA7}"/>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29B402-5691-4125-9733-A4D96BED2E7D}"/>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CC1058FE-F9DC-455E-BD16-205CDE4BA3E1}"/>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326BA3CF-80F8-4F95-A897-4B0698BA352E}"/>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55</a:t>
            </a:r>
          </a:p>
        </p:txBody>
      </p:sp>
      <p:graphicFrame>
        <p:nvGraphicFramePr>
          <p:cNvPr id="9" name="">
            <a:extLst xmlns:a="http://schemas.openxmlformats.org/drawingml/2006/main">
              <a:ext uri="{FF2B5EF4-FFF2-40B4-BE49-F238E27FC236}">
                <a16:creationId xmlns:a16="http://schemas.microsoft.com/office/drawing/2014/main" id="{BE6406B2-C4B4-4EA9-AB1B-6F19CCF6528C}"/>
              </a:ext>
            </a:extLst>
          </p:cNvPr>
          <p:cNvGraphicFramePr/>
          <p:nvPr/>
        </p:nvGraphicFramePr>
        <p:xfrm>
          <a:off xmlns:a="http://schemas.openxmlformats.org/drawingml/2006/main" x="476250" y="2190750"/>
          <a:ext xmlns:a="http://schemas.openxmlformats.org/drawingml/2006/main" cx="10572750" cy="5238750"/>
        </p:xfrm>
        <a:graphic xmlns:a="http://schemas.openxmlformats.org/drawingml/2006/main">
          <a:graphicData uri="http://schemas.openxmlformats.org/drawingml/2006/table">
            <a:tbl>
              <a:tblPr/>
              <a:tblGrid>
                <a:gridCol w="2952750"/>
                <a:gridCol w="7620000"/>
              </a:tblGrid>
              <a:tr h="654844">
                <a:tc>
                  <a:txBody>
                    <a:bodyPr/>
                    <a:lstStyle/>
                    <a:p>
                      <a:r>
                        <a:rPr sz="1650" b="1">
                          <a:solidFill>
                            <a:srgbClr val="FFFFFF"/>
                          </a:solidFill>
                          <a:latin typeface="Aptos"/>
                          <a:ea typeface="Aptos"/>
                          <a:cs typeface="Aptos"/>
                        </a:rPr>
                        <a:t>Metric</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Definition in this demonstration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54844">
                <a:tc>
                  <a:txBody>
                    <a:bodyPr/>
                    <a:lstStyle/>
                    <a:p>
                      <a:r>
                        <a:rPr sz="1650" b="1">
                          <a:solidFill>
                            <a:srgbClr val="14283A"/>
                          </a:solidFill>
                          <a:latin typeface="Aptos"/>
                          <a:ea typeface="Aptos"/>
                          <a:cs typeface="Aptos"/>
                        </a:rPr>
                        <a:t>Average NGR ROAS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Attributed incremental NGR / channel spend</a:t>
                      </a:r>
                    </a:p>
                  </a:txBody>
                  <a:tcPr marL="95250" marR="76200" marT="9525" marB="9525">
                    <a:lnR w="4763">
                      <a:solidFill>
                        <a:srgbClr val="DBE4E8"/>
                      </a:solidFill>
                      <a:prstDash val="solid"/>
                    </a:lnR>
                    <a:lnB w="4763">
                      <a:solidFill>
                        <a:srgbClr val="DBE4E8"/>
                      </a:solidFill>
                      <a:prstDash val="solid"/>
                    </a:lnB>
                    <a:solidFill>
                      <a:srgbClr val="FFFFFF"/>
                    </a:solidFill>
                  </a:tcPr>
                </a:tc>
              </a:tr>
              <a:tr h="654844">
                <a:tc>
                  <a:txBody>
                    <a:bodyPr/>
                    <a:lstStyle/>
                    <a:p>
                      <a:r>
                        <a:rPr sz="1650" b="1">
                          <a:solidFill>
                            <a:srgbClr val="14283A"/>
                          </a:solidFill>
                          <a:latin typeface="Aptos"/>
                          <a:ea typeface="Aptos"/>
                          <a:cs typeface="Aptos"/>
                        </a:rPr>
                        <a:t>Marginal NGR ROAS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Change in attributed NGR / small change in spend</a:t>
                      </a:r>
                    </a:p>
                  </a:txBody>
                  <a:tcPr marL="95250" marR="76200" marT="9525" marB="9525">
                    <a:lnR w="4763">
                      <a:solidFill>
                        <a:srgbClr val="DBE4E8"/>
                      </a:solidFill>
                      <a:prstDash val="solid"/>
                    </a:lnR>
                    <a:lnB w="4763">
                      <a:solidFill>
                        <a:srgbClr val="DBE4E8"/>
                      </a:solidFill>
                      <a:prstDash val="solid"/>
                    </a:lnB>
                    <a:solidFill>
                      <a:srgbClr val="F0F5F7"/>
                    </a:solidFill>
                  </a:tcPr>
                </a:tc>
              </a:tr>
              <a:tr h="654844">
                <a:tc>
                  <a:txBody>
                    <a:bodyPr/>
                    <a:lstStyle/>
                    <a:p>
                      <a:r>
                        <a:rPr sz="1650" b="1">
                          <a:solidFill>
                            <a:srgbClr val="14283A"/>
                          </a:solidFill>
                          <a:latin typeface="Aptos"/>
                          <a:ea typeface="Aptos"/>
                          <a:cs typeface="Aptos"/>
                        </a:rPr>
                        <a:t>wMAPE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Sum of absolute prediction errors / sum of observed outcome</a:t>
                      </a:r>
                    </a:p>
                  </a:txBody>
                  <a:tcPr marL="95250" marR="76200" marT="9525" marB="9525">
                    <a:lnR w="4763">
                      <a:solidFill>
                        <a:srgbClr val="DBE4E8"/>
                      </a:solidFill>
                      <a:prstDash val="solid"/>
                    </a:lnR>
                    <a:lnB w="4763">
                      <a:solidFill>
                        <a:srgbClr val="DBE4E8"/>
                      </a:solidFill>
                      <a:prstDash val="solid"/>
                    </a:lnB>
                    <a:solidFill>
                      <a:srgbClr val="FFFFFF"/>
                    </a:solidFill>
                  </a:tcPr>
                </a:tc>
              </a:tr>
              <a:tr h="654844">
                <a:tc>
                  <a:txBody>
                    <a:bodyPr/>
                    <a:lstStyle/>
                    <a:p>
                      <a:r>
                        <a:rPr sz="1650" b="1">
                          <a:solidFill>
                            <a:srgbClr val="14283A"/>
                          </a:solidFill>
                          <a:latin typeface="Aptos"/>
                          <a:ea typeface="Aptos"/>
                          <a:cs typeface="Aptos"/>
                        </a:rPr>
                        <a:t>Aggregate bias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(Sum predicted − sum observed) / sum observed</a:t>
                      </a:r>
                    </a:p>
                  </a:txBody>
                  <a:tcPr marL="95250" marR="76200" marT="9525" marB="9525">
                    <a:lnR w="4763">
                      <a:solidFill>
                        <a:srgbClr val="DBE4E8"/>
                      </a:solidFill>
                      <a:prstDash val="solid"/>
                    </a:lnR>
                    <a:lnB w="4763">
                      <a:solidFill>
                        <a:srgbClr val="DBE4E8"/>
                      </a:solidFill>
                      <a:prstDash val="solid"/>
                    </a:lnB>
                    <a:solidFill>
                      <a:srgbClr val="F0F5F7"/>
                    </a:solidFill>
                  </a:tcPr>
                </a:tc>
              </a:tr>
              <a:tr h="654844">
                <a:tc>
                  <a:txBody>
                    <a:bodyPr/>
                    <a:lstStyle/>
                    <a:p>
                      <a:r>
                        <a:rPr sz="1650" b="1">
                          <a:solidFill>
                            <a:srgbClr val="14283A"/>
                          </a:solidFill>
                          <a:latin typeface="Aptos"/>
                          <a:ea typeface="Aptos"/>
                          <a:cs typeface="Aptos"/>
                        </a:rPr>
                        <a:t>Contribution after media</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NGR − agreed variable operating costs − media</a:t>
                      </a:r>
                    </a:p>
                  </a:txBody>
                  <a:tcPr marL="95250" marR="76200" marT="9525" marB="9525">
                    <a:lnR w="4763">
                      <a:solidFill>
                        <a:srgbClr val="DBE4E8"/>
                      </a:solidFill>
                      <a:prstDash val="solid"/>
                    </a:lnR>
                    <a:lnB w="4763">
                      <a:solidFill>
                        <a:srgbClr val="DBE4E8"/>
                      </a:solidFill>
                      <a:prstDash val="solid"/>
                    </a:lnB>
                    <a:solidFill>
                      <a:srgbClr val="FFFFFF"/>
                    </a:solidFill>
                  </a:tcPr>
                </a:tc>
              </a:tr>
              <a:tr h="654844">
                <a:tc>
                  <a:txBody>
                    <a:bodyPr/>
                    <a:lstStyle/>
                    <a:p>
                      <a:r>
                        <a:rPr sz="1650" b="1">
                          <a:solidFill>
                            <a:srgbClr val="14283A"/>
                          </a:solidFill>
                          <a:latin typeface="Aptos"/>
                          <a:ea typeface="Aptos"/>
                          <a:cs typeface="Aptos"/>
                        </a:rPr>
                        <a:t>Incremental CAC</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Incremental acquisition spend / incremental acquired customers</a:t>
                      </a:r>
                    </a:p>
                  </a:txBody>
                  <a:tcPr marL="95250" marR="76200" marT="9525" marB="9525">
                    <a:lnR w="4763">
                      <a:solidFill>
                        <a:srgbClr val="DBE4E8"/>
                      </a:solidFill>
                      <a:prstDash val="solid"/>
                    </a:lnR>
                    <a:lnB w="4763">
                      <a:solidFill>
                        <a:srgbClr val="DBE4E8"/>
                      </a:solidFill>
                      <a:prstDash val="solid"/>
                    </a:lnB>
                    <a:solidFill>
                      <a:srgbClr val="F0F5F7"/>
                    </a:solidFill>
                  </a:tcPr>
                </a:tc>
              </a:tr>
              <a:tr h="654844">
                <a:tc>
                  <a:txBody>
                    <a:bodyPr/>
                    <a:lstStyle/>
                    <a:p>
                      <a:r>
                        <a:rPr sz="1650" b="1">
                          <a:solidFill>
                            <a:srgbClr val="14283A"/>
                          </a:solidFill>
                          <a:latin typeface="Aptos"/>
                          <a:ea typeface="Aptos"/>
                          <a:cs typeface="Aptos"/>
                        </a:rPr>
                        <a:t>Payback</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Time until cumulative contribution covers acquisition cost</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93298297-473F-4380-8730-5B6456E0CB37}"/>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DBCF424-1A48-4BC2-A593-3E79BD5B5A61}"/>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A9B9F56A-BD46-4C10-9681-175176C17379}"/>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Definitions must travel with exported charts and tables.</a:t>
            </a:r>
          </a:p>
        </p:txBody>
      </p:sp>
      <p:sp>
        <p:nvSpPr>
          <p:cNvPr id="13" name="">
            <a:extLst xmlns:a="http://schemas.openxmlformats.org/drawingml/2006/main">
              <a:ext uri="{FF2B5EF4-FFF2-40B4-BE49-F238E27FC236}">
                <a16:creationId xmlns:a16="http://schemas.microsoft.com/office/drawing/2014/main" id="{5ED25841-50F4-42B4-811B-C6807B76DD15}"/>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Return ratios can use different horizons. Compare only like-for-like measures.</a:t>
            </a:r>
          </a:p>
        </p:txBody>
      </p:sp>
    </p:spTree>
    <p:extLst>
      <p:ext uri="{BB962C8B-B14F-4D97-AF65-F5344CB8AC3E}">
        <p14:creationId xmlns:p14="http://schemas.microsoft.com/office/powerpoint/2010/main" val="1847238769"/>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3872FF2-50D1-49A0-B438-C57F43F48D45}"/>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23F4BF-2630-4E04-A5DF-964E19E78272}"/>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0A1E0667-693B-48D4-83B4-F9FFD61B4C64}"/>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TECHNICAL APPENDIX</a:t>
            </a:r>
          </a:p>
        </p:txBody>
      </p:sp>
      <p:sp>
        <p:nvSpPr>
          <p:cNvPr id="4" name="">
            <a:extLst xmlns:a="http://schemas.openxmlformats.org/drawingml/2006/main">
              <a:ext uri="{FF2B5EF4-FFF2-40B4-BE49-F238E27FC236}">
                <a16:creationId xmlns:a16="http://schemas.microsoft.com/office/drawing/2014/main" id="{19F204B8-8BED-41BE-BD16-2FE97CA09E89}"/>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Document the limits before presenting the recommendation</a:t>
            </a:r>
          </a:p>
        </p:txBody>
      </p:sp>
      <p:sp>
        <p:nvSpPr>
          <p:cNvPr id="5" name="">
            <a:extLst xmlns:a="http://schemas.openxmlformats.org/drawingml/2006/main">
              <a:ext uri="{FF2B5EF4-FFF2-40B4-BE49-F238E27FC236}">
                <a16:creationId xmlns:a16="http://schemas.microsoft.com/office/drawing/2014/main" id="{354198E1-F43B-4757-A2BC-3224E808EBAB}"/>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6C7CCFF-22AD-4DCE-A659-06B039D6D1E9}"/>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1518C7E3-AF5F-4424-977A-ABD5D628583D}"/>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8322202F-9FA3-4F64-8404-3DF0DAB4820A}"/>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56</a:t>
            </a:r>
          </a:p>
        </p:txBody>
      </p:sp>
      <p:graphicFrame>
        <p:nvGraphicFramePr>
          <p:cNvPr id="9" name="">
            <a:extLst xmlns:a="http://schemas.openxmlformats.org/drawingml/2006/main">
              <a:ext uri="{FF2B5EF4-FFF2-40B4-BE49-F238E27FC236}">
                <a16:creationId xmlns:a16="http://schemas.microsoft.com/office/drawing/2014/main" id="{415C131F-555A-424B-8102-43ACC9512104}"/>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809625">
                <a:tc>
                  <a:txBody>
                    <a:bodyPr/>
                    <a:lstStyle/>
                    <a:p>
                      <a:r>
                        <a:rPr sz="1650" b="1">
                          <a:solidFill>
                            <a:srgbClr val="FFFFFF"/>
                          </a:solidFill>
                          <a:latin typeface="Aptos"/>
                          <a:ea typeface="Aptos"/>
                          <a:cs typeface="Aptos"/>
                        </a:rPr>
                        <a:t>Limit</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Implication</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Next evidence</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Synthetic case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No realised client uplift is demonstrated</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Replace with approved actual results</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Observational MMM</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Causal interpretation requires assumptions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Experiments and sensitivity analysis</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Third-party estimates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Coverage and definitions vary</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Validate with exports and first-party data</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Local marginal scenario</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Large budget moves may be nonlinear</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Re-run full response-curve scenario</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Unverified product depth</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Some modules are analytical extensions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Confirm data and product scope</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9D752A3C-A051-46E4-B43E-076CA3D64D60}"/>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994342-AC9D-42BC-8FAD-2BA961AD36A8}"/>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4C42F73C-AD8A-4D71-A812-E2C436DCF51B}"/>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purpose of this sample is to show the quality of the questions and the structure of the work.</a:t>
            </a:r>
          </a:p>
        </p:txBody>
      </p:sp>
      <p:sp>
        <p:nvSpPr>
          <p:cNvPr id="13" name="">
            <a:extLst xmlns:a="http://schemas.openxmlformats.org/drawingml/2006/main">
              <a:ext uri="{FF2B5EF4-FFF2-40B4-BE49-F238E27FC236}">
                <a16:creationId xmlns:a16="http://schemas.microsoft.com/office/drawing/2014/main" id="{5C38C6AA-98F1-4C63-8C44-517A8BE30539}"/>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Separate measured facts, model estimates, hypotheses and plans in every client read-out.</a:t>
            </a:r>
          </a:p>
        </p:txBody>
      </p:sp>
    </p:spTree>
    <p:extLst>
      <p:ext uri="{BB962C8B-B14F-4D97-AF65-F5344CB8AC3E}">
        <p14:creationId xmlns:p14="http://schemas.microsoft.com/office/powerpoint/2010/main" val="171028056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34D531B-1285-45E2-ADE8-91A9F6B2249B}"/>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C8F90C-F45C-42A3-9318-C80FE436092D}"/>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4D401B19-EDE0-46D7-A74C-A11025EE5A81}"/>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SOURCES AND PROVENANCE</a:t>
            </a:r>
          </a:p>
        </p:txBody>
      </p:sp>
      <p:sp>
        <p:nvSpPr>
          <p:cNvPr id="4" name="">
            <a:extLst xmlns:a="http://schemas.openxmlformats.org/drawingml/2006/main">
              <a:ext uri="{FF2B5EF4-FFF2-40B4-BE49-F238E27FC236}">
                <a16:creationId xmlns:a16="http://schemas.microsoft.com/office/drawing/2014/main" id="{E64B4344-A81A-4C68-906A-F4414C38C425}"/>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The demonstration combines the supplied materials responsibly</a:t>
            </a:r>
          </a:p>
        </p:txBody>
      </p:sp>
      <p:sp>
        <p:nvSpPr>
          <p:cNvPr id="5" name="">
            <a:extLst xmlns:a="http://schemas.openxmlformats.org/drawingml/2006/main">
              <a:ext uri="{FF2B5EF4-FFF2-40B4-BE49-F238E27FC236}">
                <a16:creationId xmlns:a16="http://schemas.microsoft.com/office/drawing/2014/main" id="{50BF252E-B65B-4B18-82CE-15F37DD4528F}"/>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6E8D422-C058-4CFB-B980-3A8ECCDD9EDF}"/>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551CFA46-1F24-4AB2-90E0-C3DAC6B574D5}"/>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9E629295-EA09-45AA-9706-16DAAD60CD8F}"/>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57</a:t>
            </a:r>
          </a:p>
        </p:txBody>
      </p:sp>
      <p:graphicFrame>
        <p:nvGraphicFramePr>
          <p:cNvPr id="9" name="">
            <a:extLst xmlns:a="http://schemas.openxmlformats.org/drawingml/2006/main">
              <a:ext uri="{FF2B5EF4-FFF2-40B4-BE49-F238E27FC236}">
                <a16:creationId xmlns:a16="http://schemas.microsoft.com/office/drawing/2014/main" id="{2651E91D-94E6-440B-AB40-5647CAF47D6C}"/>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428875"/>
                <a:gridCol w="4810125"/>
                <a:gridCol w="3333750"/>
              </a:tblGrid>
              <a:tr h="693964">
                <a:tc>
                  <a:txBody>
                    <a:bodyPr/>
                    <a:lstStyle/>
                    <a:p>
                      <a:r>
                        <a:rPr sz="1650" b="1">
                          <a:solidFill>
                            <a:srgbClr val="FFFFFF"/>
                          </a:solidFill>
                          <a:latin typeface="Aptos"/>
                          <a:ea typeface="Aptos"/>
                          <a:cs typeface="Aptos"/>
                        </a:rPr>
                        <a:t>Resource</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Used for</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Treatment</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693964">
                <a:tc>
                  <a:txBody>
                    <a:bodyPr/>
                    <a:lstStyle/>
                    <a:p>
                      <a:r>
                        <a:rPr sz="1650" b="1">
                          <a:solidFill>
                            <a:srgbClr val="14283A"/>
                          </a:solidFill>
                          <a:latin typeface="Aptos"/>
                          <a:ea typeface="Aptos"/>
                          <a:cs typeface="Aptos"/>
                        </a:rPr>
                        <a:t>brag.mp4, 2m10s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Visible workbench stages and parameter controls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Retail video adapted to gaming questions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Supplied nine-slide gaming deck</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Contribution, fit, channel and budget story</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Rebuilt as editable analytical examples</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Brand Digital Strenght.pdf and four images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Search, social, technical and traffic modules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Reconciled synthetic examples, not copied results</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Pasted Gemini conversation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Firm positioning and service scope</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Context, not verified evidence</a:t>
                      </a:r>
                    </a:p>
                  </a:txBody>
                  <a:tcPr marL="95250" marR="76200" marT="9525" marB="9525">
                    <a:lnR w="4763">
                      <a:solidFill>
                        <a:srgbClr val="DBE4E8"/>
                      </a:solidFill>
                      <a:prstDash val="solid"/>
                    </a:lnR>
                    <a:lnB w="4763">
                      <a:solidFill>
                        <a:srgbClr val="DBE4E8"/>
                      </a:solidFill>
                      <a:prstDash val="solid"/>
                    </a:lnB>
                    <a:solidFill>
                      <a:srgbClr val="F0F5F7"/>
                    </a:solidFill>
                  </a:tcPr>
                </a:tc>
              </a:tr>
              <a:tr h="693964">
                <a:tc>
                  <a:txBody>
                    <a:bodyPr/>
                    <a:lstStyle/>
                    <a:p>
                      <a:r>
                        <a:rPr sz="1650" b="1">
                          <a:solidFill>
                            <a:srgbClr val="14283A"/>
                          </a:solidFill>
                          <a:latin typeface="Aptos"/>
                          <a:ea typeface="Aptos"/>
                          <a:cs typeface="Aptos"/>
                        </a:rPr>
                        <a:t>Google Meridian documentation</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MMM terminology and inference limits</a:t>
                      </a:r>
                    </a:p>
                  </a:txBody>
                  <a:tcPr marL="95250" marR="76200" marT="9525" marB="9525">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Public methodology reference</a:t>
                      </a:r>
                    </a:p>
                  </a:txBody>
                  <a:tcPr marL="95250" marR="76200" marT="9525" marB="9525">
                    <a:lnR w="4763">
                      <a:solidFill>
                        <a:srgbClr val="DBE4E8"/>
                      </a:solidFill>
                      <a:prstDash val="solid"/>
                    </a:lnR>
                    <a:lnB w="4763">
                      <a:solidFill>
                        <a:srgbClr val="DBE4E8"/>
                      </a:solidFill>
                      <a:prstDash val="solid"/>
                    </a:lnB>
                    <a:solidFill>
                      <a:srgbClr val="FFFFFF"/>
                    </a:solidFill>
                  </a:tcPr>
                </a:tc>
              </a:tr>
              <a:tr h="693964">
                <a:tc>
                  <a:txBody>
                    <a:bodyPr/>
                    <a:lstStyle/>
                    <a:p>
                      <a:r>
                        <a:rPr sz="1650" b="1">
                          <a:solidFill>
                            <a:srgbClr val="14283A"/>
                          </a:solidFill>
                          <a:latin typeface="Aptos"/>
                          <a:ea typeface="Aptos"/>
                          <a:cs typeface="Aptos"/>
                        </a:rPr>
                        <a:t>web.dev / Web Vitals</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LCP, INP, CLS definitions</a:t>
                      </a:r>
                    </a:p>
                  </a:txBody>
                  <a:tcPr marL="95250" marR="76200" marT="9525" marB="9525">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Public technical reference</a:t>
                      </a:r>
                    </a:p>
                  </a:txBody>
                  <a:tcPr marL="95250" marR="76200" marT="9525" marB="9525">
                    <a:lnR w="4763">
                      <a:solidFill>
                        <a:srgbClr val="DBE4E8"/>
                      </a:solidFill>
                      <a:prstDash val="solid"/>
                    </a:lnR>
                    <a:lnB w="4763">
                      <a:solidFill>
                        <a:srgbClr val="DBE4E8"/>
                      </a:solidFill>
                      <a:prstDash val="solid"/>
                    </a:lnB>
                    <a:solidFill>
                      <a:srgbClr val="F0F5F7"/>
                    </a:solidFill>
                  </a:tcPr>
                </a:tc>
              </a:tr>
            </a:tbl>
          </a:graphicData>
        </a:graphic>
      </p:graphicFrame>
      <p:sp>
        <p:nvSpPr>
          <p:cNvPr id="10" name="">
            <a:extLst xmlns:a="http://schemas.openxmlformats.org/drawingml/2006/main">
              <a:ext uri="{FF2B5EF4-FFF2-40B4-BE49-F238E27FC236}">
                <a16:creationId xmlns:a16="http://schemas.microsoft.com/office/drawing/2014/main" id="{9CC7A436-B220-4BC6-B8BE-233234299754}"/>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6F8B11F-5C41-4768-A1E0-BD7B20AD49C1}"/>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05092906-D82D-4CDB-893B-AFCA6A8F0BC4}"/>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No real operator is identified. Peer labels are fictional.</a:t>
            </a:r>
          </a:p>
        </p:txBody>
      </p:sp>
      <p:sp>
        <p:nvSpPr>
          <p:cNvPr id="13" name="">
            <a:extLst xmlns:a="http://schemas.openxmlformats.org/drawingml/2006/main">
              <a:ext uri="{FF2B5EF4-FFF2-40B4-BE49-F238E27FC236}">
                <a16:creationId xmlns:a16="http://schemas.microsoft.com/office/drawing/2014/main" id="{F3CE6DE7-5219-4516-B40C-C31D1C9366C9}"/>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The shared Gemini URL was inaccessible; the supplied conversation text was available.</a:t>
            </a:r>
          </a:p>
        </p:txBody>
      </p:sp>
    </p:spTree>
    <p:extLst>
      <p:ext uri="{BB962C8B-B14F-4D97-AF65-F5344CB8AC3E}">
        <p14:creationId xmlns:p14="http://schemas.microsoft.com/office/powerpoint/2010/main" val="568251476"/>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41CCF76-183D-4B0A-AF8E-6FBA896DC3B3}"/>
              </a:ext>
            </a:extLst>
          </p:cNvPr>
          <p:cNvSpPr>
            <a:spLocks xmlns:a="http://schemas.openxmlformats.org/drawingml/2006/main" noGrp="1"/>
          </p:cNvSpPr>
          <p:nvPr/>
        </p:nvSpPr>
        <p:spPr>
          <a:xfrm xmlns:a="http://schemas.openxmlformats.org/drawingml/2006/main">
            <a:off x="0" y="0"/>
            <a:ext cx="15240000" cy="1714500"/>
          </a:xfrm>
          <a:prstGeom xmlns:a="http://schemas.openxmlformats.org/drawingml/2006/main" prst="rect">
            <a:avLst/>
          </a:prstGeom>
          <a:solidFill xmlns:a="http://schemas.openxmlformats.org/drawingml/2006/main">
            <a:srgbClr val="0B182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C6F217-B2F4-4A7A-98AC-824F63CBAC0D}"/>
              </a:ext>
            </a:extLst>
          </p:cNvPr>
          <p:cNvSpPr>
            <a:spLocks xmlns:a="http://schemas.openxmlformats.org/drawingml/2006/main" noGrp="1"/>
          </p:cNvSpPr>
          <p:nvPr/>
        </p:nvSpPr>
        <p:spPr>
          <a:xfrm xmlns:a="http://schemas.openxmlformats.org/drawingml/2006/main">
            <a:off x="476250" y="2286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63D8B0"/>
                </a:solidFill>
                <a:latin typeface="Aptos"/>
                <a:ea typeface="Aptos"/>
                <a:cs typeface="Aptos"/>
              </a:defRPr>
            </a:defPPr>
            <a:lvl1pPr>
              <a:defRPr sz="1800" b="1">
                <a:solidFill>
                  <a:srgbClr val="63D8B0"/>
                </a:solidFill>
                <a:latin typeface="Aptos"/>
                <a:ea typeface="Aptos"/>
                <a:cs typeface="Aptos"/>
              </a:defRPr>
            </a:lvl1pPr>
            <a:lvl2pPr>
              <a:defRPr sz="1800" b="1">
                <a:solidFill>
                  <a:srgbClr val="63D8B0"/>
                </a:solidFill>
                <a:latin typeface="Aptos"/>
                <a:ea typeface="Aptos"/>
                <a:cs typeface="Aptos"/>
              </a:defRPr>
            </a:lvl2pPr>
            <a:lvl3pPr>
              <a:defRPr sz="1800" b="1">
                <a:solidFill>
                  <a:srgbClr val="63D8B0"/>
                </a:solidFill>
                <a:latin typeface="Aptos"/>
                <a:ea typeface="Aptos"/>
                <a:cs typeface="Aptos"/>
              </a:defRPr>
            </a:lvl3pPr>
            <a:lvl4pPr>
              <a:defRPr sz="1800" b="1">
                <a:solidFill>
                  <a:srgbClr val="63D8B0"/>
                </a:solidFill>
                <a:latin typeface="Aptos"/>
                <a:ea typeface="Aptos"/>
                <a:cs typeface="Aptos"/>
              </a:defRPr>
            </a:lvl4pPr>
            <a:lvl5pPr>
              <a:defRPr sz="1800" b="1">
                <a:solidFill>
                  <a:srgbClr val="63D8B0"/>
                </a:solidFill>
                <a:latin typeface="Aptos"/>
                <a:ea typeface="Aptos"/>
                <a:cs typeface="Aptos"/>
              </a:defRPr>
            </a:lvl5pPr>
            <a:lvl6pPr>
              <a:defRPr sz="1800" b="1">
                <a:solidFill>
                  <a:srgbClr val="63D8B0"/>
                </a:solidFill>
                <a:latin typeface="Aptos"/>
                <a:ea typeface="Aptos"/>
                <a:cs typeface="Aptos"/>
              </a:defRPr>
            </a:lvl6pPr>
            <a:lvl7pPr>
              <a:defRPr sz="1800" b="1">
                <a:solidFill>
                  <a:srgbClr val="63D8B0"/>
                </a:solidFill>
                <a:latin typeface="Aptos"/>
                <a:ea typeface="Aptos"/>
                <a:cs typeface="Aptos"/>
              </a:defRPr>
            </a:lvl7pPr>
            <a:lvl8pPr>
              <a:defRPr sz="1800" b="1">
                <a:solidFill>
                  <a:srgbClr val="63D8B0"/>
                </a:solidFill>
                <a:latin typeface="Aptos"/>
                <a:ea typeface="Aptos"/>
                <a:cs typeface="Aptos"/>
              </a:defRPr>
            </a:lvl8pPr>
            <a:lvl9pPr>
              <a:defRPr sz="1800" b="1">
                <a:solidFill>
                  <a:srgbClr val="63D8B0"/>
                </a:solidFill>
                <a:latin typeface="Aptos"/>
                <a:ea typeface="Aptos"/>
                <a:cs typeface="Aptos"/>
              </a:defRPr>
            </a:lvl9pPr>
          </a:lstStyle>
          <a:p xmlns:a="http://schemas.openxmlformats.org/drawingml/2006/main">
            <a:pPr>
              <a:defRPr sz="1800" b="1">
                <a:solidFill>
                  <a:srgbClr val="63D8B0"/>
                </a:solidFill>
                <a:latin typeface="Aptos"/>
                <a:ea typeface="Aptos"/>
                <a:cs typeface="Aptos"/>
              </a:defRPr>
            </a:pPr>
            <a:r>
              <a:rPr sz="1800" b="1">
                <a:solidFill>
                  <a:srgbClr val="63D8B0"/>
                </a:solidFill>
                <a:latin typeface="Aptos"/>
                <a:ea typeface="Aptos"/>
                <a:cs typeface="Aptos"/>
              </a:rPr>
              <a:t>KnoMatrix</a:t>
            </a:r>
          </a:p>
        </p:txBody>
      </p:sp>
      <p:sp>
        <p:nvSpPr>
          <p:cNvPr id="3" name="">
            <a:extLst xmlns:a="http://schemas.openxmlformats.org/drawingml/2006/main">
              <a:ext uri="{FF2B5EF4-FFF2-40B4-BE49-F238E27FC236}">
                <a16:creationId xmlns:a16="http://schemas.microsoft.com/office/drawing/2014/main" id="{58166CB3-CE77-42B4-8DA4-1EA60C2719A5}"/>
              </a:ext>
            </a:extLst>
          </p:cNvPr>
          <p:cNvSpPr>
            <a:spLocks xmlns:a="http://schemas.openxmlformats.org/drawingml/2006/main" noGrp="1"/>
          </p:cNvSpPr>
          <p:nvPr/>
        </p:nvSpPr>
        <p:spPr>
          <a:xfrm xmlns:a="http://schemas.openxmlformats.org/drawingml/2006/main">
            <a:off x="3429000" y="27622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5C6D7"/>
                </a:solidFill>
                <a:latin typeface="Aptos"/>
                <a:ea typeface="Aptos"/>
                <a:cs typeface="Aptos"/>
              </a:defRPr>
            </a:defPPr>
            <a:lvl1pPr>
              <a:defRPr sz="1275" b="0">
                <a:solidFill>
                  <a:srgbClr val="B5C6D7"/>
                </a:solidFill>
                <a:latin typeface="Aptos"/>
                <a:ea typeface="Aptos"/>
                <a:cs typeface="Aptos"/>
              </a:defRPr>
            </a:lvl1pPr>
            <a:lvl2pPr>
              <a:defRPr sz="1275" b="0">
                <a:solidFill>
                  <a:srgbClr val="B5C6D7"/>
                </a:solidFill>
                <a:latin typeface="Aptos"/>
                <a:ea typeface="Aptos"/>
                <a:cs typeface="Aptos"/>
              </a:defRPr>
            </a:lvl2pPr>
            <a:lvl3pPr>
              <a:defRPr sz="1275" b="0">
                <a:solidFill>
                  <a:srgbClr val="B5C6D7"/>
                </a:solidFill>
                <a:latin typeface="Aptos"/>
                <a:ea typeface="Aptos"/>
                <a:cs typeface="Aptos"/>
              </a:defRPr>
            </a:lvl3pPr>
            <a:lvl4pPr>
              <a:defRPr sz="1275" b="0">
                <a:solidFill>
                  <a:srgbClr val="B5C6D7"/>
                </a:solidFill>
                <a:latin typeface="Aptos"/>
                <a:ea typeface="Aptos"/>
                <a:cs typeface="Aptos"/>
              </a:defRPr>
            </a:lvl4pPr>
            <a:lvl5pPr>
              <a:defRPr sz="1275" b="0">
                <a:solidFill>
                  <a:srgbClr val="B5C6D7"/>
                </a:solidFill>
                <a:latin typeface="Aptos"/>
                <a:ea typeface="Aptos"/>
                <a:cs typeface="Aptos"/>
              </a:defRPr>
            </a:lvl5pPr>
            <a:lvl6pPr>
              <a:defRPr sz="1275" b="0">
                <a:solidFill>
                  <a:srgbClr val="B5C6D7"/>
                </a:solidFill>
                <a:latin typeface="Aptos"/>
                <a:ea typeface="Aptos"/>
                <a:cs typeface="Aptos"/>
              </a:defRPr>
            </a:lvl6pPr>
            <a:lvl7pPr>
              <a:defRPr sz="1275" b="0">
                <a:solidFill>
                  <a:srgbClr val="B5C6D7"/>
                </a:solidFill>
                <a:latin typeface="Aptos"/>
                <a:ea typeface="Aptos"/>
                <a:cs typeface="Aptos"/>
              </a:defRPr>
            </a:lvl7pPr>
            <a:lvl8pPr>
              <a:defRPr sz="1275" b="0">
                <a:solidFill>
                  <a:srgbClr val="B5C6D7"/>
                </a:solidFill>
                <a:latin typeface="Aptos"/>
                <a:ea typeface="Aptos"/>
                <a:cs typeface="Aptos"/>
              </a:defRPr>
            </a:lvl8pPr>
            <a:lvl9pPr>
              <a:defRPr sz="1275" b="0">
                <a:solidFill>
                  <a:srgbClr val="B5C6D7"/>
                </a:solidFill>
                <a:latin typeface="Aptos"/>
                <a:ea typeface="Aptos"/>
                <a:cs typeface="Aptos"/>
              </a:defRPr>
            </a:lvl9pPr>
          </a:lstStyle>
          <a:p xmlns:a="http://schemas.openxmlformats.org/drawingml/2006/main">
            <a:pPr>
              <a:defRPr sz="1275" b="0">
                <a:solidFill>
                  <a:srgbClr val="B5C6D7"/>
                </a:solidFill>
                <a:latin typeface="Aptos"/>
                <a:ea typeface="Aptos"/>
                <a:cs typeface="Aptos"/>
              </a:defRPr>
            </a:pPr>
            <a:r>
              <a:rPr sz="1275" b="0">
                <a:solidFill>
                  <a:srgbClr val="B5C6D7"/>
                </a:solidFill>
                <a:latin typeface="Aptos"/>
                <a:ea typeface="Aptos"/>
                <a:cs typeface="Aptos"/>
              </a:rPr>
              <a:t>DISCUSSION</a:t>
            </a:r>
          </a:p>
        </p:txBody>
      </p:sp>
      <p:sp>
        <p:nvSpPr>
          <p:cNvPr id="4" name="">
            <a:extLst xmlns:a="http://schemas.openxmlformats.org/drawingml/2006/main">
              <a:ext uri="{FF2B5EF4-FFF2-40B4-BE49-F238E27FC236}">
                <a16:creationId xmlns:a16="http://schemas.microsoft.com/office/drawing/2014/main" id="{C893F740-702A-49DC-8C3E-3DAE97F43701}"/>
              </a:ext>
            </a:extLst>
          </p:cNvPr>
          <p:cNvSpPr>
            <a:spLocks xmlns:a="http://schemas.openxmlformats.org/drawingml/2006/main" noGrp="1"/>
          </p:cNvSpPr>
          <p:nvPr/>
        </p:nvSpPr>
        <p:spPr>
          <a:xfrm xmlns:a="http://schemas.openxmlformats.org/drawingml/2006/main">
            <a:off x="476250" y="7143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ptos"/>
                <a:ea typeface="Aptos"/>
                <a:cs typeface="Aptos"/>
              </a:defRPr>
            </a:defPPr>
            <a:lvl1pPr>
              <a:defRPr sz="2775" b="1">
                <a:solidFill>
                  <a:srgbClr val="FFFFFF"/>
                </a:solidFill>
                <a:latin typeface="Aptos"/>
                <a:ea typeface="Aptos"/>
                <a:cs typeface="Aptos"/>
              </a:defRPr>
            </a:lvl1pPr>
            <a:lvl2pPr>
              <a:defRPr sz="2775" b="1">
                <a:solidFill>
                  <a:srgbClr val="FFFFFF"/>
                </a:solidFill>
                <a:latin typeface="Aptos"/>
                <a:ea typeface="Aptos"/>
                <a:cs typeface="Aptos"/>
              </a:defRPr>
            </a:lvl2pPr>
            <a:lvl3pPr>
              <a:defRPr sz="2775" b="1">
                <a:solidFill>
                  <a:srgbClr val="FFFFFF"/>
                </a:solidFill>
                <a:latin typeface="Aptos"/>
                <a:ea typeface="Aptos"/>
                <a:cs typeface="Aptos"/>
              </a:defRPr>
            </a:lvl3pPr>
            <a:lvl4pPr>
              <a:defRPr sz="2775" b="1">
                <a:solidFill>
                  <a:srgbClr val="FFFFFF"/>
                </a:solidFill>
                <a:latin typeface="Aptos"/>
                <a:ea typeface="Aptos"/>
                <a:cs typeface="Aptos"/>
              </a:defRPr>
            </a:lvl4pPr>
            <a:lvl5pPr>
              <a:defRPr sz="2775" b="1">
                <a:solidFill>
                  <a:srgbClr val="FFFFFF"/>
                </a:solidFill>
                <a:latin typeface="Aptos"/>
                <a:ea typeface="Aptos"/>
                <a:cs typeface="Aptos"/>
              </a:defRPr>
            </a:lvl5pPr>
            <a:lvl6pPr>
              <a:defRPr sz="2775" b="1">
                <a:solidFill>
                  <a:srgbClr val="FFFFFF"/>
                </a:solidFill>
                <a:latin typeface="Aptos"/>
                <a:ea typeface="Aptos"/>
                <a:cs typeface="Aptos"/>
              </a:defRPr>
            </a:lvl6pPr>
            <a:lvl7pPr>
              <a:defRPr sz="2775" b="1">
                <a:solidFill>
                  <a:srgbClr val="FFFFFF"/>
                </a:solidFill>
                <a:latin typeface="Aptos"/>
                <a:ea typeface="Aptos"/>
                <a:cs typeface="Aptos"/>
              </a:defRPr>
            </a:lvl7pPr>
            <a:lvl8pPr>
              <a:defRPr sz="2775" b="1">
                <a:solidFill>
                  <a:srgbClr val="FFFFFF"/>
                </a:solidFill>
                <a:latin typeface="Aptos"/>
                <a:ea typeface="Aptos"/>
                <a:cs typeface="Aptos"/>
              </a:defRPr>
            </a:lvl8pPr>
            <a:lvl9pPr>
              <a:defRPr sz="2775" b="1">
                <a:solidFill>
                  <a:srgbClr val="FFFFFF"/>
                </a:solidFill>
                <a:latin typeface="Aptos"/>
                <a:ea typeface="Aptos"/>
                <a:cs typeface="Aptos"/>
              </a:defRPr>
            </a:lvl9pPr>
          </a:lstStyle>
          <a:p xmlns:a="http://schemas.openxmlformats.org/drawingml/2006/main">
            <a:pPr>
              <a:defRPr sz="2775" b="1">
                <a:solidFill>
                  <a:srgbClr val="FFFFFF"/>
                </a:solidFill>
                <a:latin typeface="Aptos"/>
                <a:ea typeface="Aptos"/>
                <a:cs typeface="Aptos"/>
              </a:defRPr>
            </a:pPr>
            <a:r>
              <a:rPr sz="2775" b="1">
                <a:solidFill>
                  <a:srgbClr val="FFFFFF"/>
                </a:solidFill>
                <a:latin typeface="Aptos"/>
                <a:ea typeface="Aptos"/>
                <a:cs typeface="Aptos"/>
              </a:rPr>
              <a:t>Start with the decision that matters to your next budget</a:t>
            </a:r>
          </a:p>
        </p:txBody>
      </p:sp>
      <p:sp>
        <p:nvSpPr>
          <p:cNvPr id="5" name="">
            <a:extLst xmlns:a="http://schemas.openxmlformats.org/drawingml/2006/main">
              <a:ext uri="{FF2B5EF4-FFF2-40B4-BE49-F238E27FC236}">
                <a16:creationId xmlns:a16="http://schemas.microsoft.com/office/drawing/2014/main" id="{B7DD76F9-6346-424B-A6E1-41AF39CDC9B6}"/>
              </a:ext>
            </a:extLst>
          </p:cNvPr>
          <p:cNvSpPr>
            <a:spLocks xmlns:a="http://schemas.openxmlformats.org/drawingml/2006/main" noGrp="1"/>
          </p:cNvSpPr>
          <p:nvPr/>
        </p:nvSpPr>
        <p:spPr>
          <a:xfrm xmlns:a="http://schemas.openxmlformats.org/drawingml/2006/main">
            <a:off x="476250" y="7734300"/>
            <a:ext cx="14287500" cy="19050"/>
          </a:xfrm>
          <a:prstGeom xmlns:a="http://schemas.openxmlformats.org/drawingml/2006/main" prst="rect">
            <a:avLst/>
          </a:prstGeom>
          <a:solidFill xmlns:a="http://schemas.openxmlformats.org/drawingml/2006/main">
            <a:srgbClr val="DBE4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DC31378-3229-4C06-8475-7A8DA388A2A2}"/>
              </a:ext>
            </a:extLst>
          </p:cNvPr>
          <p:cNvSpPr>
            <a:spLocks xmlns:a="http://schemas.openxmlformats.org/drawingml/2006/main" noGrp="1"/>
          </p:cNvSpPr>
          <p:nvPr/>
        </p:nvSpPr>
        <p:spPr>
          <a:xfrm xmlns:a="http://schemas.openxmlformats.org/drawingml/2006/main">
            <a:off x="476250" y="792480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8B68"/>
                </a:solidFill>
                <a:latin typeface="Aptos"/>
                <a:ea typeface="Aptos"/>
                <a:cs typeface="Aptos"/>
              </a:defRPr>
            </a:defPPr>
            <a:lvl1pPr>
              <a:defRPr sz="1050" b="1">
                <a:solidFill>
                  <a:srgbClr val="008B68"/>
                </a:solidFill>
                <a:latin typeface="Aptos"/>
                <a:ea typeface="Aptos"/>
                <a:cs typeface="Aptos"/>
              </a:defRPr>
            </a:lvl1pPr>
            <a:lvl2pPr>
              <a:defRPr sz="1050" b="1">
                <a:solidFill>
                  <a:srgbClr val="008B68"/>
                </a:solidFill>
                <a:latin typeface="Aptos"/>
                <a:ea typeface="Aptos"/>
                <a:cs typeface="Aptos"/>
              </a:defRPr>
            </a:lvl2pPr>
            <a:lvl3pPr>
              <a:defRPr sz="1050" b="1">
                <a:solidFill>
                  <a:srgbClr val="008B68"/>
                </a:solidFill>
                <a:latin typeface="Aptos"/>
                <a:ea typeface="Aptos"/>
                <a:cs typeface="Aptos"/>
              </a:defRPr>
            </a:lvl3pPr>
            <a:lvl4pPr>
              <a:defRPr sz="1050" b="1">
                <a:solidFill>
                  <a:srgbClr val="008B68"/>
                </a:solidFill>
                <a:latin typeface="Aptos"/>
                <a:ea typeface="Aptos"/>
                <a:cs typeface="Aptos"/>
              </a:defRPr>
            </a:lvl4pPr>
            <a:lvl5pPr>
              <a:defRPr sz="1050" b="1">
                <a:solidFill>
                  <a:srgbClr val="008B68"/>
                </a:solidFill>
                <a:latin typeface="Aptos"/>
                <a:ea typeface="Aptos"/>
                <a:cs typeface="Aptos"/>
              </a:defRPr>
            </a:lvl5pPr>
            <a:lvl6pPr>
              <a:defRPr sz="1050" b="1">
                <a:solidFill>
                  <a:srgbClr val="008B68"/>
                </a:solidFill>
                <a:latin typeface="Aptos"/>
                <a:ea typeface="Aptos"/>
                <a:cs typeface="Aptos"/>
              </a:defRPr>
            </a:lvl6pPr>
            <a:lvl7pPr>
              <a:defRPr sz="1050" b="1">
                <a:solidFill>
                  <a:srgbClr val="008B68"/>
                </a:solidFill>
                <a:latin typeface="Aptos"/>
                <a:ea typeface="Aptos"/>
                <a:cs typeface="Aptos"/>
              </a:defRPr>
            </a:lvl7pPr>
            <a:lvl8pPr>
              <a:defRPr sz="1050" b="1">
                <a:solidFill>
                  <a:srgbClr val="008B68"/>
                </a:solidFill>
                <a:latin typeface="Aptos"/>
                <a:ea typeface="Aptos"/>
                <a:cs typeface="Aptos"/>
              </a:defRPr>
            </a:lvl8pPr>
            <a:lvl9pPr>
              <a:defRPr sz="1050" b="1">
                <a:solidFill>
                  <a:srgbClr val="008B68"/>
                </a:solidFill>
                <a:latin typeface="Aptos"/>
                <a:ea typeface="Aptos"/>
                <a:cs typeface="Aptos"/>
              </a:defRPr>
            </a:lvl9pPr>
          </a:lstStyle>
          <a:p xmlns:a="http://schemas.openxmlformats.org/drawingml/2006/main">
            <a:pPr>
              <a:defRPr sz="1050" b="1">
                <a:solidFill>
                  <a:srgbClr val="008B68"/>
                </a:solidFill>
                <a:latin typeface="Aptos"/>
                <a:ea typeface="Aptos"/>
                <a:cs typeface="Aptos"/>
              </a:defRPr>
            </a:pPr>
            <a:r>
              <a:rPr sz="1050" b="1">
                <a:solidFill>
                  <a:srgbClr val="008B68"/>
                </a:solidFill>
                <a:latin typeface="Aptos"/>
                <a:ea typeface="Aptos"/>
                <a:cs typeface="Aptos"/>
              </a:rPr>
              <a:t>ILLUSTRATIVE SAMPLE • FICTIONAL DATA</a:t>
            </a:r>
          </a:p>
        </p:txBody>
      </p:sp>
      <p:sp>
        <p:nvSpPr>
          <p:cNvPr id="7" name="">
            <a:extLst xmlns:a="http://schemas.openxmlformats.org/drawingml/2006/main">
              <a:ext uri="{FF2B5EF4-FFF2-40B4-BE49-F238E27FC236}">
                <a16:creationId xmlns:a16="http://schemas.microsoft.com/office/drawing/2014/main" id="{204DE052-D0A2-4B2A-98BB-4E717B6D1C35}"/>
              </a:ext>
            </a:extLst>
          </p:cNvPr>
          <p:cNvSpPr>
            <a:spLocks xmlns:a="http://schemas.openxmlformats.org/drawingml/2006/main" noGrp="1"/>
          </p:cNvSpPr>
          <p:nvPr/>
        </p:nvSpPr>
        <p:spPr>
          <a:xfrm xmlns:a="http://schemas.openxmlformats.org/drawingml/2006/main">
            <a:off x="5334000" y="79248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17181"/>
                </a:solidFill>
                <a:latin typeface="Aptos"/>
                <a:ea typeface="Aptos"/>
                <a:cs typeface="Aptos"/>
              </a:defRPr>
            </a:defPPr>
            <a:lvl1pPr>
              <a:defRPr sz="1050" b="0">
                <a:solidFill>
                  <a:srgbClr val="617181"/>
                </a:solidFill>
                <a:latin typeface="Aptos"/>
                <a:ea typeface="Aptos"/>
                <a:cs typeface="Aptos"/>
              </a:defRPr>
            </a:lvl1pPr>
            <a:lvl2pPr>
              <a:defRPr sz="1050" b="0">
                <a:solidFill>
                  <a:srgbClr val="617181"/>
                </a:solidFill>
                <a:latin typeface="Aptos"/>
                <a:ea typeface="Aptos"/>
                <a:cs typeface="Aptos"/>
              </a:defRPr>
            </a:lvl2pPr>
            <a:lvl3pPr>
              <a:defRPr sz="1050" b="0">
                <a:solidFill>
                  <a:srgbClr val="617181"/>
                </a:solidFill>
                <a:latin typeface="Aptos"/>
                <a:ea typeface="Aptos"/>
                <a:cs typeface="Aptos"/>
              </a:defRPr>
            </a:lvl3pPr>
            <a:lvl4pPr>
              <a:defRPr sz="1050" b="0">
                <a:solidFill>
                  <a:srgbClr val="617181"/>
                </a:solidFill>
                <a:latin typeface="Aptos"/>
                <a:ea typeface="Aptos"/>
                <a:cs typeface="Aptos"/>
              </a:defRPr>
            </a:lvl4pPr>
            <a:lvl5pPr>
              <a:defRPr sz="1050" b="0">
                <a:solidFill>
                  <a:srgbClr val="617181"/>
                </a:solidFill>
                <a:latin typeface="Aptos"/>
                <a:ea typeface="Aptos"/>
                <a:cs typeface="Aptos"/>
              </a:defRPr>
            </a:lvl5pPr>
            <a:lvl6pPr>
              <a:defRPr sz="1050" b="0">
                <a:solidFill>
                  <a:srgbClr val="617181"/>
                </a:solidFill>
                <a:latin typeface="Aptos"/>
                <a:ea typeface="Aptos"/>
                <a:cs typeface="Aptos"/>
              </a:defRPr>
            </a:lvl6pPr>
            <a:lvl7pPr>
              <a:defRPr sz="1050" b="0">
                <a:solidFill>
                  <a:srgbClr val="617181"/>
                </a:solidFill>
                <a:latin typeface="Aptos"/>
                <a:ea typeface="Aptos"/>
                <a:cs typeface="Aptos"/>
              </a:defRPr>
            </a:lvl7pPr>
            <a:lvl8pPr>
              <a:defRPr sz="1050" b="0">
                <a:solidFill>
                  <a:srgbClr val="617181"/>
                </a:solidFill>
                <a:latin typeface="Aptos"/>
                <a:ea typeface="Aptos"/>
                <a:cs typeface="Aptos"/>
              </a:defRPr>
            </a:lvl8pPr>
            <a:lvl9pPr>
              <a:defRPr sz="1050" b="0">
                <a:solidFill>
                  <a:srgbClr val="617181"/>
                </a:solidFill>
                <a:latin typeface="Aptos"/>
                <a:ea typeface="Aptos"/>
                <a:cs typeface="Aptos"/>
              </a:defRPr>
            </a:lvl9pPr>
          </a:lstStyle>
          <a:p xmlns:a="http://schemas.openxmlformats.org/drawingml/2006/main">
            <a:pPr>
              <a:defRPr sz="1050" b="0">
                <a:solidFill>
                  <a:srgbClr val="617181"/>
                </a:solidFill>
                <a:latin typeface="Aptos"/>
                <a:ea typeface="Aptos"/>
                <a:cs typeface="Aptos"/>
              </a:defRPr>
            </a:pPr>
            <a:r>
              <a:rPr sz="1050" b="0">
                <a:solidFill>
                  <a:srgbClr val="617181"/>
                </a:solidFill>
                <a:latin typeface="Aptos"/>
                <a:ea typeface="Aptos"/>
                <a:cs typeface="Aptos"/>
              </a:rPr>
              <a:t>Gaming &amp; iGaming  |  USD  |  Not client results</a:t>
            </a:r>
          </a:p>
        </p:txBody>
      </p:sp>
      <p:sp>
        <p:nvSpPr>
          <p:cNvPr id="8" name="">
            <a:extLst xmlns:a="http://schemas.openxmlformats.org/drawingml/2006/main">
              <a:ext uri="{FF2B5EF4-FFF2-40B4-BE49-F238E27FC236}">
                <a16:creationId xmlns:a16="http://schemas.microsoft.com/office/drawing/2014/main" id="{9AD8C163-F0AF-4E54-BFE6-0BC08AD6730A}"/>
              </a:ext>
            </a:extLst>
          </p:cNvPr>
          <p:cNvSpPr>
            <a:spLocks xmlns:a="http://schemas.openxmlformats.org/drawingml/2006/main" noGrp="1"/>
          </p:cNvSpPr>
          <p:nvPr/>
        </p:nvSpPr>
        <p:spPr>
          <a:xfrm xmlns:a="http://schemas.openxmlformats.org/drawingml/2006/main">
            <a:off x="14230350" y="79248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181"/>
                </a:solidFill>
                <a:latin typeface="Aptos"/>
                <a:ea typeface="Aptos"/>
                <a:cs typeface="Aptos"/>
              </a:defRPr>
            </a:defPPr>
            <a:lvl1pPr>
              <a:defRPr sz="1275" b="0">
                <a:solidFill>
                  <a:srgbClr val="617181"/>
                </a:solidFill>
                <a:latin typeface="Aptos"/>
                <a:ea typeface="Aptos"/>
                <a:cs typeface="Aptos"/>
              </a:defRPr>
            </a:lvl1pPr>
            <a:lvl2pPr>
              <a:defRPr sz="1275" b="0">
                <a:solidFill>
                  <a:srgbClr val="617181"/>
                </a:solidFill>
                <a:latin typeface="Aptos"/>
                <a:ea typeface="Aptos"/>
                <a:cs typeface="Aptos"/>
              </a:defRPr>
            </a:lvl2pPr>
            <a:lvl3pPr>
              <a:defRPr sz="1275" b="0">
                <a:solidFill>
                  <a:srgbClr val="617181"/>
                </a:solidFill>
                <a:latin typeface="Aptos"/>
                <a:ea typeface="Aptos"/>
                <a:cs typeface="Aptos"/>
              </a:defRPr>
            </a:lvl3pPr>
            <a:lvl4pPr>
              <a:defRPr sz="1275" b="0">
                <a:solidFill>
                  <a:srgbClr val="617181"/>
                </a:solidFill>
                <a:latin typeface="Aptos"/>
                <a:ea typeface="Aptos"/>
                <a:cs typeface="Aptos"/>
              </a:defRPr>
            </a:lvl4pPr>
            <a:lvl5pPr>
              <a:defRPr sz="1275" b="0">
                <a:solidFill>
                  <a:srgbClr val="617181"/>
                </a:solidFill>
                <a:latin typeface="Aptos"/>
                <a:ea typeface="Aptos"/>
                <a:cs typeface="Aptos"/>
              </a:defRPr>
            </a:lvl5pPr>
            <a:lvl6pPr>
              <a:defRPr sz="1275" b="0">
                <a:solidFill>
                  <a:srgbClr val="617181"/>
                </a:solidFill>
                <a:latin typeface="Aptos"/>
                <a:ea typeface="Aptos"/>
                <a:cs typeface="Aptos"/>
              </a:defRPr>
            </a:lvl6pPr>
            <a:lvl7pPr>
              <a:defRPr sz="1275" b="0">
                <a:solidFill>
                  <a:srgbClr val="617181"/>
                </a:solidFill>
                <a:latin typeface="Aptos"/>
                <a:ea typeface="Aptos"/>
                <a:cs typeface="Aptos"/>
              </a:defRPr>
            </a:lvl7pPr>
            <a:lvl8pPr>
              <a:defRPr sz="1275" b="0">
                <a:solidFill>
                  <a:srgbClr val="617181"/>
                </a:solidFill>
                <a:latin typeface="Aptos"/>
                <a:ea typeface="Aptos"/>
                <a:cs typeface="Aptos"/>
              </a:defRPr>
            </a:lvl8pPr>
            <a:lvl9pPr>
              <a:defRPr sz="1275" b="0">
                <a:solidFill>
                  <a:srgbClr val="617181"/>
                </a:solidFill>
                <a:latin typeface="Aptos"/>
                <a:ea typeface="Aptos"/>
                <a:cs typeface="Aptos"/>
              </a:defRPr>
            </a:lvl9pPr>
          </a:lstStyle>
          <a:p xmlns:a="http://schemas.openxmlformats.org/drawingml/2006/main">
            <a:pPr>
              <a:defRPr sz="1275" b="0">
                <a:solidFill>
                  <a:srgbClr val="617181"/>
                </a:solidFill>
                <a:latin typeface="Aptos"/>
                <a:ea typeface="Aptos"/>
                <a:cs typeface="Aptos"/>
              </a:defRPr>
            </a:pPr>
            <a:r>
              <a:rPr sz="1275" b="0">
                <a:solidFill>
                  <a:srgbClr val="617181"/>
                </a:solidFill>
                <a:latin typeface="Aptos"/>
                <a:ea typeface="Aptos"/>
                <a:cs typeface="Aptos"/>
              </a:rPr>
              <a:t>58</a:t>
            </a:r>
          </a:p>
        </p:txBody>
      </p:sp>
      <p:graphicFrame>
        <p:nvGraphicFramePr>
          <p:cNvPr id="9" name="">
            <a:extLst xmlns:a="http://schemas.openxmlformats.org/drawingml/2006/main">
              <a:ext uri="{FF2B5EF4-FFF2-40B4-BE49-F238E27FC236}">
                <a16:creationId xmlns:a16="http://schemas.microsoft.com/office/drawing/2014/main" id="{10986E94-976D-43D8-8E4D-355AC781EBA1}"/>
              </a:ext>
            </a:extLst>
          </p:cNvPr>
          <p:cNvGraphicFramePr/>
          <p:nvPr/>
        </p:nvGraphicFramePr>
        <p:xfrm>
          <a:off xmlns:a="http://schemas.openxmlformats.org/drawingml/2006/main" x="476250" y="2190750"/>
          <a:ext xmlns:a="http://schemas.openxmlformats.org/drawingml/2006/main" cx="10572750" cy="4857750"/>
        </p:xfrm>
        <a:graphic xmlns:a="http://schemas.openxmlformats.org/drawingml/2006/main">
          <a:graphicData uri="http://schemas.openxmlformats.org/drawingml/2006/table">
            <a:tbl>
              <a:tblPr/>
              <a:tblGrid>
                <a:gridCol w="2952750"/>
                <a:gridCol w="7620000"/>
              </a:tblGrid>
              <a:tr h="809625">
                <a:tc>
                  <a:txBody>
                    <a:bodyPr/>
                    <a:lstStyle/>
                    <a:p>
                      <a:r>
                        <a:rPr sz="1650" b="1">
                          <a:solidFill>
                            <a:srgbClr val="FFFFFF"/>
                          </a:solidFill>
                          <a:latin typeface="Aptos"/>
                          <a:ea typeface="Aptos"/>
                          <a:cs typeface="Aptos"/>
                        </a:rPr>
                        <a:t>Client question</a:t>
                      </a:r>
                    </a:p>
                  </a:txBody>
                  <a:tcPr marL="95250" marR="76200" marT="9525" marB="9525">
                    <a:lnL w="4763">
                      <a:solidFill>
                        <a:srgbClr val="DBE4E8"/>
                      </a:solidFill>
                      <a:prstDash val="solid"/>
                    </a:lnL>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c>
                  <a:txBody>
                    <a:bodyPr/>
                    <a:lstStyle/>
                    <a:p>
                      <a:r>
                        <a:rPr sz="1650" b="1">
                          <a:solidFill>
                            <a:srgbClr val="FFFFFF"/>
                          </a:solidFill>
                          <a:latin typeface="Aptos"/>
                          <a:ea typeface="Aptos"/>
                          <a:cs typeface="Aptos"/>
                        </a:rPr>
                        <a:t>What we would establish together</a:t>
                      </a:r>
                    </a:p>
                  </a:txBody>
                  <a:tcPr marL="95250" marR="76200" marT="9525" marB="9525">
                    <a:lnR w="4763">
                      <a:solidFill>
                        <a:srgbClr val="DBE4E8"/>
                      </a:solidFill>
                      <a:prstDash val="solid"/>
                    </a:lnR>
                    <a:lnT w="4763">
                      <a:solidFill>
                        <a:srgbClr val="DBE4E8"/>
                      </a:solidFill>
                      <a:prstDash val="solid"/>
                    </a:lnT>
                    <a:lnB w="4763">
                      <a:solidFill>
                        <a:srgbClr val="DBE4E8"/>
                      </a:solidFill>
                      <a:prstDash val="solid"/>
                    </a:lnB>
                    <a:solidFill>
                      <a:srgbClr val="008B68"/>
                    </a:solidFill>
                  </a:tcPr>
                </a:tc>
              </a:tr>
              <a:tr h="809625">
                <a:tc>
                  <a:txBody>
                    <a:bodyPr/>
                    <a:lstStyle/>
                    <a:p>
                      <a:r>
                        <a:rPr sz="1650" b="1">
                          <a:solidFill>
                            <a:srgbClr val="14283A"/>
                          </a:solidFill>
                          <a:latin typeface="Aptos"/>
                          <a:ea typeface="Aptos"/>
                          <a:cs typeface="Aptos"/>
                        </a:rPr>
                        <a:t>Which outcome should improve?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NGR, contribution, qualified acquisition or customer value</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Which budget decision is imminent?</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Reallocation, expansion, reduction or channel launch</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What evidence is available?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Weekly business data, media history and experiments</a:t>
                      </a:r>
                    </a:p>
                  </a:txBody>
                  <a:tcPr marL="95250" marR="76200" marT="9525" marB="9525">
                    <a:lnR w="4763">
                      <a:solidFill>
                        <a:srgbClr val="DBE4E8"/>
                      </a:solidFill>
                      <a:prstDash val="solid"/>
                    </a:lnR>
                    <a:lnB w="4763">
                      <a:solidFill>
                        <a:srgbClr val="DBE4E8"/>
                      </a:solidFill>
                      <a:prstDash val="solid"/>
                    </a:lnB>
                    <a:solidFill>
                      <a:srgbClr val="FFFFFF"/>
                    </a:solidFill>
                  </a:tcPr>
                </a:tc>
              </a:tr>
              <a:tr h="809625">
                <a:tc>
                  <a:txBody>
                    <a:bodyPr/>
                    <a:lstStyle/>
                    <a:p>
                      <a:r>
                        <a:rPr sz="1650" b="1">
                          <a:solidFill>
                            <a:srgbClr val="14283A"/>
                          </a:solidFill>
                          <a:latin typeface="Aptos"/>
                          <a:ea typeface="Aptos"/>
                          <a:cs typeface="Aptos"/>
                        </a:rPr>
                        <a:t>Which competitive questions matter?</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0F5F7"/>
                    </a:solidFill>
                  </a:tcPr>
                </a:tc>
                <a:tc>
                  <a:txBody>
                    <a:bodyPr/>
                    <a:lstStyle/>
                    <a:p>
                      <a:r>
                        <a:rPr sz="1650" b="0">
                          <a:solidFill>
                            <a:srgbClr val="14283A"/>
                          </a:solidFill>
                          <a:latin typeface="Aptos"/>
                          <a:ea typeface="Aptos"/>
                          <a:cs typeface="Aptos"/>
                        </a:rPr>
                        <a:t>Search demand, app momentum, content or conversion</a:t>
                      </a:r>
                    </a:p>
                  </a:txBody>
                  <a:tcPr marL="95250" marR="76200" marT="9525" marB="9525">
                    <a:lnR w="4763">
                      <a:solidFill>
                        <a:srgbClr val="DBE4E8"/>
                      </a:solidFill>
                      <a:prstDash val="solid"/>
                    </a:lnR>
                    <a:lnB w="4763">
                      <a:solidFill>
                        <a:srgbClr val="DBE4E8"/>
                      </a:solidFill>
                      <a:prstDash val="solid"/>
                    </a:lnB>
                    <a:solidFill>
                      <a:srgbClr val="F0F5F7"/>
                    </a:solidFill>
                  </a:tcPr>
                </a:tc>
              </a:tr>
              <a:tr h="809625">
                <a:tc>
                  <a:txBody>
                    <a:bodyPr/>
                    <a:lstStyle/>
                    <a:p>
                      <a:r>
                        <a:rPr sz="1650" b="1">
                          <a:solidFill>
                            <a:srgbClr val="14283A"/>
                          </a:solidFill>
                          <a:latin typeface="Aptos"/>
                          <a:ea typeface="Aptos"/>
                          <a:cs typeface="Aptos"/>
                        </a:rPr>
                        <a:t>What would make the work actionable?</a:t>
                      </a:r>
                    </a:p>
                  </a:txBody>
                  <a:tcPr marL="95250" marR="76200" marT="9525" marB="9525">
                    <a:lnL w="4763">
                      <a:solidFill>
                        <a:srgbClr val="DBE4E8"/>
                      </a:solidFill>
                      <a:prstDash val="solid"/>
                    </a:lnL>
                    <a:lnR w="4763">
                      <a:solidFill>
                        <a:srgbClr val="DBE4E8"/>
                      </a:solidFill>
                      <a:prstDash val="solid"/>
                    </a:lnR>
                    <a:lnB w="4763">
                      <a:solidFill>
                        <a:srgbClr val="DBE4E8"/>
                      </a:solidFill>
                      <a:prstDash val="solid"/>
                    </a:lnB>
                    <a:solidFill>
                      <a:srgbClr val="FFFFFF"/>
                    </a:solidFill>
                  </a:tcPr>
                </a:tc>
                <a:tc>
                  <a:txBody>
                    <a:bodyPr/>
                    <a:lstStyle/>
                    <a:p>
                      <a:r>
                        <a:rPr sz="1650" b="0">
                          <a:solidFill>
                            <a:srgbClr val="14283A"/>
                          </a:solidFill>
                          <a:latin typeface="Aptos"/>
                          <a:ea typeface="Aptos"/>
                          <a:cs typeface="Aptos"/>
                        </a:rPr>
                        <a:t>A decision owner, constraints and a measurable test</a:t>
                      </a:r>
                    </a:p>
                  </a:txBody>
                  <a:tcPr marL="95250" marR="76200" marT="9525" marB="9525">
                    <a:lnR w="4763">
                      <a:solidFill>
                        <a:srgbClr val="DBE4E8"/>
                      </a:solidFill>
                      <a:prstDash val="solid"/>
                    </a:lnR>
                    <a:lnB w="4763">
                      <a:solidFill>
                        <a:srgbClr val="DBE4E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B7B8B832-7F00-47AB-A3DC-9E1B7C69E265}"/>
              </a:ext>
            </a:extLst>
          </p:cNvPr>
          <p:cNvSpPr>
            <a:spLocks xmlns:a="http://schemas.openxmlformats.org/drawingml/2006/main" noGrp="1"/>
          </p:cNvSpPr>
          <p:nvPr/>
        </p:nvSpPr>
        <p:spPr>
          <a:xfrm xmlns:a="http://schemas.openxmlformats.org/drawingml/2006/main">
            <a:off x="11525250" y="2019300"/>
            <a:ext cx="3238500" cy="5381625"/>
          </a:xfrm>
          <a:prstGeom xmlns:a="http://schemas.openxmlformats.org/drawingml/2006/main" prst="rect">
            <a:avLst/>
          </a:prstGeom>
          <a:solidFill xmlns:a="http://schemas.openxmlformats.org/drawingml/2006/main">
            <a:srgbClr val="EEF6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7CA005A-F681-40B6-A57A-F83F6180F832}"/>
              </a:ext>
            </a:extLst>
          </p:cNvPr>
          <p:cNvSpPr>
            <a:spLocks xmlns:a="http://schemas.openxmlformats.org/drawingml/2006/main" noGrp="1"/>
          </p:cNvSpPr>
          <p:nvPr/>
        </p:nvSpPr>
        <p:spPr>
          <a:xfrm xmlns:a="http://schemas.openxmlformats.org/drawingml/2006/main">
            <a:off x="11734800" y="2238375"/>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B68"/>
                </a:solidFill>
                <a:latin typeface="Aptos"/>
                <a:ea typeface="Aptos"/>
                <a:cs typeface="Aptos"/>
              </a:defRPr>
            </a:defPPr>
            <a:lvl1pPr>
              <a:defRPr sz="1350" b="1">
                <a:solidFill>
                  <a:srgbClr val="008B68"/>
                </a:solidFill>
                <a:latin typeface="Aptos"/>
                <a:ea typeface="Aptos"/>
                <a:cs typeface="Aptos"/>
              </a:defRPr>
            </a:lvl1pPr>
            <a:lvl2pPr>
              <a:defRPr sz="1350" b="1">
                <a:solidFill>
                  <a:srgbClr val="008B68"/>
                </a:solidFill>
                <a:latin typeface="Aptos"/>
                <a:ea typeface="Aptos"/>
                <a:cs typeface="Aptos"/>
              </a:defRPr>
            </a:lvl2pPr>
            <a:lvl3pPr>
              <a:defRPr sz="1350" b="1">
                <a:solidFill>
                  <a:srgbClr val="008B68"/>
                </a:solidFill>
                <a:latin typeface="Aptos"/>
                <a:ea typeface="Aptos"/>
                <a:cs typeface="Aptos"/>
              </a:defRPr>
            </a:lvl3pPr>
            <a:lvl4pPr>
              <a:defRPr sz="1350" b="1">
                <a:solidFill>
                  <a:srgbClr val="008B68"/>
                </a:solidFill>
                <a:latin typeface="Aptos"/>
                <a:ea typeface="Aptos"/>
                <a:cs typeface="Aptos"/>
              </a:defRPr>
            </a:lvl4pPr>
            <a:lvl5pPr>
              <a:defRPr sz="1350" b="1">
                <a:solidFill>
                  <a:srgbClr val="008B68"/>
                </a:solidFill>
                <a:latin typeface="Aptos"/>
                <a:ea typeface="Aptos"/>
                <a:cs typeface="Aptos"/>
              </a:defRPr>
            </a:lvl5pPr>
            <a:lvl6pPr>
              <a:defRPr sz="1350" b="1">
                <a:solidFill>
                  <a:srgbClr val="008B68"/>
                </a:solidFill>
                <a:latin typeface="Aptos"/>
                <a:ea typeface="Aptos"/>
                <a:cs typeface="Aptos"/>
              </a:defRPr>
            </a:lvl6pPr>
            <a:lvl7pPr>
              <a:defRPr sz="1350" b="1">
                <a:solidFill>
                  <a:srgbClr val="008B68"/>
                </a:solidFill>
                <a:latin typeface="Aptos"/>
                <a:ea typeface="Aptos"/>
                <a:cs typeface="Aptos"/>
              </a:defRPr>
            </a:lvl7pPr>
            <a:lvl8pPr>
              <a:defRPr sz="1350" b="1">
                <a:solidFill>
                  <a:srgbClr val="008B68"/>
                </a:solidFill>
                <a:latin typeface="Aptos"/>
                <a:ea typeface="Aptos"/>
                <a:cs typeface="Aptos"/>
              </a:defRPr>
            </a:lvl8pPr>
            <a:lvl9pPr>
              <a:defRPr sz="1350" b="1">
                <a:solidFill>
                  <a:srgbClr val="008B68"/>
                </a:solidFill>
                <a:latin typeface="Aptos"/>
                <a:ea typeface="Aptos"/>
                <a:cs typeface="Aptos"/>
              </a:defRPr>
            </a:lvl9pPr>
          </a:lstStyle>
          <a:p xmlns:a="http://schemas.openxmlformats.org/drawingml/2006/main">
            <a:pPr>
              <a:defRPr sz="1350" b="1">
                <a:solidFill>
                  <a:srgbClr val="008B68"/>
                </a:solidFill>
                <a:latin typeface="Aptos"/>
                <a:ea typeface="Aptos"/>
                <a:cs typeface="Aptos"/>
              </a:defRPr>
            </a:pPr>
            <a:r>
              <a:rPr sz="1350" b="1">
                <a:solidFill>
                  <a:srgbClr val="008B68"/>
                </a:solidFill>
                <a:latin typeface="Aptos"/>
                <a:ea typeface="Aptos"/>
                <a:cs typeface="Aptos"/>
              </a:rPr>
              <a:t>DECISION NOTES</a:t>
            </a:r>
          </a:p>
        </p:txBody>
      </p:sp>
      <p:sp>
        <p:nvSpPr>
          <p:cNvPr id="12" name="">
            <a:extLst xmlns:a="http://schemas.openxmlformats.org/drawingml/2006/main">
              <a:ext uri="{FF2B5EF4-FFF2-40B4-BE49-F238E27FC236}">
                <a16:creationId xmlns:a16="http://schemas.microsoft.com/office/drawing/2014/main" id="{2A6BE9AB-B623-4216-95F6-F376EF165598}"/>
              </a:ext>
            </a:extLst>
          </p:cNvPr>
          <p:cNvSpPr>
            <a:spLocks xmlns:a="http://schemas.openxmlformats.org/drawingml/2006/main" noGrp="1"/>
          </p:cNvSpPr>
          <p:nvPr/>
        </p:nvSpPr>
        <p:spPr>
          <a:xfrm xmlns:a="http://schemas.openxmlformats.org/drawingml/2006/main">
            <a:off x="11734800" y="2762250"/>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Bring the current budget, outcome definitions and one decision you need to make.</a:t>
            </a:r>
          </a:p>
        </p:txBody>
      </p:sp>
      <p:sp>
        <p:nvSpPr>
          <p:cNvPr id="13" name="">
            <a:extLst xmlns:a="http://schemas.openxmlformats.org/drawingml/2006/main">
              <a:ext uri="{FF2B5EF4-FFF2-40B4-BE49-F238E27FC236}">
                <a16:creationId xmlns:a16="http://schemas.microsoft.com/office/drawing/2014/main" id="{3C39CDE1-67F0-409F-A1B3-83AE5825BCA6}"/>
              </a:ext>
            </a:extLst>
          </p:cNvPr>
          <p:cNvSpPr>
            <a:spLocks xmlns:a="http://schemas.openxmlformats.org/drawingml/2006/main" noGrp="1"/>
          </p:cNvSpPr>
          <p:nvPr/>
        </p:nvSpPr>
        <p:spPr>
          <a:xfrm xmlns:a="http://schemas.openxmlformats.org/drawingml/2006/main">
            <a:off x="11734800" y="4714875"/>
            <a:ext cx="27813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A"/>
                </a:solidFill>
                <a:latin typeface="Aptos"/>
                <a:ea typeface="Aptos"/>
                <a:cs typeface="Aptos"/>
              </a:defRPr>
            </a:defPPr>
            <a:lvl1pPr>
              <a:defRPr sz="1800" b="0">
                <a:solidFill>
                  <a:srgbClr val="14283A"/>
                </a:solidFill>
                <a:latin typeface="Aptos"/>
                <a:ea typeface="Aptos"/>
                <a:cs typeface="Aptos"/>
              </a:defRPr>
            </a:lvl1pPr>
            <a:lvl2pPr>
              <a:defRPr sz="1800" b="0">
                <a:solidFill>
                  <a:srgbClr val="14283A"/>
                </a:solidFill>
                <a:latin typeface="Aptos"/>
                <a:ea typeface="Aptos"/>
                <a:cs typeface="Aptos"/>
              </a:defRPr>
            </a:lvl2pPr>
            <a:lvl3pPr>
              <a:defRPr sz="1800" b="0">
                <a:solidFill>
                  <a:srgbClr val="14283A"/>
                </a:solidFill>
                <a:latin typeface="Aptos"/>
                <a:ea typeface="Aptos"/>
                <a:cs typeface="Aptos"/>
              </a:defRPr>
            </a:lvl3pPr>
            <a:lvl4pPr>
              <a:defRPr sz="1800" b="0">
                <a:solidFill>
                  <a:srgbClr val="14283A"/>
                </a:solidFill>
                <a:latin typeface="Aptos"/>
                <a:ea typeface="Aptos"/>
                <a:cs typeface="Aptos"/>
              </a:defRPr>
            </a:lvl4pPr>
            <a:lvl5pPr>
              <a:defRPr sz="1800" b="0">
                <a:solidFill>
                  <a:srgbClr val="14283A"/>
                </a:solidFill>
                <a:latin typeface="Aptos"/>
                <a:ea typeface="Aptos"/>
                <a:cs typeface="Aptos"/>
              </a:defRPr>
            </a:lvl5pPr>
            <a:lvl6pPr>
              <a:defRPr sz="1800" b="0">
                <a:solidFill>
                  <a:srgbClr val="14283A"/>
                </a:solidFill>
                <a:latin typeface="Aptos"/>
                <a:ea typeface="Aptos"/>
                <a:cs typeface="Aptos"/>
              </a:defRPr>
            </a:lvl6pPr>
            <a:lvl7pPr>
              <a:defRPr sz="1800" b="0">
                <a:solidFill>
                  <a:srgbClr val="14283A"/>
                </a:solidFill>
                <a:latin typeface="Aptos"/>
                <a:ea typeface="Aptos"/>
                <a:cs typeface="Aptos"/>
              </a:defRPr>
            </a:lvl7pPr>
            <a:lvl8pPr>
              <a:defRPr sz="1800" b="0">
                <a:solidFill>
                  <a:srgbClr val="14283A"/>
                </a:solidFill>
                <a:latin typeface="Aptos"/>
                <a:ea typeface="Aptos"/>
                <a:cs typeface="Aptos"/>
              </a:defRPr>
            </a:lvl8pPr>
            <a:lvl9pPr>
              <a:defRPr sz="1800" b="0">
                <a:solidFill>
                  <a:srgbClr val="14283A"/>
                </a:solidFill>
                <a:latin typeface="Aptos"/>
                <a:ea typeface="Aptos"/>
                <a:cs typeface="Aptos"/>
              </a:defRPr>
            </a:lvl9pPr>
          </a:lstStyle>
          <a:p xmlns:a="http://schemas.openxmlformats.org/drawingml/2006/main">
            <a:pPr>
              <a:defRPr sz="1800" b="0">
                <a:solidFill>
                  <a:srgbClr val="14283A"/>
                </a:solidFill>
                <a:latin typeface="Aptos"/>
                <a:ea typeface="Aptos"/>
                <a:cs typeface="Aptos"/>
              </a:defRPr>
            </a:pPr>
            <a:r>
              <a:rPr sz="1800" b="0">
                <a:solidFill>
                  <a:srgbClr val="14283A"/>
                </a:solidFill>
                <a:latin typeface="Aptos"/>
                <a:ea typeface="Aptos"/>
                <a:cs typeface="Aptos"/>
              </a:rPr>
              <a:t>We will scope the analysis around that decision and the evidence available.</a:t>
            </a:r>
          </a:p>
        </p:txBody>
      </p:sp>
    </p:spTree>
    <p:extLst>
      <p:ext uri="{BB962C8B-B14F-4D97-AF65-F5344CB8AC3E}">
        <p14:creationId xmlns:p14="http://schemas.microsoft.com/office/powerpoint/2010/main" val="2104196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2026-10-26T14:27:09.3040000Z</dcterms:created>
  <dcterms:modified xsi:type="dcterms:W3CDTF">2026-10-26T14:27:09.3040000Z</dcterms:modified>
</coreProperties>
</file>